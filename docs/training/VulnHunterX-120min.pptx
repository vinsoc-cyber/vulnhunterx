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parts. The first four are vendor-neutral fundamentals you can take to any tool. The last three are VulnHunterX-specific and lead into the workshop, where you scan a real vulnerable C++ repo with a free Ollama Cloud model.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bug caught in review costs minutes; in production after a breach, orders of magnitude more. But developers ignore tools that bury one real bug under fifty false alarms. VulnHunterX is a direct response to that alert-fatigue problem.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SAST reads code like a pedantic reviewer — sees everything, can't prove reachability, over-reports. DAST throws real traffic at a live app — exploitable but only covers what it hit. Complementary. VulnHunterX combines SAST with evidence-based LLM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Detection is mostly solved — CodeQL and Semgrep find candidates well. The expensive, unsolved part is deciding which are real. VulnHunterX inserts an LLM as a first-pass triager so humans review only what survived scrutiny. Hold this idea for the rest of the talk.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reframing: these aren't two competing tools, they're two different QUESTIONS. Pattern matching asks 'does this look wrong?' — fast and syntactic. Semantic analysis asks 'can bad data actually get here?' — deep and cross-function. The old slide had a confusing third pillar; the shared SARIF output is just the bridge, shown in the footer. VulnHunterX runs both and reconciles their verdicts.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fact: CodeQL needs to observe the build for compiled languages — a broken build collapses coverage (remember for limitations). Once the DB exists, a query like 'flow from argv to system()' runs across function boundaries. That cross-function taint is what pattern tools can't 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expensive, fragile step is the build tracer + DB extraction — it must observe compilation for C/C++/Java/Go/C#. Once the DB exists, queries are cheap and you can run many. This is why a broken build is catastrophic for CodeQL: no DB, no semantic findings. The workshop repos were chosen precisely because they build reliably.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need to write CodeQL to use VulnHunterX, but seeing one query demystifies it. Note the three ingredients from the AST section: a SOURCE, a SINK, and flowPath() asking whether tainted data actually connects them. That's taint tracking expressed as a query. Custom rules under --profile full are exactly files like this.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metadata.cwe matters later — VulnHunterX routes a finding to guided questions by it. Offline caveat: p/... registry packs need semgrep.dev. For reliable offline coverage, the in-repo config/semgrep-custom/&lt;lang&gt;.yaml rules load under --profile full.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power and the limit in one slide. Metavariables + ellipsis make a pattern generalise across formatting; pattern-not is how you suppress the safe form to cut false positives. But it's still file-local and syntactic — it can't follow tainted data across functions the way CodeQL's flowPath() does. That gap is exactly why LLM verification earns its keep.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everything funnels through SARIF, verification doesn't care which tool produced a finding. It also lets VulnHunterX reconcile when two tools flag the same line — majority vote for sibling rules, safe FP→Needs-More-Data downgrade across different CWE classes.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Don't read it line by line — point out the five fields that matter downstream: ruleId (exact question routing), level, location (file+line the LLM anchors on), codeFlows (the data-flow path CodeQL found), and properties.cwe (the fallback routing key for Semgrep). This is the literal hand-off from detection to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summary: use both. --tool both runs CodeQL + Semgrep; --profile full adds in-repo custom rules for both engines. The redundancy is deliberate — different engines miss different bugs, and agreement is a useful triage signal.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regex the source? Because those three forms are the same program but different text. An AST normalises that away. Both Semgrep and tree-sitter work on ASTs; CodeQL builds a richer model on top.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tree. The single line x = a + b * 2 becomes a tree whose ROOT is the assignment. Operator precedence isn't a parsing rule the tool re-derives every time — it's baked into the shape: * sits below +. A scanner pattern like '$X = $A + $B' matches the top two levels regardless of spacing or names. This is the structure everything else builds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source → sanitizer → sink model is the single most useful idea in the talk. Taint tracking = 'is there a path on the data-flow graph from source to sink?' CodeQL answers semantically across functions. The guided questions push the LLM to anchor on exactly this.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 flow = the branches and loops. Notice the vulnerability lives on exactly one edge: len &gt; MAX into the memcpy. A pattern tool sees the memcpy and flags it; it can't easily tell whether the guard above makes the bad branch unreachable. That reachability question is the heart of false positives — and the heart of what verification reasons about.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diagram to remember. Source = untrusted input. Sink = dangerous operation. Sanitizer = the check that makes it safe. The red bypass is the bug: input reaches the sink unchecked. Every guided question set is really pushing the LLM to fill in these three boxes for the specific finding.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appear as context-extraction backends (--backend {auto,codeql,treesitter}). CodeQL = semantic context but needs a build; tree-sitter = fast, build-free, any language. 'auto' picks CodeQL when a DB exists, else tree-sitter.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tree-sitter is the parser behind syntax highlighting in many editors. Its superpowers for us: no build, all languages, error-tolerant. Its limit: purely syntactic — it can give you the enclosing function and structure, but not types or taint. That's why it's the FALLBACK backend: great when CodeQL can't build, but CodeQL is richer when it can.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answer to the obvious question. Yes, Semgrep parses to an AST — but that tree is PRIVATE to its pattern matcher and exists only to DETECT. VulnHunterX needs its OWN queryable AST to EXTRACT context — the enclosing function, callers, struct fields — that grounds the LLM. Crucially, findings often come from CodeQL alone (Semgrep may not run or may not fire), so the tool can't depend on Semgrep's internal tree at all. CodeQL is the richer semantic backend; tree-sitter is the fast, build-free fallback covering all 8 languages (src/vuln_hunter_x/context/treesitter_extractor.py).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is the bridge from Part 3 into the VulnHunterX sections. Stage 1 turns the repo into CSVs; at verify time the ContextProvider assembles a small, relevant slice and only that goes into the prompt. Grounding the model in real extracted code — instead of its training memory — is what keeps verdicts honest. Full diagram in docs/context-extraction-flow.md.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context types, grouped by phase. Pre-fetched = cheap, keyed on the function name, sent up front. Reactive = fetched only when the model requests it in a Needs-More-Data turn. The C/C++ memory-safety trio (free_sites, destructor, field_writes) is what powers use-after-free and double-free verification specifically.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LLM does first-pass human-style triage at machine speed and scale. It is explicitly not the detector — it never invents findings.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NEEDS_MORE_DATA is the interesting one — instead of guessing, the model asks for the caller or struct, the engine fetches it and re-asks. That loop separates this from a one-shot 'is this a bug?'.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explanation is underrated. 'CWE-416 at line 67' teaches nothing; 'the pointer freed at 59 is dereferenced at 67 when size1 % 3 == 0' teaches a junior dev to spot use-after-free. The tool teaches while it triages.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 engineers respect it. None of these are solved perfectly; they're mitigated (next slide). The tool is an assistant, not an oracle — the closing line of the whole lesson.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Recurring theme: grounding and structure beat free-form prompting. Guided questions force evidence; the context provider supplies real code; calibrators downgrade hand-waving; high-stakes findings can't be dismissed on turn one. That's the engineering behind a reliable pipeline.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assembles. SAST tools produce SARIF; the parser normalises; the engine orchestrates questions + context + LLM; output is a verdict per finding. LiteLLM is the provider abstraction — same path for OpenAI, Anthropic, or Ollama (the workshop uses Ollama Cloud).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stages to a report. 'scan' runs all four; the individual commands let you re-run one stage (e.g. re-verify with a different model without rebuilding the DB). Stage 1 creates the AST context CSVs from Part 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four stages, now as data flow. Call out that each arrow is a persisted artifact on disk — so you can stop and resume, or re-run just verify against the same SARIF with a different model. 'scan' is just this whole chain in one command.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--profile full is the one to remember for offline/self-hosted use — it loads the in-repo custom CodeQL queries and Semgrep rules, which work without semgrep.dev. The workshop uses full for exactly this reason.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unpacks the previous table. Two CodeQL suites: security-extended (curated, high-precision security queries) and security-and-quality (adds maintainability/quality lint — more coverage but more noise, which is why higher profiles pair it with the LLM triage). Semgrep packs: 'auto' lets the registry pick rulesets per language; p/security-audit is the broad sweep; p/secrets catches hardcoded keys; p/owasp-top-ten maps to the OWASP categories; and per-language packs add framework-aware rules. 'full' layers our in-repo custom rules on top of all of that.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rules close gaps the built-in suites miss, especially framework-aware and C/C++ memory-safety classes. They're wired to the guided-question system. Run scripts/audit_rule_coverage.py to see coverage by rule × CWE × tool.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secret sauce against hallucination. Instead of 'is this a bug?', the model walks the evidence: anchor on the flagged line, trace allocation → free → use. A model that must cite lines can't hand-wave.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rule maps to a YAML entry shaped like this. The questions are the core, but note min_iterations (can't snap-judge a use-after-free) and additional_context (which of the 11 context types this class needs). These keys are read by questions/loader.py.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actual questions from python_questions.yaml (py/sql-injection), lightly trimmed — chosen to show the same evidence-first philosophy on a different language and class (taint, not memory safety). It forces a concrete sink quote, a per-path data-flow trace, a NAMED sanitiser (not 'it's escaped'), and a default-to-FP rule when evidence is missing. min_iterations=2. This is the CWE-89 class that scored F1=100% in the OWASP-Python benchmark later.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class to show the pattern generalises: for overflows the questions force the model to pin the destination size, the source size, whether either changes, and whether a bound exists before the copy. Same philosophy — make the model produce evidence, not vibes.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CodeQL IDs look like cpp/use-after-free (slash) → match a key directly. Semgrep IDs look like vulnhunterx.cpp.weak-hash (dots) → never match by name, so route by CWE tag. Every finding gets some interrogation.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both paths concretely. The CodeQL rule's @id IS the question key, so Tier 1 hits immediately. The Semgrep rule's dotted id can never match a slash-style key, so it falls through to Tier 3 and routes by its metadata.cwe (CWE-327 for weak-hash) via cwe_question_map. Same destination, different door.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Two-phase model: cheap context goes in immediately; expensive or finding-specific context is fetched lazily when the model asks. The 11 context types map to the evidence the guided questions demand.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heart of the engine, as a loop. The model emits a verdict + a context_needed list. TP/FP (once min_iterations is met) returns. NEEDS_MORE_DATA routes down: the provider fetches the requested context (free_sites, caller, struct…), appends it, and the LLM re-asks. Requests are deduped so it can't spin forever; max_iterations caps it; a force-decision turn makes it commit if it stalls.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 is what a developer reads. It leads with confident True Positives, explains each, and is honest about classes the pipeline can't cover (e.g. missing-authorization, no syntactic signature). We'll read one in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'scan' for convenience, individual stages for control. 'interactive' walks newcomers through every option and live-tests the LLM before running — a great first experience.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 is your friend for cost control — verify 5, not 500, while learning. --provider/--model swap LLMs without touching code (LiteLLM). --dry-run previews with zero token spend.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workshop in one slide. scan clones, builds a CodeQL DB, runs CodeQL + Semgrep with the full profile, sends the first 8 findings through LLM triage, writes a Markdown report. In the workshop we do it stage-by-stage and use Ollama Cloud — no per-token bill.</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strengths before the honest limitations. The headline the user cares about: the tool is actively maintained — custom rules and rule-specific guided questions are added continuously, so coverage and triage quality improve over time (the counts here are read live from config/). Plus: multi-language, offline-capable via --profile full + Ollama, provider-flexible, and every verdict is explainable and confidence-calibrated.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come from docs/benchmarks/ground-truth-baselines.md. Two failure modes: detection misses (no rule fired) vs triage misses (fired but verified FP/NMD). Cost: LLM verification spends tokens and time — use --limit and a cheap model while iterating.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next two slides. The harness in benchmarks/ runs the same datasets through raw-sast (treat every finding as TP — the baseline) and through the full VulnHunterX pipeline, then scores both against ground truth. It also runs a model matrix to compare LLMs. Everything is reproducible from the repo. Numbers on the next slides are from committed runs under benchmarks/results/.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result. Raw SAST flags everything, so recall is 100% but precision is only 39% — three in five alerts are false alarms. VulnHunterX lifts precision to 66% (F1 56%→79%) while keeping recall at 98% — i.e. it removes most false positives and keeps almost all real bugs. Per-CWE, SQL-injection (CWE-89) and command-injection (CWE-78) both hit F1=100% on this run. Confidence is well-calibrated: High-confidence verdicts were ~81% accurate vs ~68% for Low.</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choice matters — a lot. On Juliet C/C++, DeepSeek pushed precision from the 50% raw baseline to 84% (F1 88.5%, 82% of false positives removed) and was cheaper than GPT-4.1-mini, which was weaker here (precision 57%). Takeaway: benchmark on YOUR languages before committing to a model; the cheapest frontier-reasoning model was also the most accurate on memory-safety C/C++. Cost is real provider-reported USD; Ollama runs are $0.</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Critical distinction for anyone evaluating the tool. A detection miss is a SAST coverage gap — the LLM never even saw it. A triage miss is a verification error — it was found but mislabeled. They have completely different fixes: write a rule vs. improve context/model. Score them separately.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honest numbers. The dojo row is the cautionary tale: when its CMake build defeated CodeQL tracing, recall fell to ~1 of 14 bugs. That single row justifies the whole 'keep the build green' message and why we picked reliably-building repos for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Expand the limitation into actionable advice. The failure is silent — you get a report with few findings and might think the code is clean, when really CodeQL never built a database. Always check the prepare step succeeded, and use --tool both so Semgrep provides a floor of coverage even when CodeQL can't build.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knobs. The headline: LLM triage is not free — it spends tokens and wall-clock per finding, more with multi-turn. Use --limit and a cheap model to iterate, escalate only on the hard findings, and re-run just verify (reusing the SARIF + DB) rather than the whole pipeline. Closes the loop back to 'assistant, not oracle.'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thought, then transition to the workshop: scan a real vulnerable C++ repo (insecure-coding-examples) with a free Ollama Cloud model, score it against the published ground truth, and take dvcp home as homework.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80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595360" y="-1645920"/>
            <a:ext cx="5852160" cy="5852160"/>
          </a:xfrm>
          <a:prstGeom prst="ellipse">
            <a:avLst/>
          </a:prstGeom>
          <a:solidFill>
            <a:srgbClr val="8184F7">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875520" y="3291840"/>
            <a:ext cx="4206240" cy="4206240"/>
          </a:xfrm>
          <a:prstGeom prst="ellipse">
            <a:avLst/>
          </a:prstGeom>
          <a:solidFill>
            <a:srgbClr val="22D3EE">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777240"/>
            <a:ext cx="868680" cy="868680"/>
          </a:xfrm>
          <a:prstGeom prst="roundRect">
            <a:avLst>
              <a:gd name="adj" fmla="val 4500"/>
            </a:avLst>
          </a:prstGeom>
          <a:solidFill>
            <a:srgbClr val="F97316"/>
          </a:solidFill>
          <a:ln>
            <a:no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3000" b="1" i="0">
                <a:solidFill>
                  <a:srgbClr val="FFFFFF"/>
                </a:solidFill>
                <a:latin typeface="Segoe UI"/>
              </a:rPr>
              <a:t>VX</a:t>
            </a:r>
          </a:p>
        </p:txBody>
      </p:sp>
      <p:sp>
        <p:nvSpPr>
          <p:cNvPr id="6" name="TextBox 5"/>
          <p:cNvSpPr txBox="1"/>
          <p:nvPr/>
        </p:nvSpPr>
        <p:spPr>
          <a:xfrm>
            <a:off x="1828800" y="932688"/>
            <a:ext cx="6400800" cy="640080"/>
          </a:xfrm>
          <a:prstGeom prst="rect">
            <a:avLst/>
          </a:prstGeom>
          <a:noFill/>
        </p:spPr>
        <p:txBody>
          <a:bodyPr wrap="square" anchor="t" lIns="0" rIns="0" tIns="0" bIns="0">
            <a:spAutoFit/>
          </a:bodyPr>
          <a:lstStyle/>
          <a:p>
            <a:pPr algn="l">
              <a:spcAft>
                <a:spcPts val="200"/>
              </a:spcAft>
            </a:pPr>
            <a:r>
              <a:rPr sz="2200" b="1" i="0">
                <a:solidFill>
                  <a:srgbClr val="FFFFFF"/>
                </a:solidFill>
                <a:latin typeface="Segoe UI"/>
              </a:rPr>
              <a:t>VulnHunterX</a:t>
            </a:r>
          </a:p>
        </p:txBody>
      </p:sp>
      <p:sp>
        <p:nvSpPr>
          <p:cNvPr id="7" name="Rectangle 6"/>
          <p:cNvSpPr/>
          <p:nvPr/>
        </p:nvSpPr>
        <p:spPr>
          <a:xfrm>
            <a:off x="841248" y="2468880"/>
            <a:ext cx="50292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1328" y="2249424"/>
            <a:ext cx="10058400" cy="457200"/>
          </a:xfrm>
          <a:prstGeom prst="rect">
            <a:avLst/>
          </a:prstGeom>
          <a:noFill/>
        </p:spPr>
        <p:txBody>
          <a:bodyPr wrap="square" anchor="t" lIns="0" rIns="0" tIns="0" bIns="0">
            <a:spAutoFit/>
          </a:bodyPr>
          <a:lstStyle/>
          <a:p>
            <a:pPr algn="l">
              <a:spcAft>
                <a:spcPts val="200"/>
              </a:spcAft>
            </a:pPr>
            <a:r>
              <a:rPr sz="1500" b="1" i="0">
                <a:solidFill>
                  <a:srgbClr val="F59E0B"/>
                </a:solidFill>
                <a:latin typeface="Segoe UI"/>
              </a:rPr>
              <a:t>90-MINUTE LESSON  ·  SELF-SCAN YOUR SOURCE CODE</a:t>
            </a:r>
          </a:p>
        </p:txBody>
      </p:sp>
      <p:sp>
        <p:nvSpPr>
          <p:cNvPr id="9" name="TextBox 8"/>
          <p:cNvSpPr txBox="1"/>
          <p:nvPr/>
        </p:nvSpPr>
        <p:spPr>
          <a:xfrm>
            <a:off x="777240" y="2743200"/>
            <a:ext cx="10789920" cy="1371600"/>
          </a:xfrm>
          <a:prstGeom prst="rect">
            <a:avLst/>
          </a:prstGeom>
          <a:noFill/>
        </p:spPr>
        <p:txBody>
          <a:bodyPr wrap="square" anchor="t" lIns="0" rIns="0" tIns="0" bIns="0">
            <a:spAutoFit/>
          </a:bodyPr>
          <a:lstStyle/>
          <a:p>
            <a:pPr algn="l">
              <a:spcAft>
                <a:spcPts val="200"/>
              </a:spcAft>
            </a:pPr>
            <a:r>
              <a:rPr sz="5400" b="1" i="0">
                <a:solidFill>
                  <a:srgbClr val="FFFFFF"/>
                </a:solidFill>
                <a:latin typeface="Segoe UI"/>
              </a:rPr>
              <a:t>Find real bugs.</a:t>
            </a:r>
          </a:p>
          <a:p>
            <a:pPr algn="l">
              <a:spcAft>
                <a:spcPts val="200"/>
              </a:spcAft>
            </a:pPr>
            <a:r>
              <a:rPr sz="5400" b="1" i="0">
                <a:solidFill>
                  <a:srgbClr val="22D3EE"/>
                </a:solidFill>
                <a:latin typeface="Segoe UI"/>
              </a:rPr>
              <a:t>Skip the false alarms.</a:t>
            </a:r>
          </a:p>
        </p:txBody>
      </p:sp>
      <p:sp>
        <p:nvSpPr>
          <p:cNvPr id="10" name="TextBox 9"/>
          <p:cNvSpPr txBox="1"/>
          <p:nvPr/>
        </p:nvSpPr>
        <p:spPr>
          <a:xfrm>
            <a:off x="841248" y="4572000"/>
            <a:ext cx="10424160" cy="548640"/>
          </a:xfrm>
          <a:prstGeom prst="rect">
            <a:avLst/>
          </a:prstGeom>
          <a:noFill/>
        </p:spPr>
        <p:txBody>
          <a:bodyPr wrap="square" anchor="t" lIns="0" rIns="0" tIns="0" bIns="0">
            <a:spAutoFit/>
          </a:bodyPr>
          <a:lstStyle/>
          <a:p>
            <a:pPr algn="l">
              <a:spcAft>
                <a:spcPts val="200"/>
              </a:spcAft>
            </a:pPr>
            <a:r>
              <a:rPr sz="2000" b="0" i="0">
                <a:solidFill>
                  <a:srgbClr val="909CAB"/>
                </a:solidFill>
                <a:latin typeface="Segoe UI"/>
              </a:rPr>
              <a:t>Static analysis finds candidates — an LLM decides which are real.</a:t>
            </a:r>
          </a:p>
        </p:txBody>
      </p:sp>
      <p:sp>
        <p:nvSpPr>
          <p:cNvPr id="11" name="Rounded Rectangle 10"/>
          <p:cNvSpPr/>
          <p:nvPr/>
        </p:nvSpPr>
        <p:spPr>
          <a:xfrm>
            <a:off x="822960" y="5257800"/>
            <a:ext cx="3246120" cy="640080"/>
          </a:xfrm>
          <a:prstGeom prst="roundRect">
            <a:avLst>
              <a:gd name="adj" fmla="val 4500"/>
            </a:avLst>
          </a:prstGeom>
          <a:solidFill>
            <a:srgbClr val="1C2C4A"/>
          </a:solidFill>
          <a:ln>
            <a:no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800" b="1" i="0">
                <a:solidFill>
                  <a:srgbClr val="F97316"/>
                </a:solidFill>
                <a:latin typeface="Segoe UI"/>
              </a:rPr>
              <a:t>65  </a:t>
            </a:r>
            <a:r>
              <a:rPr sz="1250" b="0" i="0">
                <a:solidFill>
                  <a:srgbClr val="FFFFFF"/>
                </a:solidFill>
                <a:latin typeface="Segoe UI"/>
              </a:rPr>
              <a:t>custom CodeQL queries</a:t>
            </a:r>
          </a:p>
        </p:txBody>
      </p:sp>
      <p:sp>
        <p:nvSpPr>
          <p:cNvPr id="12" name="Rounded Rectangle 11"/>
          <p:cNvSpPr/>
          <p:nvPr/>
        </p:nvSpPr>
        <p:spPr>
          <a:xfrm>
            <a:off x="4251960" y="5257800"/>
            <a:ext cx="3246120" cy="640080"/>
          </a:xfrm>
          <a:prstGeom prst="roundRect">
            <a:avLst>
              <a:gd name="adj" fmla="val 4500"/>
            </a:avLst>
          </a:prstGeom>
          <a:solidFill>
            <a:srgbClr val="1C2C4A"/>
          </a:solidFill>
          <a:ln>
            <a:no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800" b="1" i="0">
                <a:solidFill>
                  <a:srgbClr val="F97316"/>
                </a:solidFill>
                <a:latin typeface="Segoe UI"/>
              </a:rPr>
              <a:t>108  </a:t>
            </a:r>
            <a:r>
              <a:rPr sz="1250" b="0" i="0">
                <a:solidFill>
                  <a:srgbClr val="FFFFFF"/>
                </a:solidFill>
                <a:latin typeface="Segoe UI"/>
              </a:rPr>
              <a:t>custom Semgrep rules</a:t>
            </a:r>
          </a:p>
        </p:txBody>
      </p:sp>
      <p:sp>
        <p:nvSpPr>
          <p:cNvPr id="13" name="Rounded Rectangle 12"/>
          <p:cNvSpPr/>
          <p:nvPr/>
        </p:nvSpPr>
        <p:spPr>
          <a:xfrm>
            <a:off x="7680960" y="5257800"/>
            <a:ext cx="3246120" cy="640080"/>
          </a:xfrm>
          <a:prstGeom prst="roundRect">
            <a:avLst>
              <a:gd name="adj" fmla="val 4500"/>
            </a:avLst>
          </a:prstGeom>
          <a:solidFill>
            <a:srgbClr val="1C2C4A"/>
          </a:solidFill>
          <a:ln>
            <a:no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800" b="1" i="0">
                <a:solidFill>
                  <a:srgbClr val="F97316"/>
                </a:solidFill>
                <a:latin typeface="Segoe UI"/>
              </a:rPr>
              <a:t>8  </a:t>
            </a:r>
            <a:r>
              <a:rPr sz="1250" b="0" i="0">
                <a:solidFill>
                  <a:srgbClr val="FFFFFF"/>
                </a:solidFill>
                <a:latin typeface="Segoe UI"/>
              </a:rPr>
              <a:t>languages  ·  5 profiles</a:t>
            </a:r>
          </a:p>
        </p:txBody>
      </p:sp>
      <p:sp>
        <p:nvSpPr>
          <p:cNvPr id="14" name="TextBox 13"/>
          <p:cNvSpPr txBox="1"/>
          <p:nvPr/>
        </p:nvSpPr>
        <p:spPr>
          <a:xfrm>
            <a:off x="822960" y="6263640"/>
            <a:ext cx="10515600" cy="457200"/>
          </a:xfrm>
          <a:prstGeom prst="rect">
            <a:avLst/>
          </a:prstGeom>
          <a:noFill/>
        </p:spPr>
        <p:txBody>
          <a:bodyPr wrap="square" anchor="t" lIns="0" rIns="0" tIns="0" bIns="0">
            <a:spAutoFit/>
          </a:bodyPr>
          <a:lstStyle/>
          <a:p>
            <a:pPr algn="l">
              <a:spcAft>
                <a:spcPts val="200"/>
              </a:spcAft>
            </a:pPr>
            <a:r>
              <a:rPr sz="1300" b="0" i="0">
                <a:solidFill>
                  <a:srgbClr val="909CAB"/>
                </a:solidFill>
                <a:latin typeface="Segoe UI"/>
              </a:rPr>
              <a:t>120-min lesson + 30-min workshop  ·  for developers  ·  SAST + LLM triage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Agenda — seven parts</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2</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Source-code security scanning: SAST &amp; DAST</a:t>
            </a:r>
          </a:p>
          <a:p>
            <a:pPr>
              <a:spcAft>
                <a:spcPts val="900"/>
              </a:spcAft>
            </a:pPr>
            <a:r>
              <a:rPr sz="2100" b="1" i="0">
                <a:solidFill>
                  <a:srgbClr val="F97316"/>
                </a:solidFill>
                <a:latin typeface="Segoe UI"/>
              </a:rPr>
              <a:t>▸  </a:t>
            </a:r>
            <a:r>
              <a:rPr sz="2100" b="1" i="0">
                <a:solidFill>
                  <a:srgbClr val="D4DEEA"/>
                </a:solidFill>
                <a:latin typeface="Segoe UI"/>
              </a:rPr>
              <a:t>How CodeQL &amp; Semgrep actually find bugs</a:t>
            </a:r>
          </a:p>
          <a:p>
            <a:pPr>
              <a:spcAft>
                <a:spcPts val="900"/>
              </a:spcAft>
            </a:pPr>
            <a:r>
              <a:rPr sz="2100" b="1" i="0">
                <a:solidFill>
                  <a:srgbClr val="F97316"/>
                </a:solidFill>
                <a:latin typeface="Segoe UI"/>
              </a:rPr>
              <a:t>▸  </a:t>
            </a:r>
            <a:r>
              <a:rPr sz="2100" b="1" i="0">
                <a:solidFill>
                  <a:srgbClr val="D4DEEA"/>
                </a:solidFill>
                <a:latin typeface="Segoe UI"/>
              </a:rPr>
              <a:t>AST, control flow &amp; data flow (CodeQL vs tree-sitter)</a:t>
            </a:r>
          </a:p>
          <a:p>
            <a:pPr>
              <a:spcAft>
                <a:spcPts val="900"/>
              </a:spcAft>
            </a:pPr>
            <a:r>
              <a:rPr sz="2100" b="1" i="0">
                <a:solidFill>
                  <a:srgbClr val="F97316"/>
                </a:solidFill>
                <a:latin typeface="Segoe UI"/>
              </a:rPr>
              <a:t>▸  </a:t>
            </a:r>
            <a:r>
              <a:rPr sz="2100" b="1" i="0">
                <a:solidFill>
                  <a:srgbClr val="D4DEEA"/>
                </a:solidFill>
                <a:latin typeface="Segoe UI"/>
              </a:rPr>
              <a:t>LLM vulnerability verification — pros &amp; cons</a:t>
            </a:r>
          </a:p>
          <a:p>
            <a:pPr>
              <a:spcAft>
                <a:spcPts val="900"/>
              </a:spcAft>
            </a:pPr>
            <a:r>
              <a:rPr sz="2100" b="1" i="0">
                <a:solidFill>
                  <a:srgbClr val="F97316"/>
                </a:solidFill>
                <a:latin typeface="Segoe UI"/>
              </a:rPr>
              <a:t>▸  </a:t>
            </a:r>
            <a:r>
              <a:rPr sz="2100" b="1" i="0">
                <a:solidFill>
                  <a:srgbClr val="D4DEEA"/>
                </a:solidFill>
                <a:latin typeface="Segoe UI"/>
              </a:rPr>
              <a:t>VulnHunterX architecture &amp; stages</a:t>
            </a:r>
          </a:p>
          <a:p>
            <a:pPr>
              <a:spcAft>
                <a:spcPts val="900"/>
              </a:spcAft>
            </a:pPr>
            <a:r>
              <a:rPr sz="2100" b="1" i="0">
                <a:solidFill>
                  <a:srgbClr val="F97316"/>
                </a:solidFill>
                <a:latin typeface="Segoe UI"/>
              </a:rPr>
              <a:t>▸  </a:t>
            </a:r>
            <a:r>
              <a:rPr sz="2100" b="1" i="0">
                <a:solidFill>
                  <a:srgbClr val="D4DEEA"/>
                </a:solidFill>
                <a:latin typeface="Segoe UI"/>
              </a:rPr>
              <a:t>Using it: CLI + a worked example</a:t>
            </a:r>
          </a:p>
          <a:p>
            <a:pPr>
              <a:spcAft>
                <a:spcPts val="900"/>
              </a:spcAft>
            </a:pPr>
            <a:r>
              <a:rPr sz="2100" b="1" i="0">
                <a:solidFill>
                  <a:srgbClr val="F97316"/>
                </a:solidFill>
                <a:latin typeface="Segoe UI"/>
              </a:rPr>
              <a:t>▸  </a:t>
            </a:r>
            <a:r>
              <a:rPr sz="2100" b="1" i="0">
                <a:solidFill>
                  <a:srgbClr val="D4DEEA"/>
                </a:solidFill>
                <a:latin typeface="Segoe UI"/>
              </a:rPr>
              <a:t>Results &amp; limitations  →  then the hands-on workshop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0" y="960120"/>
            <a:ext cx="5074920" cy="4480560"/>
          </a:xfrm>
          <a:prstGeom prst="rect">
            <a:avLst/>
          </a:prstGeom>
          <a:noFill/>
        </p:spPr>
        <p:txBody>
          <a:bodyPr wrap="none" anchor="ctr" lIns="0" rIns="0" tIns="0" bIns="0">
            <a:spAutoFit/>
          </a:bodyPr>
          <a:lstStyle/>
          <a:p>
            <a:pPr algn="r">
              <a:spcAft>
                <a:spcPts val="200"/>
              </a:spcAft>
            </a:pPr>
            <a:r>
              <a:rPr sz="25000" b="1" i="0">
                <a:solidFill>
                  <a:srgbClr val="1C2C4A"/>
                </a:solidFill>
                <a:latin typeface="Segoe UI"/>
              </a:rPr>
              <a:t>01</a:t>
            </a:r>
          </a:p>
        </p:txBody>
      </p:sp>
      <p:sp>
        <p:nvSpPr>
          <p:cNvPr id="4" name="Rectangle 3"/>
          <p:cNvSpPr/>
          <p:nvPr/>
        </p:nvSpPr>
        <p:spPr>
          <a:xfrm>
            <a:off x="868680" y="2670048"/>
            <a:ext cx="50292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2450592"/>
            <a:ext cx="8229600" cy="502920"/>
          </a:xfrm>
          <a:prstGeom prst="rect">
            <a:avLst/>
          </a:prstGeom>
          <a:noFill/>
        </p:spPr>
        <p:txBody>
          <a:bodyPr wrap="square" anchor="t" lIns="0" rIns="0" tIns="0" bIns="0">
            <a:spAutoFit/>
          </a:bodyPr>
          <a:lstStyle/>
          <a:p>
            <a:pPr algn="l">
              <a:spcAft>
                <a:spcPts val="200"/>
              </a:spcAft>
            </a:pPr>
            <a:r>
              <a:rPr sz="1800" b="1" i="0">
                <a:solidFill>
                  <a:srgbClr val="F59E0B"/>
                </a:solidFill>
                <a:latin typeface="Segoe UI"/>
              </a:rPr>
              <a:t>PART 1</a:t>
            </a:r>
          </a:p>
        </p:txBody>
      </p:sp>
      <p:sp>
        <p:nvSpPr>
          <p:cNvPr id="6" name="TextBox 5"/>
          <p:cNvSpPr txBox="1"/>
          <p:nvPr/>
        </p:nvSpPr>
        <p:spPr>
          <a:xfrm>
            <a:off x="822960" y="2944368"/>
            <a:ext cx="10058400" cy="1645920"/>
          </a:xfrm>
          <a:prstGeom prst="rect">
            <a:avLst/>
          </a:prstGeom>
          <a:noFill/>
        </p:spPr>
        <p:txBody>
          <a:bodyPr wrap="square" anchor="t" lIns="0" rIns="0" tIns="0" bIns="0">
            <a:spAutoFit/>
          </a:bodyPr>
          <a:lstStyle/>
          <a:p>
            <a:pPr algn="l">
              <a:spcAft>
                <a:spcPts val="200"/>
              </a:spcAft>
            </a:pPr>
            <a:r>
              <a:rPr sz="4000" b="1" i="0">
                <a:solidFill>
                  <a:srgbClr val="FFFFFF"/>
                </a:solidFill>
                <a:latin typeface="Segoe UI"/>
              </a:rPr>
              <a:t>Source-code scanning: SAST &amp; DAST</a:t>
            </a:r>
          </a:p>
        </p:txBody>
      </p:sp>
      <p:sp>
        <p:nvSpPr>
          <p:cNvPr id="7" name="Rectangle 6"/>
          <p:cNvSpPr/>
          <p:nvPr/>
        </p:nvSpPr>
        <p:spPr>
          <a:xfrm>
            <a:off x="868680" y="4343400"/>
            <a:ext cx="292608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6126480"/>
            <a:ext cx="457200" cy="146304"/>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472184"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819656"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67128"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514600"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62072"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09544"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Why scan source code at all?</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4</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Vulnerabilities are cheapest to fix BEFORE they ship — shift left.</a:t>
            </a:r>
          </a:p>
          <a:p>
            <a:pPr>
              <a:spcAft>
                <a:spcPts val="900"/>
              </a:spcAft>
            </a:pPr>
            <a:r>
              <a:rPr sz="2100" b="1" i="0">
                <a:solidFill>
                  <a:srgbClr val="F97316"/>
                </a:solidFill>
                <a:latin typeface="Segoe UI"/>
              </a:rPr>
              <a:t>▸  </a:t>
            </a:r>
            <a:r>
              <a:rPr sz="2100" b="1" i="0">
                <a:solidFill>
                  <a:srgbClr val="D4DEEA"/>
                </a:solidFill>
                <a:latin typeface="Segoe UI"/>
              </a:rPr>
              <a:t>Manual review can't scale to every commit, repo, and language.</a:t>
            </a:r>
          </a:p>
          <a:p>
            <a:pPr>
              <a:spcAft>
                <a:spcPts val="900"/>
              </a:spcAft>
            </a:pPr>
            <a:r>
              <a:rPr sz="2100" b="1" i="0">
                <a:solidFill>
                  <a:srgbClr val="F97316"/>
                </a:solidFill>
                <a:latin typeface="Segoe UI"/>
              </a:rPr>
              <a:t>▸  </a:t>
            </a:r>
            <a:r>
              <a:rPr sz="2100" b="1" i="0">
                <a:solidFill>
                  <a:srgbClr val="D4DEEA"/>
                </a:solidFill>
                <a:latin typeface="Segoe UI"/>
              </a:rPr>
              <a:t>Scanners give breadth; humans give judgement — we want both.</a:t>
            </a:r>
          </a:p>
          <a:p>
            <a:pPr>
              <a:spcAft>
                <a:spcPts val="900"/>
              </a:spcAft>
            </a:pPr>
            <a:r>
              <a:rPr sz="2100" b="1" i="0">
                <a:solidFill>
                  <a:srgbClr val="F97316"/>
                </a:solidFill>
                <a:latin typeface="Segoe UI"/>
              </a:rPr>
              <a:t>▸  </a:t>
            </a:r>
            <a:r>
              <a:rPr sz="2100" b="1" i="0">
                <a:solidFill>
                  <a:srgbClr val="FB7185"/>
                </a:solidFill>
                <a:latin typeface="Segoe UI"/>
              </a:rPr>
              <a:t>Core tension: catch everything ⇒ cry wolf constantly.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SAST vs DAST in one picture</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5</a:t>
            </a:r>
          </a:p>
        </p:txBody>
      </p:sp>
      <p:graphicFrame>
        <p:nvGraphicFramePr>
          <p:cNvPr id="8" name="Table 7"/>
          <p:cNvGraphicFramePr>
            <a:graphicFrameLocks noGrp="1"/>
          </p:cNvGraphicFramePr>
          <p:nvPr/>
        </p:nvGraphicFramePr>
        <p:xfrm>
          <a:off x="640080" y="1417320"/>
          <a:ext cx="10927080" cy="2688336"/>
        </p:xfrm>
        <a:graphic>
          <a:graphicData uri="http://schemas.openxmlformats.org/drawingml/2006/table">
            <a:tbl>
              <a:tblPr>
                <a:tableStyleId>{5C22544A-7EE6-4342-B048-85BDC9FD1C3A}</a:tableStyleId>
              </a:tblPr>
              <a:tblGrid>
                <a:gridCol w="1737360"/>
                <a:gridCol w="4572000"/>
                <a:gridCol w="4617720"/>
              </a:tblGrid>
              <a:tr h="384048">
                <a:tc>
                  <a:txBody>
                    <a:bodyPr wrap="square"/>
                    <a:lstStyle/>
                    <a:p>
                      <a:pPr algn="l"/>
                      <a:r>
                        <a:rPr sz="1300" b="1" i="0">
                          <a:solidFill>
                            <a:srgbClr val="FFFFFF"/>
                          </a:solidFill>
                          <a:latin typeface="Segoe UI"/>
                        </a:rPr>
                        <a:t/>
                      </a:r>
                    </a:p>
                  </a:txBody>
                  <a:tcPr marL="73152" marR="54864" marT="27432" marB="27432" anchor="ctr">
                    <a:solidFill>
                      <a:srgbClr val="263552"/>
                    </a:solidFill>
                  </a:tcPr>
                </a:tc>
                <a:tc>
                  <a:txBody>
                    <a:bodyPr wrap="square"/>
                    <a:lstStyle/>
                    <a:p>
                      <a:pPr algn="l"/>
                      <a:r>
                        <a:rPr sz="1300" b="1" i="0">
                          <a:solidFill>
                            <a:srgbClr val="FFFFFF"/>
                          </a:solidFill>
                          <a:latin typeface="Segoe UI"/>
                        </a:rPr>
                        <a:t>SAST (static)</a:t>
                      </a:r>
                    </a:p>
                  </a:txBody>
                  <a:tcPr marL="73152" marR="54864" marT="27432" marB="27432" anchor="ctr">
                    <a:solidFill>
                      <a:srgbClr val="263552"/>
                    </a:solidFill>
                  </a:tcPr>
                </a:tc>
                <a:tc>
                  <a:txBody>
                    <a:bodyPr wrap="square"/>
                    <a:lstStyle/>
                    <a:p>
                      <a:pPr algn="l"/>
                      <a:r>
                        <a:rPr sz="1300" b="1" i="0">
                          <a:solidFill>
                            <a:srgbClr val="FFFFFF"/>
                          </a:solidFill>
                          <a:latin typeface="Segoe UI"/>
                        </a:rPr>
                        <a:t>DAST (dynamic)</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Sees</a:t>
                      </a:r>
                    </a:p>
                  </a:txBody>
                  <a:tcPr marL="73152" marR="54864" marT="27432" marB="27432" anchor="ctr">
                    <a:solidFill>
                      <a:srgbClr val="18233D"/>
                    </a:solidFill>
                  </a:tcPr>
                </a:tc>
                <a:tc>
                  <a:txBody>
                    <a:bodyPr wrap="square"/>
                    <a:lstStyle/>
                    <a:p>
                      <a:pPr algn="l"/>
                      <a:r>
                        <a:rPr sz="1250" b="0" i="0">
                          <a:solidFill>
                            <a:srgbClr val="D4DEEA"/>
                          </a:solidFill>
                          <a:latin typeface="Segoe UI"/>
                        </a:rPr>
                        <a:t>Code / bytecode at rest</a:t>
                      </a:r>
                    </a:p>
                  </a:txBody>
                  <a:tcPr marL="73152" marR="54864" marT="27432" marB="27432" anchor="ctr">
                    <a:solidFill>
                      <a:srgbClr val="18233D"/>
                    </a:solidFill>
                  </a:tcPr>
                </a:tc>
                <a:tc>
                  <a:txBody>
                    <a:bodyPr wrap="square"/>
                    <a:lstStyle/>
                    <a:p>
                      <a:pPr algn="l"/>
                      <a:r>
                        <a:rPr sz="1250" b="0" i="0">
                          <a:solidFill>
                            <a:srgbClr val="D4DEEA"/>
                          </a:solidFill>
                          <a:latin typeface="Segoe UI"/>
                        </a:rPr>
                        <a:t>A running application</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Runs the app?</a:t>
                      </a:r>
                    </a:p>
                  </a:txBody>
                  <a:tcPr marL="73152" marR="54864" marT="27432" marB="27432" anchor="ctr">
                    <a:solidFill>
                      <a:srgbClr val="131D33"/>
                    </a:solidFill>
                  </a:tcPr>
                </a:tc>
                <a:tc>
                  <a:txBody>
                    <a:bodyPr wrap="square"/>
                    <a:lstStyle/>
                    <a:p>
                      <a:pPr algn="l"/>
                      <a:r>
                        <a:rPr sz="1250" b="0" i="0">
                          <a:solidFill>
                            <a:srgbClr val="D4DEEA"/>
                          </a:solidFill>
                          <a:latin typeface="Segoe UI"/>
                        </a:rPr>
                        <a:t>No</a:t>
                      </a:r>
                    </a:p>
                  </a:txBody>
                  <a:tcPr marL="73152" marR="54864" marT="27432" marB="27432" anchor="ctr">
                    <a:solidFill>
                      <a:srgbClr val="131D33"/>
                    </a:solidFill>
                  </a:tcPr>
                </a:tc>
                <a:tc>
                  <a:txBody>
                    <a:bodyPr wrap="square"/>
                    <a:lstStyle/>
                    <a:p>
                      <a:pPr algn="l"/>
                      <a:r>
                        <a:rPr sz="1250" b="0" i="0">
                          <a:solidFill>
                            <a:srgbClr val="D4DEEA"/>
                          </a:solidFill>
                          <a:latin typeface="Segoe UI"/>
                        </a:rPr>
                        <a:t>Yes</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Coverage</a:t>
                      </a:r>
                    </a:p>
                  </a:txBody>
                  <a:tcPr marL="73152" marR="54864" marT="27432" marB="27432" anchor="ctr">
                    <a:solidFill>
                      <a:srgbClr val="18233D"/>
                    </a:solidFill>
                  </a:tcPr>
                </a:tc>
                <a:tc>
                  <a:txBody>
                    <a:bodyPr wrap="square"/>
                    <a:lstStyle/>
                    <a:p>
                      <a:pPr algn="l"/>
                      <a:r>
                        <a:rPr sz="1250" b="0" i="0">
                          <a:solidFill>
                            <a:srgbClr val="D4DEEA"/>
                          </a:solidFill>
                          <a:latin typeface="Segoe UI"/>
                        </a:rPr>
                        <a:t>Every path, even unreached</a:t>
                      </a:r>
                    </a:p>
                  </a:txBody>
                  <a:tcPr marL="73152" marR="54864" marT="27432" marB="27432" anchor="ctr">
                    <a:solidFill>
                      <a:srgbClr val="18233D"/>
                    </a:solidFill>
                  </a:tcPr>
                </a:tc>
                <a:tc>
                  <a:txBody>
                    <a:bodyPr wrap="square"/>
                    <a:lstStyle/>
                    <a:p>
                      <a:pPr algn="l"/>
                      <a:r>
                        <a:rPr sz="1250" b="0" i="0">
                          <a:solidFill>
                            <a:srgbClr val="D4DEEA"/>
                          </a:solidFill>
                          <a:latin typeface="Segoe UI"/>
                        </a:rPr>
                        <a:t>Only paths exercised at runtime</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Finds</a:t>
                      </a:r>
                    </a:p>
                  </a:txBody>
                  <a:tcPr marL="73152" marR="54864" marT="27432" marB="27432" anchor="ctr">
                    <a:solidFill>
                      <a:srgbClr val="131D33"/>
                    </a:solidFill>
                  </a:tcPr>
                </a:tc>
                <a:tc>
                  <a:txBody>
                    <a:bodyPr wrap="square"/>
                    <a:lstStyle/>
                    <a:p>
                      <a:pPr algn="l"/>
                      <a:r>
                        <a:rPr sz="1250" b="0" i="0">
                          <a:solidFill>
                            <a:srgbClr val="D4DEEA"/>
                          </a:solidFill>
                          <a:latin typeface="Segoe UI"/>
                        </a:rPr>
                        <a:t>Injection, memory bugs, config, secrets</a:t>
                      </a:r>
                    </a:p>
                  </a:txBody>
                  <a:tcPr marL="73152" marR="54864" marT="27432" marB="27432" anchor="ctr">
                    <a:solidFill>
                      <a:srgbClr val="131D33"/>
                    </a:solidFill>
                  </a:tcPr>
                </a:tc>
                <a:tc>
                  <a:txBody>
                    <a:bodyPr wrap="square"/>
                    <a:lstStyle/>
                    <a:p>
                      <a:pPr algn="l"/>
                      <a:r>
                        <a:rPr sz="1250" b="0" i="0">
                          <a:solidFill>
                            <a:srgbClr val="D4DEEA"/>
                          </a:solidFill>
                          <a:latin typeface="Segoe UI"/>
                        </a:rPr>
                        <a:t>Auth flaws, real exploitability</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Weakness</a:t>
                      </a:r>
                    </a:p>
                  </a:txBody>
                  <a:tcPr marL="73152" marR="54864" marT="27432" marB="27432" anchor="ctr">
                    <a:solidFill>
                      <a:srgbClr val="18233D"/>
                    </a:solidFill>
                  </a:tcPr>
                </a:tc>
                <a:tc>
                  <a:txBody>
                    <a:bodyPr wrap="square"/>
                    <a:lstStyle/>
                    <a:p>
                      <a:pPr algn="l"/>
                      <a:r>
                        <a:rPr sz="1250" b="0" i="0">
                          <a:solidFill>
                            <a:srgbClr val="D4DEEA"/>
                          </a:solidFill>
                          <a:latin typeface="Segoe UI"/>
                        </a:rPr>
                        <a:t>False positives</a:t>
                      </a:r>
                    </a:p>
                  </a:txBody>
                  <a:tcPr marL="73152" marR="54864" marT="27432" marB="27432" anchor="ctr">
                    <a:solidFill>
                      <a:srgbClr val="18233D"/>
                    </a:solidFill>
                  </a:tcPr>
                </a:tc>
                <a:tc>
                  <a:txBody>
                    <a:bodyPr wrap="square"/>
                    <a:lstStyle/>
                    <a:p>
                      <a:pPr algn="l"/>
                      <a:r>
                        <a:rPr sz="1250" b="0" i="0">
                          <a:solidFill>
                            <a:srgbClr val="D4DEEA"/>
                          </a:solidFill>
                          <a:latin typeface="Segoe UI"/>
                        </a:rPr>
                        <a:t>False negatives (misses unreached code)</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In the SDLC</a:t>
                      </a:r>
                    </a:p>
                  </a:txBody>
                  <a:tcPr marL="73152" marR="54864" marT="27432" marB="27432" anchor="ctr">
                    <a:solidFill>
                      <a:srgbClr val="131D33"/>
                    </a:solidFill>
                  </a:tcPr>
                </a:tc>
                <a:tc>
                  <a:txBody>
                    <a:bodyPr wrap="square"/>
                    <a:lstStyle/>
                    <a:p>
                      <a:pPr algn="l"/>
                      <a:r>
                        <a:rPr sz="1250" b="0" i="0">
                          <a:solidFill>
                            <a:srgbClr val="D4DEEA"/>
                          </a:solidFill>
                          <a:latin typeface="Segoe UI"/>
                        </a:rPr>
                        <a:t>Commit / PR / IDE</a:t>
                      </a:r>
                    </a:p>
                  </a:txBody>
                  <a:tcPr marL="73152" marR="54864" marT="27432" marB="27432" anchor="ctr">
                    <a:solidFill>
                      <a:srgbClr val="131D33"/>
                    </a:solidFill>
                  </a:tcPr>
                </a:tc>
                <a:tc>
                  <a:txBody>
                    <a:bodyPr wrap="square"/>
                    <a:lstStyle/>
                    <a:p>
                      <a:pPr algn="l"/>
                      <a:r>
                        <a:rPr sz="1250" b="0" i="0">
                          <a:solidFill>
                            <a:srgbClr val="D4DEEA"/>
                          </a:solidFill>
                          <a:latin typeface="Segoe UI"/>
                        </a:rPr>
                        <a:t>Staging / QA / pre-prod</a:t>
                      </a:r>
                    </a:p>
                  </a:txBody>
                  <a:tcPr marL="73152" marR="54864" marT="27432" marB="27432" anchor="ctr">
                    <a:solidFill>
                      <a:srgbClr val="131D33"/>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The SAST false-positive problem</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6</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A raw SAST run can emit hundreds to thousands of findings.</a:t>
            </a:r>
          </a:p>
          <a:p>
            <a:pPr>
              <a:spcAft>
                <a:spcPts val="900"/>
              </a:spcAft>
            </a:pPr>
            <a:r>
              <a:rPr sz="2100" b="1" i="0">
                <a:solidFill>
                  <a:srgbClr val="F97316"/>
                </a:solidFill>
                <a:latin typeface="Segoe UI"/>
              </a:rPr>
              <a:t>▸  </a:t>
            </a:r>
            <a:r>
              <a:rPr sz="2100" b="1" i="0">
                <a:solidFill>
                  <a:srgbClr val="D4DEEA"/>
                </a:solidFill>
                <a:latin typeface="Segoe UI"/>
              </a:rPr>
              <a:t>Many are unreachable, already mitigated, or the wrong CWE class.</a:t>
            </a:r>
          </a:p>
          <a:p>
            <a:pPr>
              <a:spcAft>
                <a:spcPts val="900"/>
              </a:spcAft>
            </a:pPr>
            <a:r>
              <a:rPr sz="2100" b="1" i="0">
                <a:solidFill>
                  <a:srgbClr val="F97316"/>
                </a:solidFill>
                <a:latin typeface="Segoe UI"/>
              </a:rPr>
              <a:t>▸  </a:t>
            </a:r>
            <a:r>
              <a:rPr sz="2100" b="1" i="0">
                <a:solidFill>
                  <a:srgbClr val="D4DEEA"/>
                </a:solidFill>
                <a:latin typeface="Segoe UI"/>
              </a:rPr>
              <a:t>Hand triage is slow and demoralising → tools get abandoned.</a:t>
            </a:r>
          </a:p>
          <a:p>
            <a:pPr>
              <a:spcAft>
                <a:spcPts val="900"/>
              </a:spcAft>
            </a:pPr>
            <a:r>
              <a:rPr sz="2100" b="1" i="0">
                <a:solidFill>
                  <a:srgbClr val="F97316"/>
                </a:solidFill>
                <a:latin typeface="Segoe UI"/>
              </a:rPr>
              <a:t>▸  </a:t>
            </a:r>
            <a:r>
              <a:rPr sz="2100" b="1" i="0">
                <a:solidFill>
                  <a:srgbClr val="34D399"/>
                </a:solidFill>
                <a:latin typeface="Segoe UI"/>
              </a:rPr>
              <a:t>The opportunity: automate the triage REASONING, not just detection.</a:t>
            </a:r>
          </a:p>
          <a:p>
            <a:pPr lvl="1">
              <a:spcAft>
                <a:spcPts val="900"/>
              </a:spcAft>
            </a:pPr>
            <a:r>
              <a:rPr sz="1800" b="1" i="0">
                <a:solidFill>
                  <a:srgbClr val="909CAB"/>
                </a:solidFill>
                <a:latin typeface="Segoe UI"/>
              </a:rPr>
              <a:t>–  </a:t>
            </a:r>
            <a:r>
              <a:rPr sz="1800" b="0" i="0">
                <a:solidFill>
                  <a:srgbClr val="9DB0C6"/>
                </a:solidFill>
                <a:latin typeface="Segoe UI"/>
              </a:rPr>
              <a:t>Remember: detection finds candidates, verification decides.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0" y="960120"/>
            <a:ext cx="5074920" cy="4480560"/>
          </a:xfrm>
          <a:prstGeom prst="rect">
            <a:avLst/>
          </a:prstGeom>
          <a:noFill/>
        </p:spPr>
        <p:txBody>
          <a:bodyPr wrap="none" anchor="ctr" lIns="0" rIns="0" tIns="0" bIns="0">
            <a:spAutoFit/>
          </a:bodyPr>
          <a:lstStyle/>
          <a:p>
            <a:pPr algn="r">
              <a:spcAft>
                <a:spcPts val="200"/>
              </a:spcAft>
            </a:pPr>
            <a:r>
              <a:rPr sz="25000" b="1" i="0">
                <a:solidFill>
                  <a:srgbClr val="1C2C4A"/>
                </a:solidFill>
                <a:latin typeface="Segoe UI"/>
              </a:rPr>
              <a:t>02</a:t>
            </a:r>
          </a:p>
        </p:txBody>
      </p:sp>
      <p:sp>
        <p:nvSpPr>
          <p:cNvPr id="4" name="Rectangle 3"/>
          <p:cNvSpPr/>
          <p:nvPr/>
        </p:nvSpPr>
        <p:spPr>
          <a:xfrm>
            <a:off x="868680" y="2670048"/>
            <a:ext cx="50292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2450592"/>
            <a:ext cx="8229600" cy="502920"/>
          </a:xfrm>
          <a:prstGeom prst="rect">
            <a:avLst/>
          </a:prstGeom>
          <a:noFill/>
        </p:spPr>
        <p:txBody>
          <a:bodyPr wrap="square" anchor="t" lIns="0" rIns="0" tIns="0" bIns="0">
            <a:spAutoFit/>
          </a:bodyPr>
          <a:lstStyle/>
          <a:p>
            <a:pPr algn="l">
              <a:spcAft>
                <a:spcPts val="200"/>
              </a:spcAft>
            </a:pPr>
            <a:r>
              <a:rPr sz="1800" b="1" i="0">
                <a:solidFill>
                  <a:srgbClr val="F59E0B"/>
                </a:solidFill>
                <a:latin typeface="Segoe UI"/>
              </a:rPr>
              <a:t>PART 2</a:t>
            </a:r>
          </a:p>
        </p:txBody>
      </p:sp>
      <p:sp>
        <p:nvSpPr>
          <p:cNvPr id="6" name="TextBox 5"/>
          <p:cNvSpPr txBox="1"/>
          <p:nvPr/>
        </p:nvSpPr>
        <p:spPr>
          <a:xfrm>
            <a:off x="822960" y="2944368"/>
            <a:ext cx="10058400" cy="1645920"/>
          </a:xfrm>
          <a:prstGeom prst="rect">
            <a:avLst/>
          </a:prstGeom>
          <a:noFill/>
        </p:spPr>
        <p:txBody>
          <a:bodyPr wrap="square" anchor="t" lIns="0" rIns="0" tIns="0" bIns="0">
            <a:spAutoFit/>
          </a:bodyPr>
          <a:lstStyle/>
          <a:p>
            <a:pPr algn="l">
              <a:spcAft>
                <a:spcPts val="200"/>
              </a:spcAft>
            </a:pPr>
            <a:r>
              <a:rPr sz="4000" b="1" i="0">
                <a:solidFill>
                  <a:srgbClr val="FFFFFF"/>
                </a:solidFill>
                <a:latin typeface="Segoe UI"/>
              </a:rPr>
              <a:t>How CodeQL &amp; Semgrep scan</a:t>
            </a:r>
          </a:p>
        </p:txBody>
      </p:sp>
      <p:sp>
        <p:nvSpPr>
          <p:cNvPr id="7" name="Rectangle 6"/>
          <p:cNvSpPr/>
          <p:nvPr/>
        </p:nvSpPr>
        <p:spPr>
          <a:xfrm>
            <a:off x="868680" y="4343400"/>
            <a:ext cx="292608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16152" y="6126480"/>
            <a:ext cx="457200" cy="146304"/>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819656"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67128"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514600"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62072"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09544"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Two philosophies of static analysis</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8</a:t>
            </a:r>
          </a:p>
        </p:txBody>
      </p:sp>
      <p:sp>
        <p:nvSpPr>
          <p:cNvPr id="8" name="Rounded Rectangle 7"/>
          <p:cNvSpPr/>
          <p:nvPr/>
        </p:nvSpPr>
        <p:spPr>
          <a:xfrm>
            <a:off x="640080" y="1463040"/>
            <a:ext cx="5440680" cy="416052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463040"/>
            <a:ext cx="5440680" cy="566928"/>
          </a:xfrm>
          <a:prstGeom prst="roundRect">
            <a:avLst>
              <a:gd name="adj" fmla="val 45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600" b="1" i="0">
                <a:solidFill>
                  <a:srgbClr val="FFFFFF"/>
                </a:solidFill>
                <a:latin typeface="Segoe UI"/>
              </a:rPr>
              <a:t>Pattern matching  ·  Semgrep</a:t>
            </a:r>
          </a:p>
        </p:txBody>
      </p:sp>
      <p:sp>
        <p:nvSpPr>
          <p:cNvPr id="10" name="TextBox 9"/>
          <p:cNvSpPr txBox="1"/>
          <p:nvPr/>
        </p:nvSpPr>
        <p:spPr>
          <a:xfrm>
            <a:off x="859536" y="2212848"/>
            <a:ext cx="5001768" cy="3246120"/>
          </a:xfrm>
          <a:prstGeom prst="rect">
            <a:avLst/>
          </a:prstGeom>
          <a:noFill/>
        </p:spPr>
        <p:txBody>
          <a:bodyPr wrap="square">
            <a:spAutoFit/>
          </a:bodyPr>
          <a:lstStyle/>
          <a:p>
            <a:pPr>
              <a:spcAft>
                <a:spcPts val="700"/>
              </a:spcAft>
            </a:pPr>
            <a:r>
              <a:rPr sz="1400" b="1" i="0">
                <a:solidFill>
                  <a:srgbClr val="22D3EE"/>
                </a:solidFill>
                <a:latin typeface="Segoe UI"/>
              </a:rPr>
              <a:t>•  </a:t>
            </a:r>
            <a:r>
              <a:rPr sz="1400" b="0" i="0">
                <a:solidFill>
                  <a:srgbClr val="D4DEEA"/>
                </a:solidFill>
                <a:latin typeface="Segoe UI"/>
              </a:rPr>
              <a:t>“Does this code LOOK LIKE a known bad shape?”</a:t>
            </a:r>
          </a:p>
          <a:p>
            <a:pPr>
              <a:spcAft>
                <a:spcPts val="700"/>
              </a:spcAft>
            </a:pPr>
            <a:r>
              <a:rPr sz="1400" b="1" i="0">
                <a:solidFill>
                  <a:srgbClr val="22D3EE"/>
                </a:solidFill>
                <a:latin typeface="Segoe UI"/>
              </a:rPr>
              <a:t>•  </a:t>
            </a:r>
            <a:r>
              <a:rPr sz="1400" b="0" i="0">
                <a:solidFill>
                  <a:srgbClr val="D4DEEA"/>
                </a:solidFill>
                <a:latin typeface="Segoe UI"/>
              </a:rPr>
              <a:t>Parses each file to an AST, matches a written pattern.</a:t>
            </a:r>
          </a:p>
          <a:p>
            <a:pPr>
              <a:spcAft>
                <a:spcPts val="700"/>
              </a:spcAft>
            </a:pPr>
            <a:r>
              <a:rPr sz="1400" b="1" i="0">
                <a:solidFill>
                  <a:srgbClr val="22D3EE"/>
                </a:solidFill>
                <a:latin typeface="Segoe UI"/>
              </a:rPr>
              <a:t>•  </a:t>
            </a:r>
            <a:r>
              <a:rPr sz="1400" b="0" i="0">
                <a:solidFill>
                  <a:srgbClr val="D4DEEA"/>
                </a:solidFill>
                <a:latin typeface="Segoe UI"/>
              </a:rPr>
              <a:t>File-local · fast · no build required.</a:t>
            </a:r>
          </a:p>
          <a:p>
            <a:pPr>
              <a:spcAft>
                <a:spcPts val="700"/>
              </a:spcAft>
            </a:pPr>
            <a:r>
              <a:rPr sz="1400" b="1" i="0">
                <a:solidFill>
                  <a:srgbClr val="22D3EE"/>
                </a:solidFill>
                <a:latin typeface="Segoe UI"/>
              </a:rPr>
              <a:t>•  </a:t>
            </a:r>
            <a:r>
              <a:rPr sz="1400" b="0" i="0">
                <a:solidFill>
                  <a:srgbClr val="D4DEEA"/>
                </a:solidFill>
                <a:latin typeface="Segoe UI"/>
              </a:rPr>
              <a:t>Pipeline:</a:t>
            </a:r>
          </a:p>
          <a:p>
            <a:pPr>
              <a:spcAft>
                <a:spcPts val="700"/>
              </a:spcAft>
            </a:pPr>
            <a:r>
              <a:rPr sz="1250" b="0" i="1">
                <a:solidFill>
                  <a:srgbClr val="9DB0C6"/>
                </a:solidFill>
                <a:latin typeface="Consolas"/>
              </a:rPr>
              <a:t>source file → AST → pattern match → finding</a:t>
            </a:r>
          </a:p>
        </p:txBody>
      </p:sp>
      <p:sp>
        <p:nvSpPr>
          <p:cNvPr id="11" name="Rounded Rectangle 10"/>
          <p:cNvSpPr/>
          <p:nvPr/>
        </p:nvSpPr>
        <p:spPr>
          <a:xfrm>
            <a:off x="6355080" y="1463040"/>
            <a:ext cx="5440680" cy="416052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55080" y="1463040"/>
            <a:ext cx="5440680" cy="5669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600" b="1" i="0">
                <a:solidFill>
                  <a:srgbClr val="FFFFFF"/>
                </a:solidFill>
                <a:latin typeface="Segoe UI"/>
              </a:rPr>
              <a:t>Semantic / data-flow  ·  CodeQL</a:t>
            </a:r>
          </a:p>
        </p:txBody>
      </p:sp>
      <p:sp>
        <p:nvSpPr>
          <p:cNvPr id="13" name="TextBox 12"/>
          <p:cNvSpPr txBox="1"/>
          <p:nvPr/>
        </p:nvSpPr>
        <p:spPr>
          <a:xfrm>
            <a:off x="6574536" y="2212848"/>
            <a:ext cx="5001768" cy="3246120"/>
          </a:xfrm>
          <a:prstGeom prst="rect">
            <a:avLst/>
          </a:prstGeom>
          <a:noFill/>
        </p:spPr>
        <p:txBody>
          <a:bodyPr wrap="square">
            <a:spAutoFit/>
          </a:bodyPr>
          <a:lstStyle/>
          <a:p>
            <a:pPr>
              <a:spcAft>
                <a:spcPts val="700"/>
              </a:spcAft>
            </a:pPr>
            <a:r>
              <a:rPr sz="1400" b="1" i="0">
                <a:solidFill>
                  <a:srgbClr val="8184F7"/>
                </a:solidFill>
                <a:latin typeface="Segoe UI"/>
              </a:rPr>
              <a:t>•  </a:t>
            </a:r>
            <a:r>
              <a:rPr sz="1400" b="0" i="0">
                <a:solidFill>
                  <a:srgbClr val="D4DEEA"/>
                </a:solidFill>
                <a:latin typeface="Segoe UI"/>
              </a:rPr>
              <a:t>“Can tainted data actually REACH a dangerous sink?”</a:t>
            </a:r>
          </a:p>
          <a:p>
            <a:pPr>
              <a:spcAft>
                <a:spcPts val="700"/>
              </a:spcAft>
            </a:pPr>
            <a:r>
              <a:rPr sz="1400" b="1" i="0">
                <a:solidFill>
                  <a:srgbClr val="8184F7"/>
                </a:solidFill>
                <a:latin typeface="Segoe UI"/>
              </a:rPr>
              <a:t>•  </a:t>
            </a:r>
            <a:r>
              <a:rPr sz="1400" b="0" i="0">
                <a:solidFill>
                  <a:srgbClr val="D4DEEA"/>
                </a:solidFill>
                <a:latin typeface="Segoe UI"/>
              </a:rPr>
              <a:t>Builds a queryable model of the whole program.</a:t>
            </a:r>
          </a:p>
          <a:p>
            <a:pPr>
              <a:spcAft>
                <a:spcPts val="700"/>
              </a:spcAft>
            </a:pPr>
            <a:r>
              <a:rPr sz="1400" b="1" i="0">
                <a:solidFill>
                  <a:srgbClr val="8184F7"/>
                </a:solidFill>
                <a:latin typeface="Segoe UI"/>
              </a:rPr>
              <a:t>•  </a:t>
            </a:r>
            <a:r>
              <a:rPr sz="1400" b="0" i="0">
                <a:solidFill>
                  <a:srgbClr val="D4DEEA"/>
                </a:solidFill>
                <a:latin typeface="Segoe UI"/>
              </a:rPr>
              <a:t>Cross-function · type-aware · needs a build.</a:t>
            </a:r>
          </a:p>
          <a:p>
            <a:pPr>
              <a:spcAft>
                <a:spcPts val="700"/>
              </a:spcAft>
            </a:pPr>
            <a:r>
              <a:rPr sz="1400" b="1" i="0">
                <a:solidFill>
                  <a:srgbClr val="8184F7"/>
                </a:solidFill>
                <a:latin typeface="Segoe UI"/>
              </a:rPr>
              <a:t>•  </a:t>
            </a:r>
            <a:r>
              <a:rPr sz="1400" b="0" i="0">
                <a:solidFill>
                  <a:srgbClr val="D4DEEA"/>
                </a:solidFill>
                <a:latin typeface="Segoe UI"/>
              </a:rPr>
              <a:t>Pipeline:</a:t>
            </a:r>
          </a:p>
          <a:p>
            <a:pPr>
              <a:spcAft>
                <a:spcPts val="700"/>
              </a:spcAft>
            </a:pPr>
            <a:r>
              <a:rPr sz="1250" b="0" i="1">
                <a:solidFill>
                  <a:srgbClr val="9DB0C6"/>
                </a:solidFill>
                <a:latin typeface="Consolas"/>
              </a:rPr>
              <a:t>build → relational DB → taint query → finding</a:t>
            </a:r>
          </a:p>
        </p:txBody>
      </p:sp>
      <p:sp>
        <p:nvSpPr>
          <p:cNvPr id="14" name="TextBox 13"/>
          <p:cNvSpPr txBox="1"/>
          <p:nvPr/>
        </p:nvSpPr>
        <p:spPr>
          <a:xfrm>
            <a:off x="640080" y="5733288"/>
            <a:ext cx="10972800" cy="457200"/>
          </a:xfrm>
          <a:prstGeom prst="rect">
            <a:avLst/>
          </a:prstGeom>
          <a:noFill/>
        </p:spPr>
        <p:txBody>
          <a:bodyPr wrap="square" anchor="t" lIns="0" rIns="0" tIns="0" bIns="0">
            <a:spAutoFit/>
          </a:bodyPr>
          <a:lstStyle/>
          <a:p>
            <a:pPr algn="ctr">
              <a:spcAft>
                <a:spcPts val="200"/>
              </a:spcAft>
            </a:pPr>
            <a:r>
              <a:rPr sz="1350" b="0" i="1">
                <a:solidFill>
                  <a:srgbClr val="909CAB"/>
                </a:solidFill>
                <a:latin typeface="Segoe UI"/>
              </a:rPr>
              <a:t>Different questions, not rivals — VulnHunterX runs both and reconciles; both emit findings as SARIF.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CodeQL: code becomes a database</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9</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Build the code under a tracer → a relational DB of the program.</a:t>
            </a:r>
          </a:p>
          <a:p>
            <a:pPr lvl="1">
              <a:spcAft>
                <a:spcPts val="900"/>
              </a:spcAft>
            </a:pPr>
            <a:r>
              <a:rPr sz="1800" b="1" i="0">
                <a:solidFill>
                  <a:srgbClr val="909CAB"/>
                </a:solidFill>
                <a:latin typeface="Segoe UI"/>
              </a:rPr>
              <a:t>–  </a:t>
            </a:r>
            <a:r>
              <a:rPr sz="1800" b="0" i="0">
                <a:solidFill>
                  <a:srgbClr val="9DB0C6"/>
                </a:solidFill>
                <a:latin typeface="Segoe UI"/>
              </a:rPr>
              <a:t>(functions, expressions, types, control &amp; data flow)</a:t>
            </a:r>
          </a:p>
          <a:p>
            <a:pPr>
              <a:spcAft>
                <a:spcPts val="900"/>
              </a:spcAft>
            </a:pPr>
            <a:r>
              <a:rPr sz="2100" b="1" i="0">
                <a:solidFill>
                  <a:srgbClr val="F97316"/>
                </a:solidFill>
                <a:latin typeface="Segoe UI"/>
              </a:rPr>
              <a:t>▸  </a:t>
            </a:r>
            <a:r>
              <a:rPr sz="2100" b="1" i="0">
                <a:solidFill>
                  <a:srgbClr val="D4DEEA"/>
                </a:solidFill>
                <a:latin typeface="Segoe UI"/>
              </a:rPr>
              <a:t>Query it with .ql queries — an SQL-like, OO language.</a:t>
            </a:r>
          </a:p>
          <a:p>
            <a:pPr>
              <a:spcAft>
                <a:spcPts val="900"/>
              </a:spcAft>
            </a:pPr>
            <a:r>
              <a:rPr sz="2100" b="1" i="0">
                <a:solidFill>
                  <a:srgbClr val="F97316"/>
                </a:solidFill>
                <a:latin typeface="Segoe UI"/>
              </a:rPr>
              <a:t>▸  </a:t>
            </a:r>
            <a:r>
              <a:rPr sz="2100" b="1" i="0">
                <a:solidFill>
                  <a:srgbClr val="D4DEEA"/>
                </a:solidFill>
                <a:latin typeface="Segoe UI"/>
              </a:rPr>
              <a:t>Built-in suites: security-extended, security-and-quality.</a:t>
            </a:r>
          </a:p>
          <a:p>
            <a:pPr>
              <a:spcAft>
                <a:spcPts val="900"/>
              </a:spcAft>
            </a:pPr>
            <a:r>
              <a:rPr sz="2100" b="1" i="0">
                <a:solidFill>
                  <a:srgbClr val="F97316"/>
                </a:solidFill>
                <a:latin typeface="Segoe UI"/>
              </a:rPr>
              <a:t>▸  </a:t>
            </a:r>
            <a:r>
              <a:rPr sz="2100" b="1" i="0">
                <a:solidFill>
                  <a:srgbClr val="D4DEEA"/>
                </a:solidFill>
                <a:latin typeface="Segoe UI"/>
              </a:rPr>
              <a:t>Output: SARIF with ruleId, location, severity, data-flow path.</a:t>
            </a:r>
          </a:p>
          <a:p>
            <a:pPr>
              <a:spcAft>
                <a:spcPts val="900"/>
              </a:spcAft>
            </a:pPr>
            <a:r>
              <a:rPr sz="2100" b="1" i="0">
                <a:solidFill>
                  <a:srgbClr val="F97316"/>
                </a:solidFill>
                <a:latin typeface="Segoe UI"/>
              </a:rPr>
              <a:t>▸  </a:t>
            </a:r>
            <a:r>
              <a:rPr sz="2100" b="1" i="0">
                <a:solidFill>
                  <a:srgbClr val="FB7185"/>
                </a:solidFill>
                <a:latin typeface="Segoe UI"/>
              </a:rPr>
              <a:t>Needs to observe the build for compiled langs (C/C++/Java/Go/C#).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CodeQL: the extraction → query pipeline</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10</a:t>
            </a:r>
          </a:p>
        </p:txBody>
      </p:sp>
      <p:sp>
        <p:nvSpPr>
          <p:cNvPr id="8" name="Rounded Rectangle 7"/>
          <p:cNvSpPr/>
          <p:nvPr/>
        </p:nvSpPr>
        <p:spPr>
          <a:xfrm>
            <a:off x="502920" y="2468880"/>
            <a:ext cx="1965960" cy="123444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2468880"/>
            <a:ext cx="196596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615184"/>
            <a:ext cx="1965960" cy="10881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400" b="1" i="0">
                <a:solidFill>
                  <a:srgbClr val="F2F6FB"/>
                </a:solidFill>
                <a:latin typeface="Segoe UI"/>
              </a:rPr>
              <a:t>Source code</a:t>
            </a:r>
          </a:p>
          <a:p>
            <a:pPr algn="ctr">
              <a:spcAft>
                <a:spcPts val="200"/>
              </a:spcAft>
            </a:pPr>
            <a:r>
              <a:rPr sz="1050" b="0" i="0">
                <a:solidFill>
                  <a:srgbClr val="9DB0C6"/>
                </a:solidFill>
                <a:latin typeface="Segoe UI"/>
              </a:rPr>
              <a:t>your repo</a:t>
            </a:r>
          </a:p>
        </p:txBody>
      </p:sp>
      <p:sp>
        <p:nvSpPr>
          <p:cNvPr id="11" name="Rounded Rectangle 10"/>
          <p:cNvSpPr/>
          <p:nvPr/>
        </p:nvSpPr>
        <p:spPr>
          <a:xfrm>
            <a:off x="2852928" y="2468880"/>
            <a:ext cx="1965960" cy="123444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852928" y="2468880"/>
            <a:ext cx="196596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52928" y="2615184"/>
            <a:ext cx="1965960" cy="10881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400" b="1" i="0">
                <a:solidFill>
                  <a:srgbClr val="F2F6FB"/>
                </a:solidFill>
                <a:latin typeface="Segoe UI"/>
              </a:rPr>
              <a:t>Build tracer</a:t>
            </a:r>
          </a:p>
          <a:p>
            <a:pPr algn="ctr">
              <a:spcAft>
                <a:spcPts val="200"/>
              </a:spcAft>
            </a:pPr>
            <a:r>
              <a:rPr sz="1050" b="0" i="0">
                <a:solidFill>
                  <a:srgbClr val="9DB0C6"/>
                </a:solidFill>
                <a:latin typeface="Segoe UI"/>
              </a:rPr>
              <a:t>observes compilation</a:t>
            </a:r>
          </a:p>
        </p:txBody>
      </p:sp>
      <p:sp>
        <p:nvSpPr>
          <p:cNvPr id="14" name="Rounded Rectangle 13"/>
          <p:cNvSpPr/>
          <p:nvPr/>
        </p:nvSpPr>
        <p:spPr>
          <a:xfrm>
            <a:off x="5202936" y="2468880"/>
            <a:ext cx="1965960" cy="123444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02936" y="2468880"/>
            <a:ext cx="196596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02936" y="2615184"/>
            <a:ext cx="1965960" cy="10881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400" b="1" i="0">
                <a:solidFill>
                  <a:srgbClr val="F2F6FB"/>
                </a:solidFill>
                <a:latin typeface="Segoe UI"/>
              </a:rPr>
              <a:t>Relational DB</a:t>
            </a:r>
          </a:p>
          <a:p>
            <a:pPr algn="ctr">
              <a:spcAft>
                <a:spcPts val="200"/>
              </a:spcAft>
            </a:pPr>
            <a:r>
              <a:rPr sz="1050" b="0" i="0">
                <a:solidFill>
                  <a:srgbClr val="9DB0C6"/>
                </a:solidFill>
                <a:latin typeface="Segoe UI"/>
              </a:rPr>
              <a:t>AST + CFG + DFG</a:t>
            </a:r>
          </a:p>
          <a:p>
            <a:pPr algn="ctr">
              <a:spcAft>
                <a:spcPts val="200"/>
              </a:spcAft>
            </a:pPr>
            <a:r>
              <a:rPr sz="1050" b="0" i="0">
                <a:solidFill>
                  <a:srgbClr val="9DB0C6"/>
                </a:solidFill>
                <a:latin typeface="Segoe UI"/>
              </a:rPr>
              <a:t>+ types</a:t>
            </a:r>
          </a:p>
        </p:txBody>
      </p:sp>
      <p:sp>
        <p:nvSpPr>
          <p:cNvPr id="17" name="Rounded Rectangle 16"/>
          <p:cNvSpPr/>
          <p:nvPr/>
        </p:nvSpPr>
        <p:spPr>
          <a:xfrm>
            <a:off x="7552944" y="2468880"/>
            <a:ext cx="1965960" cy="123444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52944" y="2468880"/>
            <a:ext cx="196596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52944" y="2615184"/>
            <a:ext cx="1965960" cy="10881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400" b="1" i="0">
                <a:solidFill>
                  <a:srgbClr val="F2F6FB"/>
                </a:solidFill>
                <a:latin typeface="Segoe UI"/>
              </a:rPr>
              <a:t>.ql query</a:t>
            </a:r>
          </a:p>
          <a:p>
            <a:pPr algn="ctr">
              <a:spcAft>
                <a:spcPts val="200"/>
              </a:spcAft>
            </a:pPr>
            <a:r>
              <a:rPr sz="1050" b="0" i="0">
                <a:solidFill>
                  <a:srgbClr val="9DB0C6"/>
                </a:solidFill>
                <a:latin typeface="Segoe UI"/>
              </a:rPr>
              <a:t>security suite</a:t>
            </a:r>
          </a:p>
          <a:p>
            <a:pPr algn="ctr">
              <a:spcAft>
                <a:spcPts val="200"/>
              </a:spcAft>
            </a:pPr>
            <a:r>
              <a:rPr sz="1050" b="0" i="0">
                <a:solidFill>
                  <a:srgbClr val="9DB0C6"/>
                </a:solidFill>
                <a:latin typeface="Segoe UI"/>
              </a:rPr>
              <a:t>+ custom rules</a:t>
            </a:r>
          </a:p>
        </p:txBody>
      </p:sp>
      <p:sp>
        <p:nvSpPr>
          <p:cNvPr id="20" name="Rounded Rectangle 19"/>
          <p:cNvSpPr/>
          <p:nvPr/>
        </p:nvSpPr>
        <p:spPr>
          <a:xfrm>
            <a:off x="9902952" y="2468880"/>
            <a:ext cx="1965960" cy="123444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902952" y="2468880"/>
            <a:ext cx="196596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902952" y="2615184"/>
            <a:ext cx="1965960" cy="10881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400" b="1" i="0">
                <a:solidFill>
                  <a:srgbClr val="F2F6FB"/>
                </a:solidFill>
                <a:latin typeface="Segoe UI"/>
              </a:rPr>
              <a:t>SARIF</a:t>
            </a:r>
          </a:p>
          <a:p>
            <a:pPr algn="ctr">
              <a:spcAft>
                <a:spcPts val="200"/>
              </a:spcAft>
            </a:pPr>
            <a:r>
              <a:rPr sz="1050" b="0" i="0">
                <a:solidFill>
                  <a:srgbClr val="9DB0C6"/>
                </a:solidFill>
                <a:latin typeface="Segoe UI"/>
              </a:rPr>
              <a:t>ruleId · location</a:t>
            </a:r>
          </a:p>
          <a:p>
            <a:pPr algn="ctr">
              <a:spcAft>
                <a:spcPts val="200"/>
              </a:spcAft>
            </a:pPr>
            <a:r>
              <a:rPr sz="1050" b="0" i="0">
                <a:solidFill>
                  <a:srgbClr val="9DB0C6"/>
                </a:solidFill>
                <a:latin typeface="Segoe UI"/>
              </a:rPr>
              <a:t>· data-flow path</a:t>
            </a:r>
          </a:p>
        </p:txBody>
      </p:sp>
      <p:cxnSp>
        <p:nvCxnSpPr>
          <p:cNvPr id="23" name="Connector 22"/>
          <p:cNvCxnSpPr/>
          <p:nvPr/>
        </p:nvCxnSpPr>
        <p:spPr>
          <a:xfrm>
            <a:off x="2468880" y="3086100"/>
            <a:ext cx="384048" cy="0"/>
          </a:xfrm>
          <a:prstGeom prst="line">
            <a:avLst/>
          </a:prstGeom>
          <a:ln w="31750">
            <a:solidFill>
              <a:srgbClr val="8184F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818888" y="3086100"/>
            <a:ext cx="384048" cy="0"/>
          </a:xfrm>
          <a:prstGeom prst="line">
            <a:avLst/>
          </a:prstGeom>
          <a:ln w="31750">
            <a:solidFill>
              <a:srgbClr val="8184F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168896" y="3086100"/>
            <a:ext cx="384048" cy="0"/>
          </a:xfrm>
          <a:prstGeom prst="line">
            <a:avLst/>
          </a:prstGeom>
          <a:ln w="31750">
            <a:solidFill>
              <a:srgbClr val="8184F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518904" y="3086100"/>
            <a:ext cx="384048" cy="0"/>
          </a:xfrm>
          <a:prstGeom prst="line">
            <a:avLst/>
          </a:prstGeom>
          <a:ln w="31750">
            <a:solidFill>
              <a:srgbClr val="8184F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0080" y="4480560"/>
            <a:ext cx="10972800" cy="1280160"/>
          </a:xfrm>
          <a:prstGeom prst="rect">
            <a:avLst/>
          </a:prstGeom>
          <a:noFill/>
        </p:spPr>
        <p:txBody>
          <a:bodyPr wrap="square" anchor="t" lIns="0" rIns="0" tIns="0" bIns="0">
            <a:spAutoFit/>
          </a:bodyPr>
          <a:lstStyle/>
          <a:p>
            <a:pPr algn="l">
              <a:spcAft>
                <a:spcPts val="200"/>
              </a:spcAft>
            </a:pPr>
            <a:r>
              <a:rPr sz="1500" b="1" i="0">
                <a:solidFill>
                  <a:srgbClr val="F2F6FB"/>
                </a:solidFill>
                <a:latin typeface="Segoe UI"/>
              </a:rPr>
              <a:t>Two phases: </a:t>
            </a:r>
            <a:r>
              <a:rPr sz="1500" b="0" i="0">
                <a:solidFill>
                  <a:srgbClr val="D4DEEA"/>
                </a:solidFill>
                <a:latin typeface="Segoe UI"/>
              </a:rPr>
              <a:t>EXTRACTION builds the database once (the slow part — needs the build for compiled languages); then ANY NUMBER of queries run over it cheaply.</a:t>
            </a:r>
          </a:p>
          <a:p>
            <a:pPr algn="l">
              <a:spcAft>
                <a:spcPts val="200"/>
              </a:spcAft>
            </a:pPr>
            <a:r>
              <a:rPr sz="1400" b="1" i="0">
                <a:solidFill>
                  <a:srgbClr val="FB7185"/>
                </a:solidFill>
                <a:latin typeface="Segoe UI"/>
              </a:rPr>
              <a:t>Break the build → the database is incomplete → memory-safety recall collapses. (Keep builds green.)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Anatomy of a .ql query (taint tracking)</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11</a:t>
            </a:r>
          </a:p>
        </p:txBody>
      </p:sp>
      <p:sp>
        <p:nvSpPr>
          <p:cNvPr id="8" name="TextBox 7"/>
          <p:cNvSpPr txBox="1"/>
          <p:nvPr/>
        </p:nvSpPr>
        <p:spPr>
          <a:xfrm>
            <a:off x="640080" y="1152144"/>
            <a:ext cx="10972800" cy="457200"/>
          </a:xfrm>
          <a:prstGeom prst="rect">
            <a:avLst/>
          </a:prstGeom>
          <a:noFill/>
        </p:spPr>
        <p:txBody>
          <a:bodyPr wrap="square" anchor="t" lIns="0" rIns="0" tIns="0" bIns="0">
            <a:spAutoFit/>
          </a:bodyPr>
          <a:lstStyle/>
          <a:p>
            <a:pPr algn="l">
              <a:spcAft>
                <a:spcPts val="200"/>
              </a:spcAft>
            </a:pPr>
            <a:r>
              <a:rPr sz="1500" b="0" i="1">
                <a:solidFill>
                  <a:srgbClr val="909CAB"/>
                </a:solidFill>
                <a:latin typeface="Segoe UI"/>
              </a:rPr>
              <a:t>Plain-English: “find a data-flow path from argv to system()’s argument, with no sanitizer in between.”</a:t>
            </a:r>
          </a:p>
        </p:txBody>
      </p:sp>
      <p:sp>
        <p:nvSpPr>
          <p:cNvPr id="9" name="Rounded Rectangle 8"/>
          <p:cNvSpPr/>
          <p:nvPr/>
        </p:nvSpPr>
        <p:spPr>
          <a:xfrm>
            <a:off x="640080" y="1627632"/>
            <a:ext cx="10927080" cy="4727448"/>
          </a:xfrm>
          <a:prstGeom prst="roundRect">
            <a:avLst>
              <a:gd name="adj" fmla="val 4500"/>
            </a:avLst>
          </a:prstGeom>
          <a:solidFill>
            <a:srgbClr val="0F1A2E"/>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74320" tIns="566928"/>
          <a:lstStyle/>
          <a:p>
            <a:pPr algn="ctr">
              <a:spcAft>
                <a:spcPts val="300"/>
              </a:spcAft>
            </a:pPr>
            <a:r>
              <a:rPr sz="1550" b="0" i="0">
                <a:solidFill>
                  <a:srgbClr val="CCD8E6"/>
                </a:solidFill>
                <a:latin typeface="Consolas"/>
              </a:rPr>
              <a:t>import</a:t>
            </a:r>
            <a:r>
              <a:rPr sz="1550" b="0" i="0">
                <a:solidFill>
                  <a:srgbClr val="CCD8E6"/>
                </a:solidFill>
                <a:latin typeface="Consolas"/>
              </a:rPr>
              <a:t> </a:t>
            </a:r>
            <a:r>
              <a:rPr sz="1550" b="0" i="0">
                <a:solidFill>
                  <a:srgbClr val="CCD8E6"/>
                </a:solidFill>
                <a:latin typeface="Consolas"/>
              </a:rPr>
              <a:t>cpp</a:t>
            </a:r>
          </a:p>
          <a:p>
            <a:pPr>
              <a:spcAft>
                <a:spcPts val="300"/>
              </a:spcAft>
            </a:pPr>
            <a:r>
              <a:rPr sz="1550" b="0" i="0">
                <a:solidFill>
                  <a:srgbClr val="CCD8E6"/>
                </a:solidFill>
                <a:latin typeface="Consolas"/>
              </a:rPr>
              <a:t>import</a:t>
            </a:r>
            <a:r>
              <a:rPr sz="1550" b="0" i="0">
                <a:solidFill>
                  <a:srgbClr val="CCD8E6"/>
                </a:solidFill>
                <a:latin typeface="Consolas"/>
              </a:rPr>
              <a:t> </a:t>
            </a:r>
            <a:r>
              <a:rPr sz="1550" b="0" i="0">
                <a:solidFill>
                  <a:srgbClr val="CCD8E6"/>
                </a:solidFill>
                <a:latin typeface="Consolas"/>
              </a:rPr>
              <a:t>semmle.code.cpp.dataflow.TaintTracking</a:t>
            </a:r>
          </a:p>
          <a:p>
            <a:pPr>
              <a:spcAft>
                <a:spcPts val="300"/>
              </a:spcAft>
            </a:pPr>
            <a:r>
              <a:rPr sz="1550" b="0" i="0">
                <a:solidFill>
                  <a:srgbClr val="CCD8E6"/>
                </a:solidFill>
                <a:latin typeface="Consolas"/>
              </a:rPr>
              <a:t> </a:t>
            </a:r>
          </a:p>
          <a:p>
            <a:pPr>
              <a:spcAft>
                <a:spcPts val="300"/>
              </a:spcAft>
            </a:pP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a:t>
            </a:r>
            <a:r>
              <a:rPr sz="1550" b="0" i="0">
                <a:solidFill>
                  <a:srgbClr val="CCD8E6"/>
                </a:solidFill>
                <a:latin typeface="Consolas"/>
              </a:rPr>
              <a:t> </a:t>
            </a:r>
            <a:r>
              <a:rPr sz="1550" b="0" i="0">
                <a:solidFill>
                  <a:srgbClr val="CCD8E6"/>
                </a:solidFill>
                <a:latin typeface="Consolas"/>
              </a:rPr>
              <a:t>source:</a:t>
            </a:r>
            <a:r>
              <a:rPr sz="1550" b="0" i="0">
                <a:solidFill>
                  <a:srgbClr val="CCD8E6"/>
                </a:solidFill>
                <a:latin typeface="Consolas"/>
              </a:rPr>
              <a:t> </a:t>
            </a:r>
            <a:r>
              <a:rPr sz="1550" b="0" i="0">
                <a:solidFill>
                  <a:srgbClr val="CCD8E6"/>
                </a:solidFill>
                <a:latin typeface="Consolas"/>
              </a:rPr>
              <a:t>command-line</a:t>
            </a:r>
            <a:r>
              <a:rPr sz="1550" b="0" i="0">
                <a:solidFill>
                  <a:srgbClr val="CCD8E6"/>
                </a:solidFill>
                <a:latin typeface="Consolas"/>
              </a:rPr>
              <a:t> </a:t>
            </a:r>
            <a:r>
              <a:rPr sz="1550" b="0" i="0">
                <a:solidFill>
                  <a:srgbClr val="CCD8E6"/>
                </a:solidFill>
                <a:latin typeface="Consolas"/>
              </a:rPr>
              <a:t>input</a:t>
            </a:r>
            <a:r>
              <a:rPr sz="1550" b="0" i="0">
                <a:solidFill>
                  <a:srgbClr val="CCD8E6"/>
                </a:solidFill>
                <a:latin typeface="Consolas"/>
              </a:rPr>
              <a:t> </a:t>
            </a:r>
            <a:r>
              <a:rPr sz="1550" b="0" i="0">
                <a:solidFill>
                  <a:srgbClr val="CCD8E6"/>
                </a:solidFill>
                <a:latin typeface="Consolas"/>
              </a:rPr>
              <a:t>(argv)</a:t>
            </a:r>
          </a:p>
          <a:p>
            <a:pPr>
              <a:spcAft>
                <a:spcPts val="300"/>
              </a:spcAft>
            </a:pP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a:t>
            </a:r>
            <a:r>
              <a:rPr sz="1550" b="0" i="0">
                <a:solidFill>
                  <a:srgbClr val="CCD8E6"/>
                </a:solidFill>
                <a:latin typeface="Consolas"/>
              </a:rPr>
              <a:t> </a:t>
            </a:r>
            <a:r>
              <a:rPr sz="1550" b="0" i="0">
                <a:solidFill>
                  <a:srgbClr val="CCD8E6"/>
                </a:solidFill>
                <a:latin typeface="Consolas"/>
              </a:rPr>
              <a:t>sink:</a:t>
            </a:r>
            <a:r>
              <a:rPr sz="1550" b="0" i="0">
                <a:solidFill>
                  <a:srgbClr val="CCD8E6"/>
                </a:solidFill>
                <a:latin typeface="Consolas"/>
              </a:rPr>
              <a:t>   </a:t>
            </a:r>
            <a:r>
              <a:rPr sz="1550" b="0" i="0">
                <a:solidFill>
                  <a:srgbClr val="CCD8E6"/>
                </a:solidFill>
                <a:latin typeface="Consolas"/>
              </a:rPr>
              <a:t>the</a:t>
            </a:r>
            <a:r>
              <a:rPr sz="1550" b="0" i="0">
                <a:solidFill>
                  <a:srgbClr val="CCD8E6"/>
                </a:solidFill>
                <a:latin typeface="Consolas"/>
              </a:rPr>
              <a:t> </a:t>
            </a:r>
            <a:r>
              <a:rPr sz="1550" b="0" i="0">
                <a:solidFill>
                  <a:srgbClr val="CCD8E6"/>
                </a:solidFill>
                <a:latin typeface="Consolas"/>
              </a:rPr>
              <a:t>command</a:t>
            </a:r>
            <a:r>
              <a:rPr sz="1550" b="0" i="0">
                <a:solidFill>
                  <a:srgbClr val="CCD8E6"/>
                </a:solidFill>
                <a:latin typeface="Consolas"/>
              </a:rPr>
              <a:t> </a:t>
            </a:r>
            <a:r>
              <a:rPr sz="1550" b="0" i="0">
                <a:solidFill>
                  <a:srgbClr val="CCD8E6"/>
                </a:solidFill>
                <a:latin typeface="Consolas"/>
              </a:rPr>
              <a:t>string</a:t>
            </a:r>
            <a:r>
              <a:rPr sz="1550" b="0" i="0">
                <a:solidFill>
                  <a:srgbClr val="CCD8E6"/>
                </a:solidFill>
                <a:latin typeface="Consolas"/>
              </a:rPr>
              <a:t> </a:t>
            </a:r>
            <a:r>
              <a:rPr sz="1550" b="0" i="0">
                <a:solidFill>
                  <a:srgbClr val="CCD8E6"/>
                </a:solidFill>
                <a:latin typeface="Consolas"/>
              </a:rPr>
              <a:t>passed</a:t>
            </a:r>
            <a:r>
              <a:rPr sz="1550" b="0" i="0">
                <a:solidFill>
                  <a:srgbClr val="CCD8E6"/>
                </a:solidFill>
                <a:latin typeface="Consolas"/>
              </a:rPr>
              <a:t> </a:t>
            </a:r>
            <a:r>
              <a:rPr sz="1550" b="0" i="0">
                <a:solidFill>
                  <a:srgbClr val="CCD8E6"/>
                </a:solidFill>
                <a:latin typeface="Consolas"/>
              </a:rPr>
              <a:t>to</a:t>
            </a:r>
            <a:r>
              <a:rPr sz="1550" b="0" i="0">
                <a:solidFill>
                  <a:srgbClr val="CCD8E6"/>
                </a:solidFill>
                <a:latin typeface="Consolas"/>
              </a:rPr>
              <a:t> </a:t>
            </a:r>
            <a:r>
              <a:rPr sz="1550" b="0" i="0">
                <a:solidFill>
                  <a:srgbClr val="CCD8E6"/>
                </a:solidFill>
                <a:latin typeface="Consolas"/>
              </a:rPr>
              <a:t>system()</a:t>
            </a:r>
          </a:p>
          <a:p>
            <a:pPr>
              <a:spcAft>
                <a:spcPts val="300"/>
              </a:spcAft>
            </a:pPr>
            <a:r>
              <a:rPr sz="1550" b="0" i="0">
                <a:solidFill>
                  <a:srgbClr val="CCD8E6"/>
                </a:solidFill>
                <a:latin typeface="Consolas"/>
              </a:rPr>
              <a:t>from</a:t>
            </a:r>
            <a:r>
              <a:rPr sz="1550" b="0" i="0">
                <a:solidFill>
                  <a:srgbClr val="CCD8E6"/>
                </a:solidFill>
                <a:latin typeface="Consolas"/>
              </a:rPr>
              <a:t> </a:t>
            </a:r>
            <a:r>
              <a:rPr sz="1550" b="0" i="0">
                <a:solidFill>
                  <a:srgbClr val="CCD8E6"/>
                </a:solidFill>
                <a:latin typeface="Consolas"/>
              </a:rPr>
              <a:t>DataFlow::Node</a:t>
            </a:r>
            <a:r>
              <a:rPr sz="1550" b="0" i="0">
                <a:solidFill>
                  <a:srgbClr val="CCD8E6"/>
                </a:solidFill>
                <a:latin typeface="Consolas"/>
              </a:rPr>
              <a:t> </a:t>
            </a:r>
            <a:r>
              <a:rPr sz="1550" b="0" i="0">
                <a:solidFill>
                  <a:srgbClr val="CCD8E6"/>
                </a:solidFill>
                <a:latin typeface="Consolas"/>
              </a:rPr>
              <a:t>source,</a:t>
            </a:r>
            <a:r>
              <a:rPr sz="1550" b="0" i="0">
                <a:solidFill>
                  <a:srgbClr val="CCD8E6"/>
                </a:solidFill>
                <a:latin typeface="Consolas"/>
              </a:rPr>
              <a:t> </a:t>
            </a:r>
            <a:r>
              <a:rPr sz="1550" b="0" i="0">
                <a:solidFill>
                  <a:srgbClr val="CCD8E6"/>
                </a:solidFill>
                <a:latin typeface="Consolas"/>
              </a:rPr>
              <a:t>DataFlow::Node</a:t>
            </a:r>
            <a:r>
              <a:rPr sz="1550" b="0" i="0">
                <a:solidFill>
                  <a:srgbClr val="CCD8E6"/>
                </a:solidFill>
                <a:latin typeface="Consolas"/>
              </a:rPr>
              <a:t> </a:t>
            </a:r>
            <a:r>
              <a:rPr sz="1550" b="0" i="0">
                <a:solidFill>
                  <a:srgbClr val="CCD8E6"/>
                </a:solidFill>
                <a:latin typeface="Consolas"/>
              </a:rPr>
              <a:t>sink</a:t>
            </a:r>
          </a:p>
          <a:p>
            <a:pPr>
              <a:spcAft>
                <a:spcPts val="300"/>
              </a:spcAft>
            </a:pPr>
            <a:r>
              <a:rPr sz="1550" b="0" i="0">
                <a:solidFill>
                  <a:srgbClr val="CCD8E6"/>
                </a:solidFill>
                <a:latin typeface="Consolas"/>
              </a:rPr>
              <a:t>where</a:t>
            </a:r>
          </a:p>
          <a:p>
            <a:pPr>
              <a:spcAft>
                <a:spcPts val="300"/>
              </a:spcAft>
            </a:pPr>
            <a:r>
              <a:rPr sz="1550" b="0" i="0">
                <a:solidFill>
                  <a:srgbClr val="CCD8E6"/>
                </a:solidFill>
                <a:latin typeface="Consolas"/>
              </a:rPr>
              <a:t>    </a:t>
            </a:r>
            <a:r>
              <a:rPr sz="1550" b="0" i="0">
                <a:solidFill>
                  <a:srgbClr val="CCD8E6"/>
                </a:solidFill>
                <a:latin typeface="Consolas"/>
              </a:rPr>
              <a:t>source.asExpr()</a:t>
            </a:r>
            <a:r>
              <a:rPr sz="1550" b="0" i="0">
                <a:solidFill>
                  <a:srgbClr val="CCD8E6"/>
                </a:solidFill>
                <a:latin typeface="Consolas"/>
              </a:rPr>
              <a:t> </a:t>
            </a:r>
            <a:r>
              <a:rPr sz="1550" b="0" i="0">
                <a:solidFill>
                  <a:srgbClr val="CCD8E6"/>
                </a:solidFill>
                <a:latin typeface="Consolas"/>
              </a:rPr>
              <a:t>instanceof</a:t>
            </a:r>
            <a:r>
              <a:rPr sz="1550" b="0" i="0">
                <a:solidFill>
                  <a:srgbClr val="CCD8E6"/>
                </a:solidFill>
                <a:latin typeface="Consolas"/>
              </a:rPr>
              <a:t> </a:t>
            </a:r>
            <a:r>
              <a:rPr sz="1550" b="0" i="0">
                <a:solidFill>
                  <a:srgbClr val="CCD8E6"/>
                </a:solidFill>
                <a:latin typeface="Consolas"/>
              </a:rPr>
              <a:t>ArgvAccess</a:t>
            </a:r>
            <a:r>
              <a:rPr sz="1550" b="0" i="0">
                <a:solidFill>
                  <a:srgbClr val="CCD8E6"/>
                </a:solidFill>
                <a:latin typeface="Consolas"/>
              </a:rPr>
              <a:t> </a:t>
            </a:r>
            <a:r>
              <a:rPr sz="1550" b="0" i="0">
                <a:solidFill>
                  <a:srgbClr val="CCD8E6"/>
                </a:solidFill>
                <a:latin typeface="Consolas"/>
              </a:rPr>
              <a:t>and</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tainted</a:t>
            </a:r>
            <a:r>
              <a:rPr sz="1550" b="0" i="0">
                <a:solidFill>
                  <a:srgbClr val="CCD8E6"/>
                </a:solidFill>
                <a:latin typeface="Consolas"/>
              </a:rPr>
              <a:t> </a:t>
            </a:r>
            <a:r>
              <a:rPr sz="1550" b="0" i="0">
                <a:solidFill>
                  <a:srgbClr val="CCD8E6"/>
                </a:solidFill>
                <a:latin typeface="Consolas"/>
              </a:rPr>
              <a:t>input</a:t>
            </a:r>
          </a:p>
          <a:p>
            <a:pPr>
              <a:spcAft>
                <a:spcPts val="300"/>
              </a:spcAft>
            </a:pPr>
            <a:r>
              <a:rPr sz="1550" b="0" i="0">
                <a:solidFill>
                  <a:srgbClr val="CCD8E6"/>
                </a:solidFill>
                <a:latin typeface="Consolas"/>
              </a:rPr>
              <a:t>    </a:t>
            </a:r>
            <a:r>
              <a:rPr sz="1550" b="0" i="0">
                <a:solidFill>
                  <a:srgbClr val="CCD8E6"/>
                </a:solidFill>
                <a:latin typeface="Consolas"/>
              </a:rPr>
              <a:t>sink.asExpr()</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aSystemCall().getArgument(0)</a:t>
            </a:r>
            <a:r>
              <a:rPr sz="1550" b="0" i="0">
                <a:solidFill>
                  <a:srgbClr val="CCD8E6"/>
                </a:solidFill>
                <a:latin typeface="Consolas"/>
              </a:rPr>
              <a:t> </a:t>
            </a:r>
            <a:r>
              <a:rPr sz="1550" b="0" i="0">
                <a:solidFill>
                  <a:srgbClr val="CCD8E6"/>
                </a:solidFill>
                <a:latin typeface="Consolas"/>
              </a:rPr>
              <a:t>and</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dangerous</a:t>
            </a:r>
            <a:r>
              <a:rPr sz="1550" b="0" i="0">
                <a:solidFill>
                  <a:srgbClr val="CCD8E6"/>
                </a:solidFill>
                <a:latin typeface="Consolas"/>
              </a:rPr>
              <a:t> </a:t>
            </a:r>
            <a:r>
              <a:rPr sz="1550" b="0" i="0">
                <a:solidFill>
                  <a:srgbClr val="CCD8E6"/>
                </a:solidFill>
                <a:latin typeface="Consolas"/>
              </a:rPr>
              <a:t>op</a:t>
            </a:r>
          </a:p>
          <a:p>
            <a:pPr>
              <a:spcAft>
                <a:spcPts val="300"/>
              </a:spcAft>
            </a:pPr>
            <a:r>
              <a:rPr sz="1550" b="0" i="0">
                <a:solidFill>
                  <a:srgbClr val="CCD8E6"/>
                </a:solidFill>
                <a:latin typeface="Consolas"/>
              </a:rPr>
              <a:t>    </a:t>
            </a:r>
            <a:r>
              <a:rPr sz="1550" b="0" i="0">
                <a:solidFill>
                  <a:srgbClr val="CCD8E6"/>
                </a:solidFill>
                <a:latin typeface="Consolas"/>
              </a:rPr>
              <a:t>TaintTracking::flowPath(source,</a:t>
            </a:r>
            <a:r>
              <a:rPr sz="1550" b="0" i="0">
                <a:solidFill>
                  <a:srgbClr val="CCD8E6"/>
                </a:solidFill>
                <a:latin typeface="Consolas"/>
              </a:rPr>
              <a:t> </a:t>
            </a:r>
            <a:r>
              <a:rPr sz="1550" b="0" i="0">
                <a:solidFill>
                  <a:srgbClr val="CCD8E6"/>
                </a:solidFill>
                <a:latin typeface="Consolas"/>
              </a:rPr>
              <a:t>sink)</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a:t>
            </a:r>
            <a:r>
              <a:rPr sz="1550" b="0" i="0">
                <a:solidFill>
                  <a:srgbClr val="CCD8E6"/>
                </a:solidFill>
                <a:latin typeface="Consolas"/>
              </a:rPr>
              <a:t> </a:t>
            </a:r>
            <a:r>
              <a:rPr sz="1550" b="0" i="0">
                <a:solidFill>
                  <a:srgbClr val="CCD8E6"/>
                </a:solidFill>
                <a:latin typeface="Consolas"/>
              </a:rPr>
              <a:t>real</a:t>
            </a:r>
            <a:r>
              <a:rPr sz="1550" b="0" i="0">
                <a:solidFill>
                  <a:srgbClr val="CCD8E6"/>
                </a:solidFill>
                <a:latin typeface="Consolas"/>
              </a:rPr>
              <a:t> </a:t>
            </a:r>
            <a:r>
              <a:rPr sz="1550" b="0" i="0">
                <a:solidFill>
                  <a:srgbClr val="CCD8E6"/>
                </a:solidFill>
                <a:latin typeface="Consolas"/>
              </a:rPr>
              <a:t>path?</a:t>
            </a:r>
          </a:p>
          <a:p>
            <a:pPr>
              <a:spcAft>
                <a:spcPts val="300"/>
              </a:spcAft>
            </a:pPr>
            <a:r>
              <a:rPr sz="1550" b="0" i="0">
                <a:solidFill>
                  <a:srgbClr val="CCD8E6"/>
                </a:solidFill>
                <a:latin typeface="Consolas"/>
              </a:rPr>
              <a:t>select</a:t>
            </a:r>
            <a:r>
              <a:rPr sz="1550" b="0" i="0">
                <a:solidFill>
                  <a:srgbClr val="CCD8E6"/>
                </a:solidFill>
                <a:latin typeface="Consolas"/>
              </a:rPr>
              <a:t> </a:t>
            </a:r>
            <a:r>
              <a:rPr sz="1550" b="0" i="0">
                <a:solidFill>
                  <a:srgbClr val="CCD8E6"/>
                </a:solidFill>
                <a:latin typeface="Consolas"/>
              </a:rPr>
              <a:t>sink,</a:t>
            </a:r>
            <a:r>
              <a:rPr sz="1550" b="0" i="0">
                <a:solidFill>
                  <a:srgbClr val="CCD8E6"/>
                </a:solidFill>
                <a:latin typeface="Consolas"/>
              </a:rPr>
              <a:t> </a:t>
            </a:r>
            <a:r>
              <a:rPr sz="1550" b="0" i="0">
                <a:solidFill>
                  <a:srgbClr val="CCD8E6"/>
                </a:solidFill>
                <a:latin typeface="Consolas"/>
              </a:rPr>
              <a:t>"argv</a:t>
            </a:r>
            <a:r>
              <a:rPr sz="1550" b="0" i="0">
                <a:solidFill>
                  <a:srgbClr val="CCD8E6"/>
                </a:solidFill>
                <a:latin typeface="Consolas"/>
              </a:rPr>
              <a:t> </a:t>
            </a:r>
            <a:r>
              <a:rPr sz="1550" b="0" i="0">
                <a:solidFill>
                  <a:srgbClr val="CCD8E6"/>
                </a:solidFill>
                <a:latin typeface="Consolas"/>
              </a:rPr>
              <a:t>reaches</a:t>
            </a:r>
            <a:r>
              <a:rPr sz="1550" b="0" i="0">
                <a:solidFill>
                  <a:srgbClr val="CCD8E6"/>
                </a:solidFill>
                <a:latin typeface="Consolas"/>
              </a:rPr>
              <a:t> </a:t>
            </a:r>
            <a:r>
              <a:rPr sz="1550" b="0" i="0">
                <a:solidFill>
                  <a:srgbClr val="CCD8E6"/>
                </a:solidFill>
                <a:latin typeface="Consolas"/>
              </a:rPr>
              <a:t>system()</a:t>
            </a:r>
            <a:r>
              <a:rPr sz="1550" b="0" i="0">
                <a:solidFill>
                  <a:srgbClr val="CCD8E6"/>
                </a:solidFill>
                <a:latin typeface="Consolas"/>
              </a:rPr>
              <a:t> </a:t>
            </a:r>
            <a:r>
              <a:rPr sz="1550" b="0" i="0">
                <a:solidFill>
                  <a:srgbClr val="CCD8E6"/>
                </a:solidFill>
                <a:latin typeface="Consolas"/>
              </a:rPr>
              <a:t>with</a:t>
            </a:r>
            <a:r>
              <a:rPr sz="1550" b="0" i="0">
                <a:solidFill>
                  <a:srgbClr val="CCD8E6"/>
                </a:solidFill>
                <a:latin typeface="Consolas"/>
              </a:rPr>
              <a:t> </a:t>
            </a:r>
            <a:r>
              <a:rPr sz="1550" b="0" i="0">
                <a:solidFill>
                  <a:srgbClr val="CCD8E6"/>
                </a:solidFill>
                <a:latin typeface="Consolas"/>
              </a:rPr>
              <a:t>no</a:t>
            </a:r>
            <a:r>
              <a:rPr sz="1550" b="0" i="0">
                <a:solidFill>
                  <a:srgbClr val="CCD8E6"/>
                </a:solidFill>
                <a:latin typeface="Consolas"/>
              </a:rPr>
              <a:t> </a:t>
            </a:r>
            <a:r>
              <a:rPr sz="1550" b="0" i="0">
                <a:solidFill>
                  <a:srgbClr val="CCD8E6"/>
                </a:solidFill>
                <a:latin typeface="Consolas"/>
              </a:rPr>
              <a:t>sanitizer"</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CWE-78</a:t>
            </a:r>
          </a:p>
        </p:txBody>
      </p:sp>
      <p:sp>
        <p:nvSpPr>
          <p:cNvPr id="10" name="Oval 9"/>
          <p:cNvSpPr/>
          <p:nvPr/>
        </p:nvSpPr>
        <p:spPr>
          <a:xfrm>
            <a:off x="868680" y="1828800"/>
            <a:ext cx="146304" cy="146304"/>
          </a:xfrm>
          <a:prstGeom prst="ellipse">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24712" y="1828800"/>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80744" y="1828800"/>
            <a:ext cx="146304" cy="14630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Semgrep: patterns over syntax</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12</a:t>
            </a:r>
          </a:p>
        </p:txBody>
      </p:sp>
      <p:sp>
        <p:nvSpPr>
          <p:cNvPr id="8" name="Rounded Rectangle 7"/>
          <p:cNvSpPr/>
          <p:nvPr/>
        </p:nvSpPr>
        <p:spPr>
          <a:xfrm>
            <a:off x="640080" y="1371600"/>
            <a:ext cx="10927080" cy="4983480"/>
          </a:xfrm>
          <a:prstGeom prst="roundRect">
            <a:avLst>
              <a:gd name="adj" fmla="val 4500"/>
            </a:avLst>
          </a:prstGeom>
          <a:solidFill>
            <a:srgbClr val="0F1A2E"/>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74320" tIns="566928"/>
          <a:lstStyle/>
          <a:p>
            <a:pPr algn="ctr">
              <a:spcAft>
                <a:spcPts val="300"/>
              </a:spcAft>
            </a:pPr>
            <a:r>
              <a:rPr sz="1550" b="0" i="1">
                <a:solidFill>
                  <a:srgbClr val="6E8BA3"/>
                </a:solidFill>
                <a:latin typeface="Consolas"/>
              </a:rPr>
              <a:t># A rule is YAML; the pattern looks like the target language</a:t>
            </a:r>
          </a:p>
          <a:p>
            <a:pPr>
              <a:spcAft>
                <a:spcPts val="300"/>
              </a:spcAft>
            </a:pPr>
            <a:r>
              <a:rPr sz="1550" b="0" i="0">
                <a:solidFill>
                  <a:srgbClr val="CCD8E6"/>
                </a:solidFill>
                <a:latin typeface="Consolas"/>
              </a:rPr>
              <a:t>rules:</a:t>
            </a:r>
          </a:p>
          <a:p>
            <a:pPr>
              <a:spcAft>
                <a:spcPts val="300"/>
              </a:spcAft>
            </a:pP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id:</a:t>
            </a:r>
            <a:r>
              <a:rPr sz="1550" b="0" i="0">
                <a:solidFill>
                  <a:srgbClr val="CCD8E6"/>
                </a:solidFill>
                <a:latin typeface="Consolas"/>
              </a:rPr>
              <a:t> </a:t>
            </a:r>
            <a:r>
              <a:rPr sz="1550" b="0" i="0">
                <a:solidFill>
                  <a:srgbClr val="CCD8E6"/>
                </a:solidFill>
                <a:latin typeface="Consolas"/>
              </a:rPr>
              <a:t>dangerous-system-call</a:t>
            </a:r>
          </a:p>
          <a:p>
            <a:pPr>
              <a:spcAft>
                <a:spcPts val="300"/>
              </a:spcAft>
            </a:pPr>
            <a:r>
              <a:rPr sz="1550" b="0" i="0">
                <a:solidFill>
                  <a:srgbClr val="CCD8E6"/>
                </a:solidFill>
                <a:latin typeface="Consolas"/>
              </a:rPr>
              <a:t>    </a:t>
            </a:r>
            <a:r>
              <a:rPr sz="1550" b="0" i="0">
                <a:solidFill>
                  <a:srgbClr val="CCD8E6"/>
                </a:solidFill>
                <a:latin typeface="Consolas"/>
              </a:rPr>
              <a:t>patterns:</a:t>
            </a:r>
          </a:p>
          <a:p>
            <a:pPr>
              <a:spcAft>
                <a:spcPts val="300"/>
              </a:spcAft>
            </a:pP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pattern:</a:t>
            </a:r>
            <a:r>
              <a:rPr sz="1550" b="0" i="0">
                <a:solidFill>
                  <a:srgbClr val="CCD8E6"/>
                </a:solidFill>
                <a:latin typeface="Consolas"/>
              </a:rPr>
              <a:t> </a:t>
            </a:r>
            <a:r>
              <a:rPr sz="1550" b="0" i="0">
                <a:solidFill>
                  <a:srgbClr val="CCD8E6"/>
                </a:solidFill>
                <a:latin typeface="Consolas"/>
              </a:rPr>
              <a:t>system($CMD)</a:t>
            </a:r>
          </a:p>
          <a:p>
            <a:pPr>
              <a:spcAft>
                <a:spcPts val="300"/>
              </a:spcAft>
            </a:pPr>
            <a:r>
              <a:rPr sz="1550" b="0" i="0">
                <a:solidFill>
                  <a:srgbClr val="CCD8E6"/>
                </a:solidFill>
                <a:latin typeface="Consolas"/>
              </a:rPr>
              <a:t>    </a:t>
            </a:r>
            <a:r>
              <a:rPr sz="1550" b="0" i="0">
                <a:solidFill>
                  <a:srgbClr val="CCD8E6"/>
                </a:solidFill>
                <a:latin typeface="Consolas"/>
              </a:rPr>
              <a:t>message:</a:t>
            </a:r>
            <a:r>
              <a:rPr sz="1550" b="0" i="0">
                <a:solidFill>
                  <a:srgbClr val="CCD8E6"/>
                </a:solidFill>
                <a:latin typeface="Consolas"/>
              </a:rPr>
              <a:t> </a:t>
            </a:r>
            <a:r>
              <a:rPr sz="1550" b="0" i="0">
                <a:solidFill>
                  <a:srgbClr val="CCD8E6"/>
                </a:solidFill>
                <a:latin typeface="Consolas"/>
              </a:rPr>
              <a:t>"Command</a:t>
            </a:r>
            <a:r>
              <a:rPr sz="1550" b="0" i="0">
                <a:solidFill>
                  <a:srgbClr val="CCD8E6"/>
                </a:solidFill>
                <a:latin typeface="Consolas"/>
              </a:rPr>
              <a:t> </a:t>
            </a:r>
            <a:r>
              <a:rPr sz="1550" b="0" i="0">
                <a:solidFill>
                  <a:srgbClr val="CCD8E6"/>
                </a:solidFill>
                <a:latin typeface="Consolas"/>
              </a:rPr>
              <a:t>injection</a:t>
            </a:r>
            <a:r>
              <a:rPr sz="1550" b="0" i="0">
                <a:solidFill>
                  <a:srgbClr val="CCD8E6"/>
                </a:solidFill>
                <a:latin typeface="Consolas"/>
              </a:rPr>
              <a:t> </a:t>
            </a:r>
            <a:r>
              <a:rPr sz="1550" b="0" i="0">
                <a:solidFill>
                  <a:srgbClr val="CCD8E6"/>
                </a:solidFill>
                <a:latin typeface="Consolas"/>
              </a:rPr>
              <a:t>risk</a:t>
            </a:r>
            <a:r>
              <a:rPr sz="1550" b="0" i="0">
                <a:solidFill>
                  <a:srgbClr val="CCD8E6"/>
                </a:solidFill>
                <a:latin typeface="Consolas"/>
              </a:rPr>
              <a:t> </a:t>
            </a:r>
            <a:r>
              <a:rPr sz="1550" b="0" i="0">
                <a:solidFill>
                  <a:srgbClr val="CCD8E6"/>
                </a:solidFill>
                <a:latin typeface="Consolas"/>
              </a:rPr>
              <a:t>if</a:t>
            </a:r>
            <a:r>
              <a:rPr sz="1550" b="0" i="0">
                <a:solidFill>
                  <a:srgbClr val="CCD8E6"/>
                </a:solidFill>
                <a:latin typeface="Consolas"/>
              </a:rPr>
              <a:t> </a:t>
            </a:r>
            <a:r>
              <a:rPr sz="1550" b="0" i="0">
                <a:solidFill>
                  <a:srgbClr val="CCD8E6"/>
                </a:solidFill>
                <a:latin typeface="Consolas"/>
              </a:rPr>
              <a:t>$CMD</a:t>
            </a:r>
            <a:r>
              <a:rPr sz="1550" b="0" i="0">
                <a:solidFill>
                  <a:srgbClr val="CCD8E6"/>
                </a:solidFill>
                <a:latin typeface="Consolas"/>
              </a:rPr>
              <a:t> </a:t>
            </a:r>
            <a:r>
              <a:rPr sz="1550" b="0" i="0">
                <a:solidFill>
                  <a:srgbClr val="CCD8E6"/>
                </a:solidFill>
                <a:latin typeface="Consolas"/>
              </a:rPr>
              <a:t>is</a:t>
            </a:r>
            <a:r>
              <a:rPr sz="1550" b="0" i="0">
                <a:solidFill>
                  <a:srgbClr val="CCD8E6"/>
                </a:solidFill>
                <a:latin typeface="Consolas"/>
              </a:rPr>
              <a:t> </a:t>
            </a:r>
            <a:r>
              <a:rPr sz="1550" b="0" i="0">
                <a:solidFill>
                  <a:srgbClr val="CCD8E6"/>
                </a:solidFill>
                <a:latin typeface="Consolas"/>
              </a:rPr>
              <a:t>tainted"</a:t>
            </a:r>
          </a:p>
          <a:p>
            <a:pPr>
              <a:spcAft>
                <a:spcPts val="300"/>
              </a:spcAft>
            </a:pPr>
            <a:r>
              <a:rPr sz="1550" b="0" i="0">
                <a:solidFill>
                  <a:srgbClr val="CCD8E6"/>
                </a:solidFill>
                <a:latin typeface="Consolas"/>
              </a:rPr>
              <a:t>    </a:t>
            </a:r>
            <a:r>
              <a:rPr sz="1550" b="0" i="0">
                <a:solidFill>
                  <a:srgbClr val="CCD8E6"/>
                </a:solidFill>
                <a:latin typeface="Consolas"/>
              </a:rPr>
              <a:t>metadata:</a:t>
            </a:r>
          </a:p>
          <a:p>
            <a:pPr>
              <a:spcAft>
                <a:spcPts val="300"/>
              </a:spcAft>
            </a:pPr>
            <a:r>
              <a:rPr sz="1550" b="0" i="0">
                <a:solidFill>
                  <a:srgbClr val="CCD8E6"/>
                </a:solidFill>
                <a:latin typeface="Consolas"/>
              </a:rPr>
              <a:t>      </a:t>
            </a:r>
            <a:r>
              <a:rPr sz="1550" b="0" i="0">
                <a:solidFill>
                  <a:srgbClr val="CCD8E6"/>
                </a:solidFill>
                <a:latin typeface="Consolas"/>
              </a:rPr>
              <a:t>cwe:</a:t>
            </a:r>
            <a:r>
              <a:rPr sz="1550" b="0" i="0">
                <a:solidFill>
                  <a:srgbClr val="CCD8E6"/>
                </a:solidFill>
                <a:latin typeface="Consolas"/>
              </a:rPr>
              <a:t> </a:t>
            </a:r>
            <a:r>
              <a:rPr sz="1550" b="0" i="0">
                <a:solidFill>
                  <a:srgbClr val="CCD8E6"/>
                </a:solidFill>
                <a:latin typeface="Consolas"/>
              </a:rPr>
              <a:t>["CWE-78"]</a:t>
            </a:r>
            <a:r>
              <a:rPr sz="1550" b="0" i="0">
                <a:solidFill>
                  <a:srgbClr val="CCD8E6"/>
                </a:solidFill>
                <a:latin typeface="Consolas"/>
              </a:rPr>
              <a:t>      </a:t>
            </a:r>
            <a:r>
              <a:rPr sz="1550" b="0" i="1">
                <a:solidFill>
                  <a:srgbClr val="6E8BA3"/>
                </a:solidFill>
                <a:latin typeface="Consolas"/>
              </a:rPr>
              <a:t>  # used later to route guided questions</a:t>
            </a:r>
          </a:p>
          <a:p>
            <a:pPr>
              <a:spcAft>
                <a:spcPts val="300"/>
              </a:spcAft>
            </a:pPr>
            <a:r>
              <a:rPr sz="1550" b="0" i="0">
                <a:solidFill>
                  <a:srgbClr val="CCD8E6"/>
                </a:solidFill>
                <a:latin typeface="Consolas"/>
              </a:rPr>
              <a:t> </a:t>
            </a:r>
          </a:p>
          <a:p>
            <a:pPr>
              <a:spcAft>
                <a:spcPts val="300"/>
              </a:spcAft>
            </a:pPr>
            <a:r>
              <a:rPr sz="1550" b="0" i="1">
                <a:solidFill>
                  <a:srgbClr val="6E8BA3"/>
                </a:solidFill>
                <a:latin typeface="Consolas"/>
              </a:rPr>
              <a:t># No build required — reads source files directly. Fast, CI-friendly.</a:t>
            </a:r>
          </a:p>
          <a:p>
            <a:pPr>
              <a:spcAft>
                <a:spcPts val="300"/>
              </a:spcAft>
            </a:pPr>
            <a:r>
              <a:rPr sz="1550" b="0" i="1">
                <a:solidFill>
                  <a:srgbClr val="6E8BA3"/>
                </a:solidFill>
                <a:latin typeface="Consolas"/>
              </a:rPr>
              <a:t># Registry packs: p/security-audit, p/gosec, p/owasp-top-ten</a:t>
            </a:r>
          </a:p>
          <a:p>
            <a:pPr>
              <a:spcAft>
                <a:spcPts val="300"/>
              </a:spcAft>
            </a:pPr>
            <a:r>
              <a:rPr sz="1550" b="0" i="1">
                <a:solidFill>
                  <a:srgbClr val="6E8BA3"/>
                </a:solidFill>
                <a:latin typeface="Consolas"/>
              </a:rPr>
              <a:t># In-repo packs: config/semgrep-custom/&lt;lang&gt;.yaml (offline, --profile full)</a:t>
            </a:r>
          </a:p>
        </p:txBody>
      </p:sp>
      <p:sp>
        <p:nvSpPr>
          <p:cNvPr id="9" name="Oval 8"/>
          <p:cNvSpPr/>
          <p:nvPr/>
        </p:nvSpPr>
        <p:spPr>
          <a:xfrm>
            <a:off x="868680" y="1572768"/>
            <a:ext cx="146304" cy="146304"/>
          </a:xfrm>
          <a:prstGeom prst="ellipse">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4712" y="1572768"/>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80744" y="1572768"/>
            <a:ext cx="146304" cy="14630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How pattern matching works</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13</a:t>
            </a:r>
          </a:p>
        </p:txBody>
      </p:sp>
      <p:sp>
        <p:nvSpPr>
          <p:cNvPr id="8" name="TextBox 7"/>
          <p:cNvSpPr txBox="1"/>
          <p:nvPr/>
        </p:nvSpPr>
        <p:spPr>
          <a:xfrm>
            <a:off x="640080" y="1133856"/>
            <a:ext cx="10972800" cy="365760"/>
          </a:xfrm>
          <a:prstGeom prst="rect">
            <a:avLst/>
          </a:prstGeom>
          <a:noFill/>
        </p:spPr>
        <p:txBody>
          <a:bodyPr wrap="square" anchor="t" lIns="0" rIns="0" tIns="0" bIns="0">
            <a:spAutoFit/>
          </a:bodyPr>
          <a:lstStyle/>
          <a:p>
            <a:pPr algn="l">
              <a:spcAft>
                <a:spcPts val="200"/>
              </a:spcAft>
            </a:pPr>
            <a:r>
              <a:rPr sz="1400" b="0" i="1">
                <a:solidFill>
                  <a:srgbClr val="909CAB"/>
                </a:solidFill>
                <a:latin typeface="Segoe UI"/>
              </a:rPr>
              <a:t>Matching is on the AST, not raw text — whitespace, comments and formatting don't matter.</a:t>
            </a:r>
          </a:p>
        </p:txBody>
      </p:sp>
      <p:graphicFrame>
        <p:nvGraphicFramePr>
          <p:cNvPr id="9" name="Table 8"/>
          <p:cNvGraphicFramePr>
            <a:graphicFrameLocks noGrp="1"/>
          </p:cNvGraphicFramePr>
          <p:nvPr/>
        </p:nvGraphicFramePr>
        <p:xfrm>
          <a:off x="640080" y="1627632"/>
          <a:ext cx="10927080" cy="2688336"/>
        </p:xfrm>
        <a:graphic>
          <a:graphicData uri="http://schemas.openxmlformats.org/drawingml/2006/table">
            <a:tbl>
              <a:tblPr>
                <a:tableStyleId>{5C22544A-7EE6-4342-B048-85BDC9FD1C3A}</a:tableStyleId>
              </a:tblPr>
              <a:tblGrid>
                <a:gridCol w="2834640"/>
                <a:gridCol w="4937760"/>
                <a:gridCol w="3154680"/>
              </a:tblGrid>
              <a:tr h="384048">
                <a:tc>
                  <a:txBody>
                    <a:bodyPr wrap="square"/>
                    <a:lstStyle/>
                    <a:p>
                      <a:pPr algn="l"/>
                      <a:r>
                        <a:rPr sz="1300" b="1" i="0">
                          <a:solidFill>
                            <a:srgbClr val="FFFFFF"/>
                          </a:solidFill>
                          <a:latin typeface="Segoe UI"/>
                        </a:rPr>
                        <a:t>Construct</a:t>
                      </a:r>
                    </a:p>
                  </a:txBody>
                  <a:tcPr marL="73152" marR="54864" marT="27432" marB="27432" anchor="ctr">
                    <a:solidFill>
                      <a:srgbClr val="263552"/>
                    </a:solidFill>
                  </a:tcPr>
                </a:tc>
                <a:tc>
                  <a:txBody>
                    <a:bodyPr wrap="square"/>
                    <a:lstStyle/>
                    <a:p>
                      <a:pPr algn="l"/>
                      <a:r>
                        <a:rPr sz="1300" b="1" i="0">
                          <a:solidFill>
                            <a:srgbClr val="FFFFFF"/>
                          </a:solidFill>
                          <a:latin typeface="Segoe UI"/>
                        </a:rPr>
                        <a:t>Means</a:t>
                      </a:r>
                    </a:p>
                  </a:txBody>
                  <a:tcPr marL="73152" marR="54864" marT="27432" marB="27432" anchor="ctr">
                    <a:solidFill>
                      <a:srgbClr val="263552"/>
                    </a:solidFill>
                  </a:tcPr>
                </a:tc>
                <a:tc>
                  <a:txBody>
                    <a:bodyPr wrap="square"/>
                    <a:lstStyle/>
                    <a:p>
                      <a:pPr algn="l"/>
                      <a:r>
                        <a:rPr sz="1300" b="1" i="0">
                          <a:solidFill>
                            <a:srgbClr val="FFFFFF"/>
                          </a:solidFill>
                          <a:latin typeface="Segoe UI"/>
                        </a:rPr>
                        <a:t>Example</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$X, $CMD</a:t>
                      </a:r>
                    </a:p>
                  </a:txBody>
                  <a:tcPr marL="73152" marR="54864" marT="27432" marB="27432" anchor="ctr">
                    <a:solidFill>
                      <a:srgbClr val="18233D"/>
                    </a:solidFill>
                  </a:tcPr>
                </a:tc>
                <a:tc>
                  <a:txBody>
                    <a:bodyPr wrap="square"/>
                    <a:lstStyle/>
                    <a:p>
                      <a:pPr algn="l"/>
                      <a:r>
                        <a:rPr sz="1250" b="0" i="0">
                          <a:solidFill>
                            <a:srgbClr val="D4DEEA"/>
                          </a:solidFill>
                          <a:latin typeface="Segoe UI"/>
                        </a:rPr>
                        <a:t>Metavariable — matches any expression</a:t>
                      </a:r>
                    </a:p>
                  </a:txBody>
                  <a:tcPr marL="73152" marR="54864" marT="27432" marB="27432" anchor="ctr">
                    <a:solidFill>
                      <a:srgbClr val="18233D"/>
                    </a:solidFill>
                  </a:tcPr>
                </a:tc>
                <a:tc>
                  <a:txBody>
                    <a:bodyPr wrap="square"/>
                    <a:lstStyle/>
                    <a:p>
                      <a:pPr algn="l"/>
                      <a:r>
                        <a:rPr sz="1250" b="0" i="0">
                          <a:solidFill>
                            <a:srgbClr val="D4DEEA"/>
                          </a:solidFill>
                          <a:latin typeface="Segoe UI"/>
                        </a:rPr>
                        <a:t>system($CMD)</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a:t>
                      </a:r>
                    </a:p>
                  </a:txBody>
                  <a:tcPr marL="73152" marR="54864" marT="27432" marB="27432" anchor="ctr">
                    <a:solidFill>
                      <a:srgbClr val="131D33"/>
                    </a:solidFill>
                  </a:tcPr>
                </a:tc>
                <a:tc>
                  <a:txBody>
                    <a:bodyPr wrap="square"/>
                    <a:lstStyle/>
                    <a:p>
                      <a:pPr algn="l"/>
                      <a:r>
                        <a:rPr sz="1250" b="0" i="0">
                          <a:solidFill>
                            <a:srgbClr val="D4DEEA"/>
                          </a:solidFill>
                          <a:latin typeface="Segoe UI"/>
                        </a:rPr>
                        <a:t>Ellipsis — matches any sequence (args, stmts)</a:t>
                      </a:r>
                    </a:p>
                  </a:txBody>
                  <a:tcPr marL="73152" marR="54864" marT="27432" marB="27432" anchor="ctr">
                    <a:solidFill>
                      <a:srgbClr val="131D33"/>
                    </a:solidFill>
                  </a:tcPr>
                </a:tc>
                <a:tc>
                  <a:txBody>
                    <a:bodyPr wrap="square"/>
                    <a:lstStyle/>
                    <a:p>
                      <a:pPr algn="l"/>
                      <a:r>
                        <a:rPr sz="1250" b="0" i="0">
                          <a:solidFill>
                            <a:srgbClr val="D4DEEA"/>
                          </a:solidFill>
                          <a:latin typeface="Segoe UI"/>
                        </a:rPr>
                        <a:t>foo(..., $X)</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pattern</a:t>
                      </a:r>
                    </a:p>
                  </a:txBody>
                  <a:tcPr marL="73152" marR="54864" marT="27432" marB="27432" anchor="ctr">
                    <a:solidFill>
                      <a:srgbClr val="18233D"/>
                    </a:solidFill>
                  </a:tcPr>
                </a:tc>
                <a:tc>
                  <a:txBody>
                    <a:bodyPr wrap="square"/>
                    <a:lstStyle/>
                    <a:p>
                      <a:pPr algn="l"/>
                      <a:r>
                        <a:rPr sz="1250" b="0" i="0">
                          <a:solidFill>
                            <a:srgbClr val="D4DEEA"/>
                          </a:solidFill>
                          <a:latin typeface="Segoe UI"/>
                        </a:rPr>
                        <a:t>Must match</a:t>
                      </a:r>
                    </a:p>
                  </a:txBody>
                  <a:tcPr marL="73152" marR="54864" marT="27432" marB="27432" anchor="ctr">
                    <a:solidFill>
                      <a:srgbClr val="18233D"/>
                    </a:solidFill>
                  </a:tcPr>
                </a:tc>
                <a:tc>
                  <a:txBody>
                    <a:bodyPr wrap="square"/>
                    <a:lstStyle/>
                    <a:p>
                      <a:pPr algn="l"/>
                      <a:r>
                        <a:rPr sz="1250" b="0" i="0">
                          <a:solidFill>
                            <a:srgbClr val="D4DEEA"/>
                          </a:solidFill>
                          <a:latin typeface="Segoe UI"/>
                        </a:rPr>
                        <a:t>exec($C)</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pattern-not</a:t>
                      </a:r>
                    </a:p>
                  </a:txBody>
                  <a:tcPr marL="73152" marR="54864" marT="27432" marB="27432" anchor="ctr">
                    <a:solidFill>
                      <a:srgbClr val="131D33"/>
                    </a:solidFill>
                  </a:tcPr>
                </a:tc>
                <a:tc>
                  <a:txBody>
                    <a:bodyPr wrap="square"/>
                    <a:lstStyle/>
                    <a:p>
                      <a:pPr algn="l"/>
                      <a:r>
                        <a:rPr sz="1250" b="0" i="0">
                          <a:solidFill>
                            <a:srgbClr val="D4DEEA"/>
                          </a:solidFill>
                          <a:latin typeface="Segoe UI"/>
                        </a:rPr>
                        <a:t>Excludes a safe form (cuts false positives)</a:t>
                      </a:r>
                    </a:p>
                  </a:txBody>
                  <a:tcPr marL="73152" marR="54864" marT="27432" marB="27432" anchor="ctr">
                    <a:solidFill>
                      <a:srgbClr val="131D33"/>
                    </a:solidFill>
                  </a:tcPr>
                </a:tc>
                <a:tc>
                  <a:txBody>
                    <a:bodyPr wrap="square"/>
                    <a:lstStyle/>
                    <a:p>
                      <a:pPr algn="l"/>
                      <a:r>
                        <a:rPr sz="1250" b="0" i="0">
                          <a:solidFill>
                            <a:srgbClr val="D4DEEA"/>
                          </a:solidFill>
                          <a:latin typeface="Segoe UI"/>
                        </a:rPr>
                        <a:t>exec("static")</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pattern-either</a:t>
                      </a:r>
                    </a:p>
                  </a:txBody>
                  <a:tcPr marL="73152" marR="54864" marT="27432" marB="27432" anchor="ctr">
                    <a:solidFill>
                      <a:srgbClr val="18233D"/>
                    </a:solidFill>
                  </a:tcPr>
                </a:tc>
                <a:tc>
                  <a:txBody>
                    <a:bodyPr wrap="square"/>
                    <a:lstStyle/>
                    <a:p>
                      <a:pPr algn="l"/>
                      <a:r>
                        <a:rPr sz="1250" b="0" i="0">
                          <a:solidFill>
                            <a:srgbClr val="D4DEEA"/>
                          </a:solidFill>
                          <a:latin typeface="Segoe UI"/>
                        </a:rPr>
                        <a:t>Any of several patterns (OR)</a:t>
                      </a:r>
                    </a:p>
                  </a:txBody>
                  <a:tcPr marL="73152" marR="54864" marT="27432" marB="27432" anchor="ctr">
                    <a:solidFill>
                      <a:srgbClr val="18233D"/>
                    </a:solidFill>
                  </a:tcPr>
                </a:tc>
                <a:tc>
                  <a:txBody>
                    <a:bodyPr wrap="square"/>
                    <a:lstStyle/>
                    <a:p>
                      <a:pPr algn="l"/>
                      <a:r>
                        <a:rPr sz="1250" b="0" i="0">
                          <a:solidFill>
                            <a:srgbClr val="D4DEEA"/>
                          </a:solidFill>
                          <a:latin typeface="Segoe UI"/>
                        </a:rPr>
                        <a:t>MD5(...) | SHA1(...)</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metavariable-pattern</a:t>
                      </a:r>
                    </a:p>
                  </a:txBody>
                  <a:tcPr marL="73152" marR="54864" marT="27432" marB="27432" anchor="ctr">
                    <a:solidFill>
                      <a:srgbClr val="131D33"/>
                    </a:solidFill>
                  </a:tcPr>
                </a:tc>
                <a:tc>
                  <a:txBody>
                    <a:bodyPr wrap="square"/>
                    <a:lstStyle/>
                    <a:p>
                      <a:pPr algn="l"/>
                      <a:r>
                        <a:rPr sz="1250" b="0" i="0">
                          <a:solidFill>
                            <a:srgbClr val="D4DEEA"/>
                          </a:solidFill>
                          <a:latin typeface="Segoe UI"/>
                        </a:rPr>
                        <a:t>Constrain what a $VAR may be</a:t>
                      </a:r>
                    </a:p>
                  </a:txBody>
                  <a:tcPr marL="73152" marR="54864" marT="27432" marB="27432" anchor="ctr">
                    <a:solidFill>
                      <a:srgbClr val="131D33"/>
                    </a:solidFill>
                  </a:tcPr>
                </a:tc>
                <a:tc>
                  <a:txBody>
                    <a:bodyPr wrap="square"/>
                    <a:lstStyle/>
                    <a:p>
                      <a:pPr algn="l"/>
                      <a:r>
                        <a:rPr sz="1250" b="0" i="0">
                          <a:solidFill>
                            <a:srgbClr val="D4DEEA"/>
                          </a:solidFill>
                          <a:latin typeface="Segoe UI"/>
                        </a:rPr>
                        <a:t>$URL ~ user input</a:t>
                      </a:r>
                    </a:p>
                  </a:txBody>
                  <a:tcPr marL="73152" marR="54864" marT="27432" marB="27432" anchor="ctr">
                    <a:solidFill>
                      <a:srgbClr val="131D33"/>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SARIF: the common currency</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14</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Static Analysis Results Interchange Format — JSON.</a:t>
            </a:r>
          </a:p>
          <a:p>
            <a:pPr>
              <a:spcAft>
                <a:spcPts val="900"/>
              </a:spcAft>
            </a:pPr>
            <a:r>
              <a:rPr sz="2100" b="1" i="0">
                <a:solidFill>
                  <a:srgbClr val="F97316"/>
                </a:solidFill>
                <a:latin typeface="Segoe UI"/>
              </a:rPr>
              <a:t>▸  </a:t>
            </a:r>
            <a:r>
              <a:rPr sz="2100" b="1" i="0">
                <a:solidFill>
                  <a:srgbClr val="D4DEEA"/>
                </a:solidFill>
                <a:latin typeface="Segoe UI"/>
              </a:rPr>
              <a:t>Each finding: ruleId, file+line, severity, message, dataflow, CWE tags.</a:t>
            </a:r>
          </a:p>
          <a:p>
            <a:pPr>
              <a:spcAft>
                <a:spcPts val="900"/>
              </a:spcAft>
            </a:pPr>
            <a:r>
              <a:rPr sz="2100" b="1" i="0">
                <a:solidFill>
                  <a:srgbClr val="F97316"/>
                </a:solidFill>
                <a:latin typeface="Segoe UI"/>
              </a:rPr>
              <a:t>▸  </a:t>
            </a:r>
            <a:r>
              <a:rPr sz="2100" b="1" i="0">
                <a:solidFill>
                  <a:srgbClr val="D4DEEA"/>
                </a:solidFill>
                <a:latin typeface="Segoe UI"/>
              </a:rPr>
              <a:t>VulnHunterX discovers ALL *.sarif files and parses them to one [Finding] list.</a:t>
            </a:r>
          </a:p>
          <a:p>
            <a:pPr>
              <a:spcAft>
                <a:spcPts val="900"/>
              </a:spcAft>
            </a:pPr>
            <a:r>
              <a:rPr sz="2100" b="1" i="0">
                <a:solidFill>
                  <a:srgbClr val="F97316"/>
                </a:solidFill>
                <a:latin typeface="Segoe UI"/>
              </a:rPr>
              <a:t>▸  </a:t>
            </a:r>
            <a:r>
              <a:rPr sz="2100" b="1" i="0">
                <a:solidFill>
                  <a:srgbClr val="34D399"/>
                </a:solidFill>
                <a:latin typeface="Segoe UI"/>
              </a:rPr>
              <a:t>Tool-agnostic downstream → enables cross-tool reconciliation.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SARIF anatomy — the fields the parser reads</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15</a:t>
            </a:r>
          </a:p>
        </p:txBody>
      </p:sp>
      <p:sp>
        <p:nvSpPr>
          <p:cNvPr id="8" name="TextBox 7"/>
          <p:cNvSpPr txBox="1"/>
          <p:nvPr/>
        </p:nvSpPr>
        <p:spPr>
          <a:xfrm>
            <a:off x="640080" y="1152144"/>
            <a:ext cx="10972800" cy="457200"/>
          </a:xfrm>
          <a:prstGeom prst="rect">
            <a:avLst/>
          </a:prstGeom>
          <a:noFill/>
        </p:spPr>
        <p:txBody>
          <a:bodyPr wrap="square" anchor="t" lIns="0" rIns="0" tIns="0" bIns="0">
            <a:spAutoFit/>
          </a:bodyPr>
          <a:lstStyle/>
          <a:p>
            <a:pPr algn="l">
              <a:spcAft>
                <a:spcPts val="200"/>
              </a:spcAft>
            </a:pPr>
            <a:r>
              <a:rPr sz="1500" b="0" i="1">
                <a:solidFill>
                  <a:srgbClr val="909CAB"/>
                </a:solidFill>
                <a:latin typeface="Segoe UI"/>
              </a:rPr>
              <a:t>SarifParser discovers every *.sarif in the output dir and flattens results into one [Finding] list.</a:t>
            </a:r>
          </a:p>
        </p:txBody>
      </p:sp>
      <p:sp>
        <p:nvSpPr>
          <p:cNvPr id="9" name="Rounded Rectangle 8"/>
          <p:cNvSpPr/>
          <p:nvPr/>
        </p:nvSpPr>
        <p:spPr>
          <a:xfrm>
            <a:off x="640080" y="1627632"/>
            <a:ext cx="10927080" cy="4727448"/>
          </a:xfrm>
          <a:prstGeom prst="roundRect">
            <a:avLst>
              <a:gd name="adj" fmla="val 4500"/>
            </a:avLst>
          </a:prstGeom>
          <a:solidFill>
            <a:srgbClr val="0F1A2E"/>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74320" tIns="566928"/>
          <a:lstStyle/>
          <a:p>
            <a:pPr algn="ctr">
              <a:spcAft>
                <a:spcPts val="300"/>
              </a:spcAft>
            </a:pP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"runs":</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t>
            </a:r>
          </a:p>
          <a:p>
            <a:pPr>
              <a:spcAft>
                <a:spcPts val="300"/>
              </a:spcAft>
            </a:pPr>
            <a:r>
              <a:rPr sz="1550" b="0" i="0">
                <a:solidFill>
                  <a:srgbClr val="CCD8E6"/>
                </a:solidFill>
                <a:latin typeface="Consolas"/>
              </a:rPr>
              <a:t>  </a:t>
            </a:r>
            <a:r>
              <a:rPr sz="1550" b="0" i="0">
                <a:solidFill>
                  <a:srgbClr val="CCD8E6"/>
                </a:solidFill>
                <a:latin typeface="Consolas"/>
              </a:rPr>
              <a:t>"tool":</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"driver":</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"name":</a:t>
            </a:r>
            <a:r>
              <a:rPr sz="1550" b="0" i="0">
                <a:solidFill>
                  <a:srgbClr val="CCD8E6"/>
                </a:solidFill>
                <a:latin typeface="Consolas"/>
              </a:rPr>
              <a:t> </a:t>
            </a:r>
            <a:r>
              <a:rPr sz="1550" b="0" i="0">
                <a:solidFill>
                  <a:srgbClr val="CCD8E6"/>
                </a:solidFill>
                <a:latin typeface="Consolas"/>
              </a:rPr>
              <a:t>"CodeQL"</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t>
            </a:r>
          </a:p>
          <a:p>
            <a:pPr>
              <a:spcAft>
                <a:spcPts val="300"/>
              </a:spcAft>
            </a:pPr>
            <a:r>
              <a:rPr sz="1550" b="0" i="0">
                <a:solidFill>
                  <a:srgbClr val="CCD8E6"/>
                </a:solidFill>
                <a:latin typeface="Consolas"/>
              </a:rPr>
              <a:t>  </a:t>
            </a:r>
            <a:r>
              <a:rPr sz="1550" b="0" i="0">
                <a:solidFill>
                  <a:srgbClr val="CCD8E6"/>
                </a:solidFill>
                <a:latin typeface="Consolas"/>
              </a:rPr>
              <a:t>"results":</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t>
            </a:r>
          </a:p>
          <a:p>
            <a:pPr>
              <a:spcAft>
                <a:spcPts val="300"/>
              </a:spcAft>
            </a:pPr>
            <a:r>
              <a:rPr sz="1550" b="0" i="0">
                <a:solidFill>
                  <a:srgbClr val="CCD8E6"/>
                </a:solidFill>
                <a:latin typeface="Consolas"/>
              </a:rPr>
              <a:t>      </a:t>
            </a:r>
            <a:r>
              <a:rPr sz="1550" b="0" i="0">
                <a:solidFill>
                  <a:srgbClr val="CCD8E6"/>
                </a:solidFill>
                <a:latin typeface="Consolas"/>
              </a:rPr>
              <a:t>"ruleId":</a:t>
            </a:r>
            <a:r>
              <a:rPr sz="1550" b="0" i="0">
                <a:solidFill>
                  <a:srgbClr val="CCD8E6"/>
                </a:solidFill>
                <a:latin typeface="Consolas"/>
              </a:rPr>
              <a:t> </a:t>
            </a:r>
            <a:r>
              <a:rPr sz="1550" b="0" i="0">
                <a:solidFill>
                  <a:srgbClr val="CCD8E6"/>
                </a:solidFill>
                <a:latin typeface="Consolas"/>
              </a:rPr>
              <a:t>"cpp/use-after-free",</a:t>
            </a:r>
            <a:r>
              <a:rPr sz="1550" b="0" i="0">
                <a:solidFill>
                  <a:srgbClr val="CCD8E6"/>
                </a:solidFill>
                <a:latin typeface="Consolas"/>
              </a:rPr>
              <a:t>        </a:t>
            </a:r>
            <a:r>
              <a:rPr sz="1550" b="0" i="1">
                <a:solidFill>
                  <a:srgbClr val="6E8BA3"/>
                </a:solidFill>
                <a:latin typeface="Consolas"/>
              </a:rPr>
              <a:t>  # → routes guided questions</a:t>
            </a:r>
          </a:p>
          <a:p>
            <a:pPr>
              <a:spcAft>
                <a:spcPts val="300"/>
              </a:spcAft>
            </a:pPr>
            <a:r>
              <a:rPr sz="1550" b="0" i="0">
                <a:solidFill>
                  <a:srgbClr val="CCD8E6"/>
                </a:solidFill>
                <a:latin typeface="Consolas"/>
              </a:rPr>
              <a:t>      </a:t>
            </a:r>
            <a:r>
              <a:rPr sz="1550" b="0" i="0">
                <a:solidFill>
                  <a:srgbClr val="CCD8E6"/>
                </a:solidFill>
                <a:latin typeface="Consolas"/>
              </a:rPr>
              <a:t>"level":</a:t>
            </a:r>
            <a:r>
              <a:rPr sz="1550" b="0" i="0">
                <a:solidFill>
                  <a:srgbClr val="CCD8E6"/>
                </a:solidFill>
                <a:latin typeface="Consolas"/>
              </a:rPr>
              <a:t> </a:t>
            </a:r>
            <a:r>
              <a:rPr sz="1550" b="0" i="0">
                <a:solidFill>
                  <a:srgbClr val="CCD8E6"/>
                </a:solidFill>
                <a:latin typeface="Consolas"/>
              </a:rPr>
              <a:t>"error",</a:t>
            </a:r>
            <a:r>
              <a:rPr sz="1550" b="0" i="0">
                <a:solidFill>
                  <a:srgbClr val="CCD8E6"/>
                </a:solidFill>
                <a:latin typeface="Consolas"/>
              </a:rPr>
              <a:t>                       </a:t>
            </a:r>
            <a:r>
              <a:rPr sz="1550" b="0" i="1">
                <a:solidFill>
                  <a:srgbClr val="6E8BA3"/>
                </a:solidFill>
                <a:latin typeface="Consolas"/>
              </a:rPr>
              <a:t>  # severity</a:t>
            </a:r>
          </a:p>
          <a:p>
            <a:pPr>
              <a:spcAft>
                <a:spcPts val="300"/>
              </a:spcAft>
            </a:pPr>
            <a:r>
              <a:rPr sz="1550" b="0" i="0">
                <a:solidFill>
                  <a:srgbClr val="CCD8E6"/>
                </a:solidFill>
                <a:latin typeface="Consolas"/>
              </a:rPr>
              <a:t>      </a:t>
            </a:r>
            <a:r>
              <a:rPr sz="1550" b="0" i="0">
                <a:solidFill>
                  <a:srgbClr val="CCD8E6"/>
                </a:solidFill>
                <a:latin typeface="Consolas"/>
              </a:rPr>
              <a:t>"message":</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"text":</a:t>
            </a:r>
            <a:r>
              <a:rPr sz="1550" b="0" i="0">
                <a:solidFill>
                  <a:srgbClr val="CCD8E6"/>
                </a:solidFill>
                <a:latin typeface="Consolas"/>
              </a:rPr>
              <a:t> </a:t>
            </a:r>
            <a:r>
              <a:rPr sz="1550" b="0" i="0">
                <a:solidFill>
                  <a:srgbClr val="CCD8E6"/>
                </a:solidFill>
                <a:latin typeface="Consolas"/>
              </a:rPr>
              <a:t>"freed</a:t>
            </a:r>
            <a:r>
              <a:rPr sz="1550" b="0" i="0">
                <a:solidFill>
                  <a:srgbClr val="CCD8E6"/>
                </a:solidFill>
                <a:latin typeface="Consolas"/>
              </a:rPr>
              <a:t> </a:t>
            </a:r>
            <a:r>
              <a:rPr sz="1550" b="0" i="0">
                <a:solidFill>
                  <a:srgbClr val="CCD8E6"/>
                </a:solidFill>
                <a:latin typeface="Consolas"/>
              </a:rPr>
              <a:t>pointer</a:t>
            </a:r>
            <a:r>
              <a:rPr sz="1550" b="0" i="0">
                <a:solidFill>
                  <a:srgbClr val="CCD8E6"/>
                </a:solidFill>
                <a:latin typeface="Consolas"/>
              </a:rPr>
              <a:t> </a:t>
            </a:r>
            <a:r>
              <a:rPr sz="1550" b="0" i="0">
                <a:solidFill>
                  <a:srgbClr val="CCD8E6"/>
                </a:solidFill>
                <a:latin typeface="Consolas"/>
              </a:rPr>
              <a:t>reused"</a:t>
            </a:r>
            <a:r>
              <a:rPr sz="1550" b="0" i="0">
                <a:solidFill>
                  <a:srgbClr val="CCD8E6"/>
                </a:solidFill>
                <a:latin typeface="Consolas"/>
              </a:rPr>
              <a:t> </a:t>
            </a:r>
            <a:r>
              <a:rPr sz="1550" b="0" i="0">
                <a:solidFill>
                  <a:srgbClr val="CCD8E6"/>
                </a:solidFill>
                <a:latin typeface="Consolas"/>
              </a:rPr>
              <a:t>},</a:t>
            </a:r>
          </a:p>
          <a:p>
            <a:pPr>
              <a:spcAft>
                <a:spcPts val="300"/>
              </a:spcAft>
            </a:pPr>
            <a:r>
              <a:rPr sz="1550" b="0" i="0">
                <a:solidFill>
                  <a:srgbClr val="CCD8E6"/>
                </a:solidFill>
                <a:latin typeface="Consolas"/>
              </a:rPr>
              <a:t>      </a:t>
            </a:r>
            <a:r>
              <a:rPr sz="1550" b="0" i="0">
                <a:solidFill>
                  <a:srgbClr val="CCD8E6"/>
                </a:solidFill>
                <a:latin typeface="Consolas"/>
              </a:rPr>
              <a:t>"locations":</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"uri":</a:t>
            </a:r>
            <a:r>
              <a:rPr sz="1550" b="0" i="0">
                <a:solidFill>
                  <a:srgbClr val="CCD8E6"/>
                </a:solidFill>
                <a:latin typeface="Consolas"/>
              </a:rPr>
              <a:t> </a:t>
            </a:r>
            <a:r>
              <a:rPr sz="1550" b="0" i="0">
                <a:solidFill>
                  <a:srgbClr val="CCD8E6"/>
                </a:solidFill>
                <a:latin typeface="Consolas"/>
              </a:rPr>
              <a:t>"imgRead.c",</a:t>
            </a:r>
            <a:r>
              <a:rPr sz="1550" b="0" i="1">
                <a:solidFill>
                  <a:srgbClr val="6E8BA3"/>
                </a:solidFill>
                <a:latin typeface="Consolas"/>
              </a:rPr>
              <a:t>  # file</a:t>
            </a:r>
          </a:p>
          <a:p>
            <a:pPr>
              <a:spcAft>
                <a:spcPts val="300"/>
              </a:spcAft>
            </a:pPr>
            <a:r>
              <a:rPr sz="1550" b="0" i="0">
                <a:solidFill>
                  <a:srgbClr val="CCD8E6"/>
                </a:solidFill>
                <a:latin typeface="Consolas"/>
              </a:rPr>
              <a:t>                         </a:t>
            </a:r>
            <a:r>
              <a:rPr sz="1550" b="0" i="0">
                <a:solidFill>
                  <a:srgbClr val="CCD8E6"/>
                </a:solidFill>
                <a:latin typeface="Consolas"/>
              </a:rPr>
              <a:t>"startLine":</a:t>
            </a:r>
            <a:r>
              <a:rPr sz="1550" b="0" i="0">
                <a:solidFill>
                  <a:srgbClr val="CCD8E6"/>
                </a:solidFill>
                <a:latin typeface="Consolas"/>
              </a:rPr>
              <a:t> </a:t>
            </a:r>
            <a:r>
              <a:rPr sz="1550" b="0" i="0">
                <a:solidFill>
                  <a:srgbClr val="CCD8E6"/>
                </a:solidFill>
                <a:latin typeface="Consolas"/>
              </a:rPr>
              <a:t>67</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1">
                <a:solidFill>
                  <a:srgbClr val="6E8BA3"/>
                </a:solidFill>
                <a:latin typeface="Consolas"/>
              </a:rPr>
              <a:t>  # line</a:t>
            </a:r>
          </a:p>
          <a:p>
            <a:pPr>
              <a:spcAft>
                <a:spcPts val="300"/>
              </a:spcAft>
            </a:pPr>
            <a:r>
              <a:rPr sz="1550" b="0" i="0">
                <a:solidFill>
                  <a:srgbClr val="CCD8E6"/>
                </a:solidFill>
                <a:latin typeface="Consolas"/>
              </a:rPr>
              <a:t>      </a:t>
            </a:r>
            <a:r>
              <a:rPr sz="1550" b="0" i="0">
                <a:solidFill>
                  <a:srgbClr val="CCD8E6"/>
                </a:solidFill>
                <a:latin typeface="Consolas"/>
              </a:rPr>
              <a:t>"codeFlows":</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1">
                <a:solidFill>
                  <a:srgbClr val="6E8BA3"/>
                </a:solidFill>
                <a:latin typeface="Consolas"/>
              </a:rPr>
              <a:t>  # the data-flow path</a:t>
            </a:r>
          </a:p>
          <a:p>
            <a:pPr>
              <a:spcAft>
                <a:spcPts val="300"/>
              </a:spcAft>
            </a:pPr>
            <a:r>
              <a:rPr sz="1550" b="0" i="0">
                <a:solidFill>
                  <a:srgbClr val="CCD8E6"/>
                </a:solidFill>
                <a:latin typeface="Consolas"/>
              </a:rPr>
              <a:t>      </a:t>
            </a:r>
            <a:r>
              <a:rPr sz="1550" b="0" i="0">
                <a:solidFill>
                  <a:srgbClr val="CCD8E6"/>
                </a:solidFill>
                <a:latin typeface="Consolas"/>
              </a:rPr>
              <a:t>"properties":</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"cwe":</a:t>
            </a:r>
            <a:r>
              <a:rPr sz="1550" b="0" i="0">
                <a:solidFill>
                  <a:srgbClr val="CCD8E6"/>
                </a:solidFill>
                <a:latin typeface="Consolas"/>
              </a:rPr>
              <a:t> </a:t>
            </a:r>
            <a:r>
              <a:rPr sz="1550" b="0" i="0">
                <a:solidFill>
                  <a:srgbClr val="CCD8E6"/>
                </a:solidFill>
                <a:latin typeface="Consolas"/>
              </a:rPr>
              <a:t>["CWE-416"]</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1">
                <a:solidFill>
                  <a:srgbClr val="6E8BA3"/>
                </a:solidFill>
                <a:latin typeface="Consolas"/>
              </a:rPr>
              <a:t>  # → CWE fallback routing</a:t>
            </a:r>
          </a:p>
          <a:p>
            <a:pPr>
              <a:spcAft>
                <a:spcPts val="300"/>
              </a:spcAft>
            </a:pP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t>
            </a:r>
          </a:p>
        </p:txBody>
      </p:sp>
      <p:sp>
        <p:nvSpPr>
          <p:cNvPr id="10" name="Oval 9"/>
          <p:cNvSpPr/>
          <p:nvPr/>
        </p:nvSpPr>
        <p:spPr>
          <a:xfrm>
            <a:off x="868680" y="1828800"/>
            <a:ext cx="146304" cy="146304"/>
          </a:xfrm>
          <a:prstGeom prst="ellipse">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24712" y="1828800"/>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380744" y="1828800"/>
            <a:ext cx="146304" cy="14630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Strengths &amp; weaknesses, side by side</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16</a:t>
            </a:r>
          </a:p>
        </p:txBody>
      </p:sp>
      <p:graphicFrame>
        <p:nvGraphicFramePr>
          <p:cNvPr id="8" name="Table 7"/>
          <p:cNvGraphicFramePr>
            <a:graphicFrameLocks noGrp="1"/>
          </p:cNvGraphicFramePr>
          <p:nvPr/>
        </p:nvGraphicFramePr>
        <p:xfrm>
          <a:off x="640080" y="1417320"/>
          <a:ext cx="10927080" cy="2304288"/>
        </p:xfrm>
        <a:graphic>
          <a:graphicData uri="http://schemas.openxmlformats.org/drawingml/2006/table">
            <a:tbl>
              <a:tblPr>
                <a:tableStyleId>{5C22544A-7EE6-4342-B048-85BDC9FD1C3A}</a:tableStyleId>
              </a:tblPr>
              <a:tblGrid>
                <a:gridCol w="1554480"/>
                <a:gridCol w="4663440"/>
                <a:gridCol w="4709160"/>
              </a:tblGrid>
              <a:tr h="384048">
                <a:tc>
                  <a:txBody>
                    <a:bodyPr wrap="square"/>
                    <a:lstStyle/>
                    <a:p>
                      <a:pPr algn="l"/>
                      <a:r>
                        <a:rPr sz="1300" b="1" i="0">
                          <a:solidFill>
                            <a:srgbClr val="FFFFFF"/>
                          </a:solidFill>
                          <a:latin typeface="Segoe UI"/>
                        </a:rPr>
                        <a:t/>
                      </a:r>
                    </a:p>
                  </a:txBody>
                  <a:tcPr marL="73152" marR="54864" marT="27432" marB="27432" anchor="ctr">
                    <a:solidFill>
                      <a:srgbClr val="263552"/>
                    </a:solidFill>
                  </a:tcPr>
                </a:tc>
                <a:tc>
                  <a:txBody>
                    <a:bodyPr wrap="square"/>
                    <a:lstStyle/>
                    <a:p>
                      <a:pPr algn="l"/>
                      <a:r>
                        <a:rPr sz="1300" b="1" i="0">
                          <a:solidFill>
                            <a:srgbClr val="FFFFFF"/>
                          </a:solidFill>
                          <a:latin typeface="Segoe UI"/>
                        </a:rPr>
                        <a:t>CodeQL</a:t>
                      </a:r>
                    </a:p>
                  </a:txBody>
                  <a:tcPr marL="73152" marR="54864" marT="27432" marB="27432" anchor="ctr">
                    <a:solidFill>
                      <a:srgbClr val="263552"/>
                    </a:solidFill>
                  </a:tcPr>
                </a:tc>
                <a:tc>
                  <a:txBody>
                    <a:bodyPr wrap="square"/>
                    <a:lstStyle/>
                    <a:p>
                      <a:pPr algn="l"/>
                      <a:r>
                        <a:rPr sz="1300" b="1" i="0">
                          <a:solidFill>
                            <a:srgbClr val="FFFFFF"/>
                          </a:solidFill>
                          <a:latin typeface="Segoe UI"/>
                        </a:rPr>
                        <a:t>Semgrep</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Setup</a:t>
                      </a:r>
                    </a:p>
                  </a:txBody>
                  <a:tcPr marL="73152" marR="54864" marT="27432" marB="27432" anchor="ctr">
                    <a:solidFill>
                      <a:srgbClr val="18233D"/>
                    </a:solidFill>
                  </a:tcPr>
                </a:tc>
                <a:tc>
                  <a:txBody>
                    <a:bodyPr wrap="square"/>
                    <a:lstStyle/>
                    <a:p>
                      <a:pPr algn="l"/>
                      <a:r>
                        <a:rPr sz="1250" b="0" i="0">
                          <a:solidFill>
                            <a:srgbClr val="D4DEEA"/>
                          </a:solidFill>
                          <a:latin typeface="Segoe UI"/>
                        </a:rPr>
                        <a:t>Needs build (compiled langs)</a:t>
                      </a:r>
                    </a:p>
                  </a:txBody>
                  <a:tcPr marL="73152" marR="54864" marT="27432" marB="27432" anchor="ctr">
                    <a:solidFill>
                      <a:srgbClr val="18233D"/>
                    </a:solidFill>
                  </a:tcPr>
                </a:tc>
                <a:tc>
                  <a:txBody>
                    <a:bodyPr wrap="square"/>
                    <a:lstStyle/>
                    <a:p>
                      <a:pPr algn="l"/>
                      <a:r>
                        <a:rPr sz="1250" b="0" i="0">
                          <a:solidFill>
                            <a:srgbClr val="D4DEEA"/>
                          </a:solidFill>
                          <a:latin typeface="Segoe UI"/>
                        </a:rPr>
                        <a:t>None — reads source</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Depth</a:t>
                      </a:r>
                    </a:p>
                  </a:txBody>
                  <a:tcPr marL="73152" marR="54864" marT="27432" marB="27432" anchor="ctr">
                    <a:solidFill>
                      <a:srgbClr val="131D33"/>
                    </a:solidFill>
                  </a:tcPr>
                </a:tc>
                <a:tc>
                  <a:txBody>
                    <a:bodyPr wrap="square"/>
                    <a:lstStyle/>
                    <a:p>
                      <a:pPr algn="l"/>
                      <a:r>
                        <a:rPr sz="1250" b="0" i="0">
                          <a:solidFill>
                            <a:srgbClr val="D4DEEA"/>
                          </a:solidFill>
                          <a:latin typeface="Segoe UI"/>
                        </a:rPr>
                        <a:t>Cross-function taint, CFG/DFG</a:t>
                      </a:r>
                    </a:p>
                  </a:txBody>
                  <a:tcPr marL="73152" marR="54864" marT="27432" marB="27432" anchor="ctr">
                    <a:solidFill>
                      <a:srgbClr val="131D33"/>
                    </a:solidFill>
                  </a:tcPr>
                </a:tc>
                <a:tc>
                  <a:txBody>
                    <a:bodyPr wrap="square"/>
                    <a:lstStyle/>
                    <a:p>
                      <a:pPr algn="l"/>
                      <a:r>
                        <a:rPr sz="1250" b="0" i="0">
                          <a:solidFill>
                            <a:srgbClr val="D4DEEA"/>
                          </a:solidFill>
                          <a:latin typeface="Segoe UI"/>
                        </a:rPr>
                        <a:t>File-local pattern / AST</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Speed</a:t>
                      </a:r>
                    </a:p>
                  </a:txBody>
                  <a:tcPr marL="73152" marR="54864" marT="27432" marB="27432" anchor="ctr">
                    <a:solidFill>
                      <a:srgbClr val="18233D"/>
                    </a:solidFill>
                  </a:tcPr>
                </a:tc>
                <a:tc>
                  <a:txBody>
                    <a:bodyPr wrap="square"/>
                    <a:lstStyle/>
                    <a:p>
                      <a:pPr algn="l"/>
                      <a:r>
                        <a:rPr sz="1250" b="0" i="0">
                          <a:solidFill>
                            <a:srgbClr val="D4DEEA"/>
                          </a:solidFill>
                          <a:latin typeface="Segoe UI"/>
                        </a:rPr>
                        <a:t>Slower (build + DB)</a:t>
                      </a:r>
                    </a:p>
                  </a:txBody>
                  <a:tcPr marL="73152" marR="54864" marT="27432" marB="27432" anchor="ctr">
                    <a:solidFill>
                      <a:srgbClr val="18233D"/>
                    </a:solidFill>
                  </a:tcPr>
                </a:tc>
                <a:tc>
                  <a:txBody>
                    <a:bodyPr wrap="square"/>
                    <a:lstStyle/>
                    <a:p>
                      <a:pPr algn="l"/>
                      <a:r>
                        <a:rPr sz="1250" b="0" i="0">
                          <a:solidFill>
                            <a:srgbClr val="D4DEEA"/>
                          </a:solidFill>
                          <a:latin typeface="Segoe UI"/>
                        </a:rPr>
                        <a:t>Fast</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Best at</a:t>
                      </a:r>
                    </a:p>
                  </a:txBody>
                  <a:tcPr marL="73152" marR="54864" marT="27432" marB="27432" anchor="ctr">
                    <a:solidFill>
                      <a:srgbClr val="131D33"/>
                    </a:solidFill>
                  </a:tcPr>
                </a:tc>
                <a:tc>
                  <a:txBody>
                    <a:bodyPr wrap="square"/>
                    <a:lstStyle/>
                    <a:p>
                      <a:pPr algn="l"/>
                      <a:r>
                        <a:rPr sz="1250" b="0" i="0">
                          <a:solidFill>
                            <a:srgbClr val="D4DEEA"/>
                          </a:solidFill>
                          <a:latin typeface="Segoe UI"/>
                        </a:rPr>
                        <a:t>Injection, memory-safety flow</a:t>
                      </a:r>
                    </a:p>
                  </a:txBody>
                  <a:tcPr marL="73152" marR="54864" marT="27432" marB="27432" anchor="ctr">
                    <a:solidFill>
                      <a:srgbClr val="131D33"/>
                    </a:solidFill>
                  </a:tcPr>
                </a:tc>
                <a:tc>
                  <a:txBody>
                    <a:bodyPr wrap="square"/>
                    <a:lstStyle/>
                    <a:p>
                      <a:pPr algn="l"/>
                      <a:r>
                        <a:rPr sz="1250" b="0" i="0">
                          <a:solidFill>
                            <a:srgbClr val="D4DEEA"/>
                          </a:solidFill>
                          <a:latin typeface="Segoe UI"/>
                        </a:rPr>
                        <a:t>Config, secrets, syntactic bugs</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Offline</a:t>
                      </a:r>
                    </a:p>
                  </a:txBody>
                  <a:tcPr marL="73152" marR="54864" marT="27432" marB="27432" anchor="ctr">
                    <a:solidFill>
                      <a:srgbClr val="18233D"/>
                    </a:solidFill>
                  </a:tcPr>
                </a:tc>
                <a:tc>
                  <a:txBody>
                    <a:bodyPr wrap="square"/>
                    <a:lstStyle/>
                    <a:p>
                      <a:pPr algn="l"/>
                      <a:r>
                        <a:rPr sz="1250" b="0" i="0">
                          <a:solidFill>
                            <a:srgbClr val="D4DEEA"/>
                          </a:solidFill>
                          <a:latin typeface="Segoe UI"/>
                        </a:rPr>
                        <a:t>Yes (queries are local)</a:t>
                      </a:r>
                    </a:p>
                  </a:txBody>
                  <a:tcPr marL="73152" marR="54864" marT="27432" marB="27432" anchor="ctr">
                    <a:solidFill>
                      <a:srgbClr val="18233D"/>
                    </a:solidFill>
                  </a:tcPr>
                </a:tc>
                <a:tc>
                  <a:txBody>
                    <a:bodyPr wrap="square"/>
                    <a:lstStyle/>
                    <a:p>
                      <a:pPr algn="l"/>
                      <a:r>
                        <a:rPr sz="1250" b="0" i="0">
                          <a:solidFill>
                            <a:srgbClr val="D4DEEA"/>
                          </a:solidFill>
                          <a:latin typeface="Segoe UI"/>
                        </a:rPr>
                        <a:t>Custom yes; p/ packs need network</a:t>
                      </a:r>
                    </a:p>
                  </a:txBody>
                  <a:tcPr marL="73152" marR="54864" marT="27432" marB="27432" anchor="ctr">
                    <a:solidFill>
                      <a:srgbClr val="18233D"/>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0" y="960120"/>
            <a:ext cx="5074920" cy="4480560"/>
          </a:xfrm>
          <a:prstGeom prst="rect">
            <a:avLst/>
          </a:prstGeom>
          <a:noFill/>
        </p:spPr>
        <p:txBody>
          <a:bodyPr wrap="none" anchor="ctr" lIns="0" rIns="0" tIns="0" bIns="0">
            <a:spAutoFit/>
          </a:bodyPr>
          <a:lstStyle/>
          <a:p>
            <a:pPr algn="r">
              <a:spcAft>
                <a:spcPts val="200"/>
              </a:spcAft>
            </a:pPr>
            <a:r>
              <a:rPr sz="25000" b="1" i="0">
                <a:solidFill>
                  <a:srgbClr val="1C2C4A"/>
                </a:solidFill>
                <a:latin typeface="Segoe UI"/>
              </a:rPr>
              <a:t>03</a:t>
            </a:r>
          </a:p>
        </p:txBody>
      </p:sp>
      <p:sp>
        <p:nvSpPr>
          <p:cNvPr id="4" name="Rectangle 3"/>
          <p:cNvSpPr/>
          <p:nvPr/>
        </p:nvSpPr>
        <p:spPr>
          <a:xfrm>
            <a:off x="868680" y="2670048"/>
            <a:ext cx="50292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2450592"/>
            <a:ext cx="8229600" cy="502920"/>
          </a:xfrm>
          <a:prstGeom prst="rect">
            <a:avLst/>
          </a:prstGeom>
          <a:noFill/>
        </p:spPr>
        <p:txBody>
          <a:bodyPr wrap="square" anchor="t" lIns="0" rIns="0" tIns="0" bIns="0">
            <a:spAutoFit/>
          </a:bodyPr>
          <a:lstStyle/>
          <a:p>
            <a:pPr algn="l">
              <a:spcAft>
                <a:spcPts val="200"/>
              </a:spcAft>
            </a:pPr>
            <a:r>
              <a:rPr sz="1800" b="1" i="0">
                <a:solidFill>
                  <a:srgbClr val="F59E0B"/>
                </a:solidFill>
                <a:latin typeface="Segoe UI"/>
              </a:rPr>
              <a:t>PART 3</a:t>
            </a:r>
          </a:p>
        </p:txBody>
      </p:sp>
      <p:sp>
        <p:nvSpPr>
          <p:cNvPr id="6" name="TextBox 5"/>
          <p:cNvSpPr txBox="1"/>
          <p:nvPr/>
        </p:nvSpPr>
        <p:spPr>
          <a:xfrm>
            <a:off x="822960" y="2944368"/>
            <a:ext cx="10058400" cy="1645920"/>
          </a:xfrm>
          <a:prstGeom prst="rect">
            <a:avLst/>
          </a:prstGeom>
          <a:noFill/>
        </p:spPr>
        <p:txBody>
          <a:bodyPr wrap="square" anchor="t" lIns="0" rIns="0" tIns="0" bIns="0">
            <a:spAutoFit/>
          </a:bodyPr>
          <a:lstStyle/>
          <a:p>
            <a:pPr algn="l">
              <a:spcAft>
                <a:spcPts val="200"/>
              </a:spcAft>
            </a:pPr>
            <a:r>
              <a:rPr sz="4000" b="1" i="0">
                <a:solidFill>
                  <a:srgbClr val="FFFFFF"/>
                </a:solidFill>
                <a:latin typeface="Segoe UI"/>
              </a:rPr>
              <a:t>AST, control flow &amp; data flow</a:t>
            </a:r>
          </a:p>
        </p:txBody>
      </p:sp>
      <p:sp>
        <p:nvSpPr>
          <p:cNvPr id="7" name="Rectangle 6"/>
          <p:cNvSpPr/>
          <p:nvPr/>
        </p:nvSpPr>
        <p:spPr>
          <a:xfrm>
            <a:off x="868680" y="4343400"/>
            <a:ext cx="292608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16152"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63624" y="6126480"/>
            <a:ext cx="457200" cy="146304"/>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167128"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514600"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62072"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09544"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What is an AST?</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18</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Abstract Syntax Tree — the parse tree of code as structured nodes.</a:t>
            </a:r>
          </a:p>
          <a:p>
            <a:pPr lvl="1">
              <a:spcAft>
                <a:spcPts val="900"/>
              </a:spcAft>
            </a:pPr>
            <a:r>
              <a:rPr sz="1800" b="1" i="0">
                <a:solidFill>
                  <a:srgbClr val="909CAB"/>
                </a:solidFill>
                <a:latin typeface="Segoe UI"/>
              </a:rPr>
              <a:t>–  </a:t>
            </a:r>
            <a:r>
              <a:rPr sz="1800" b="0" i="0">
                <a:solidFill>
                  <a:srgbClr val="9DB0C6"/>
                </a:solidFill>
                <a:latin typeface="Segoe UI"/>
              </a:rPr>
              <a:t>x = a + b * 2  →  assignment ▸ (+) ▸ (*)  … structure, not text.</a:t>
            </a:r>
          </a:p>
          <a:p>
            <a:pPr>
              <a:spcAft>
                <a:spcPts val="900"/>
              </a:spcAft>
            </a:pPr>
            <a:r>
              <a:rPr sz="2100" b="1" i="0">
                <a:solidFill>
                  <a:srgbClr val="F97316"/>
                </a:solidFill>
                <a:latin typeface="Segoe UI"/>
              </a:rPr>
              <a:t>▸  </a:t>
            </a:r>
            <a:r>
              <a:rPr sz="2100" b="1" i="0">
                <a:solidFill>
                  <a:srgbClr val="D4DEEA"/>
                </a:solidFill>
                <a:latin typeface="Segoe UI"/>
              </a:rPr>
              <a:t>Scanners match on the tree, not characters.</a:t>
            </a:r>
          </a:p>
          <a:p>
            <a:pPr lvl="1">
              <a:spcAft>
                <a:spcPts val="900"/>
              </a:spcAft>
            </a:pPr>
            <a:r>
              <a:rPr sz="1800" b="1" i="0">
                <a:solidFill>
                  <a:srgbClr val="909CAB"/>
                </a:solidFill>
                <a:latin typeface="Segoe UI"/>
              </a:rPr>
              <a:t>–  </a:t>
            </a:r>
            <a:r>
              <a:rPr sz="1800" b="0" i="0">
                <a:solidFill>
                  <a:srgbClr val="9DB0C6"/>
                </a:solidFill>
                <a:latin typeface="Segoe UI"/>
              </a:rPr>
              <a:t>Robust to whitespace, formatting, and variable names.</a:t>
            </a:r>
          </a:p>
          <a:p>
            <a:pPr lvl="1">
              <a:spcAft>
                <a:spcPts val="900"/>
              </a:spcAft>
            </a:pPr>
            <a:r>
              <a:rPr sz="1800" b="1" i="0">
                <a:solidFill>
                  <a:srgbClr val="909CAB"/>
                </a:solidFill>
                <a:latin typeface="Segoe UI"/>
              </a:rPr>
              <a:t>–  </a:t>
            </a:r>
            <a:r>
              <a:rPr sz="1800" b="0" i="0">
                <a:solidFill>
                  <a:srgbClr val="9DB0C6"/>
                </a:solidFill>
                <a:latin typeface="Segoe UI"/>
              </a:rPr>
              <a:t>system(cmd) ≡ system( cmd ) ≡ system(/*x*/cmd)  — same tree.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An AST, drawn</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19</a:t>
            </a:r>
          </a:p>
        </p:txBody>
      </p:sp>
      <p:sp>
        <p:nvSpPr>
          <p:cNvPr id="8" name="Rounded Rectangle 7"/>
          <p:cNvSpPr/>
          <p:nvPr/>
        </p:nvSpPr>
        <p:spPr>
          <a:xfrm>
            <a:off x="3406140" y="1737360"/>
            <a:ext cx="1051560" cy="566928"/>
          </a:xfrm>
          <a:prstGeom prst="roundRect">
            <a:avLst>
              <a:gd name="adj" fmla="val 4500"/>
            </a:avLst>
          </a:prstGeom>
          <a:solidFill>
            <a:srgbClr val="18233D"/>
          </a:solidFill>
          <a:ln w="20320">
            <a:solidFill>
              <a:srgbClr val="8184F7"/>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500" b="1" i="0">
                <a:solidFill>
                  <a:srgbClr val="F2F6FB"/>
                </a:solidFill>
                <a:latin typeface="Segoe UI"/>
              </a:rPr>
              <a:t>=  (assign)</a:t>
            </a:r>
          </a:p>
        </p:txBody>
      </p:sp>
      <p:sp>
        <p:nvSpPr>
          <p:cNvPr id="9" name="Rounded Rectangle 8"/>
          <p:cNvSpPr/>
          <p:nvPr/>
        </p:nvSpPr>
        <p:spPr>
          <a:xfrm>
            <a:off x="1577340" y="2834639"/>
            <a:ext cx="1051560" cy="566928"/>
          </a:xfrm>
          <a:prstGeom prst="roundRect">
            <a:avLst>
              <a:gd name="adj" fmla="val 4500"/>
            </a:avLst>
          </a:prstGeom>
          <a:solidFill>
            <a:srgbClr val="18233D"/>
          </a:solidFill>
          <a:ln w="20320">
            <a:solidFill>
              <a:srgbClr val="22D3E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500" b="1" i="0">
                <a:solidFill>
                  <a:srgbClr val="F2F6FB"/>
                </a:solidFill>
                <a:latin typeface="Segoe UI"/>
              </a:rPr>
              <a:t>x</a:t>
            </a:r>
          </a:p>
        </p:txBody>
      </p:sp>
      <p:sp>
        <p:nvSpPr>
          <p:cNvPr id="10" name="Rounded Rectangle 9"/>
          <p:cNvSpPr/>
          <p:nvPr/>
        </p:nvSpPr>
        <p:spPr>
          <a:xfrm>
            <a:off x="5234940" y="2834639"/>
            <a:ext cx="1051560" cy="566928"/>
          </a:xfrm>
          <a:prstGeom prst="roundRect">
            <a:avLst>
              <a:gd name="adj" fmla="val 4500"/>
            </a:avLst>
          </a:prstGeom>
          <a:solidFill>
            <a:srgbClr val="18233D"/>
          </a:solidFill>
          <a:ln w="20320">
            <a:solidFill>
              <a:srgbClr val="8184F7"/>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500" b="1" i="0">
                <a:solidFill>
                  <a:srgbClr val="F2F6FB"/>
                </a:solidFill>
                <a:latin typeface="Segoe UI"/>
              </a:rPr>
              <a:t>+</a:t>
            </a:r>
          </a:p>
        </p:txBody>
      </p:sp>
      <p:sp>
        <p:nvSpPr>
          <p:cNvPr id="11" name="Rounded Rectangle 10"/>
          <p:cNvSpPr/>
          <p:nvPr/>
        </p:nvSpPr>
        <p:spPr>
          <a:xfrm>
            <a:off x="3954780" y="3931920"/>
            <a:ext cx="1051560" cy="566928"/>
          </a:xfrm>
          <a:prstGeom prst="roundRect">
            <a:avLst>
              <a:gd name="adj" fmla="val 4500"/>
            </a:avLst>
          </a:prstGeom>
          <a:solidFill>
            <a:srgbClr val="18233D"/>
          </a:solidFill>
          <a:ln w="20320">
            <a:solidFill>
              <a:srgbClr val="22D3E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500" b="1" i="0">
                <a:solidFill>
                  <a:srgbClr val="F2F6FB"/>
                </a:solidFill>
                <a:latin typeface="Segoe UI"/>
              </a:rPr>
              <a:t>a</a:t>
            </a:r>
          </a:p>
        </p:txBody>
      </p:sp>
      <p:sp>
        <p:nvSpPr>
          <p:cNvPr id="12" name="Rounded Rectangle 11"/>
          <p:cNvSpPr/>
          <p:nvPr/>
        </p:nvSpPr>
        <p:spPr>
          <a:xfrm>
            <a:off x="6515100" y="3931920"/>
            <a:ext cx="1051560" cy="566928"/>
          </a:xfrm>
          <a:prstGeom prst="roundRect">
            <a:avLst>
              <a:gd name="adj" fmla="val 4500"/>
            </a:avLst>
          </a:prstGeom>
          <a:solidFill>
            <a:srgbClr val="18233D"/>
          </a:solidFill>
          <a:ln w="20320">
            <a:solidFill>
              <a:srgbClr val="8184F7"/>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500" b="1" i="0">
                <a:solidFill>
                  <a:srgbClr val="F2F6FB"/>
                </a:solidFill>
                <a:latin typeface="Segoe UI"/>
              </a:rPr>
              <a:t>*</a:t>
            </a:r>
          </a:p>
        </p:txBody>
      </p:sp>
      <p:sp>
        <p:nvSpPr>
          <p:cNvPr id="13" name="Rounded Rectangle 12"/>
          <p:cNvSpPr/>
          <p:nvPr/>
        </p:nvSpPr>
        <p:spPr>
          <a:xfrm>
            <a:off x="5600700" y="5029200"/>
            <a:ext cx="1051560" cy="566928"/>
          </a:xfrm>
          <a:prstGeom prst="roundRect">
            <a:avLst>
              <a:gd name="adj" fmla="val 4500"/>
            </a:avLst>
          </a:prstGeom>
          <a:solidFill>
            <a:srgbClr val="18233D"/>
          </a:solidFill>
          <a:ln w="20320">
            <a:solidFill>
              <a:srgbClr val="22D3E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500" b="1" i="0">
                <a:solidFill>
                  <a:srgbClr val="F2F6FB"/>
                </a:solidFill>
                <a:latin typeface="Segoe UI"/>
              </a:rPr>
              <a:t>b</a:t>
            </a:r>
          </a:p>
        </p:txBody>
      </p:sp>
      <p:sp>
        <p:nvSpPr>
          <p:cNvPr id="14" name="Rounded Rectangle 13"/>
          <p:cNvSpPr/>
          <p:nvPr/>
        </p:nvSpPr>
        <p:spPr>
          <a:xfrm>
            <a:off x="7429499" y="5029200"/>
            <a:ext cx="1051560" cy="566928"/>
          </a:xfrm>
          <a:prstGeom prst="roundRect">
            <a:avLst>
              <a:gd name="adj" fmla="val 4500"/>
            </a:avLst>
          </a:prstGeom>
          <a:solidFill>
            <a:srgbClr val="18233D"/>
          </a:solidFill>
          <a:ln w="20320">
            <a:solidFill>
              <a:srgbClr val="22D3E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500" b="1" i="0">
                <a:solidFill>
                  <a:srgbClr val="F2F6FB"/>
                </a:solidFill>
                <a:latin typeface="Segoe UI"/>
              </a:rPr>
              <a:t>2</a:t>
            </a:r>
          </a:p>
        </p:txBody>
      </p:sp>
      <p:cxnSp>
        <p:nvCxnSpPr>
          <p:cNvPr id="15" name="Connector 14"/>
          <p:cNvCxnSpPr/>
          <p:nvPr/>
        </p:nvCxnSpPr>
        <p:spPr>
          <a:xfrm flipH="1">
            <a:off x="2103120" y="2304288"/>
            <a:ext cx="1828800" cy="530351"/>
          </a:xfrm>
          <a:prstGeom prst="line">
            <a:avLst/>
          </a:prstGeom>
          <a:ln w="25400">
            <a:solidFill>
              <a:srgbClr val="7C8BA5"/>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931920" y="2304288"/>
            <a:ext cx="1828800" cy="530351"/>
          </a:xfrm>
          <a:prstGeom prst="line">
            <a:avLst/>
          </a:prstGeom>
          <a:ln w="25400">
            <a:solidFill>
              <a:srgbClr val="7C8BA5"/>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480560" y="3401567"/>
            <a:ext cx="1280160" cy="530353"/>
          </a:xfrm>
          <a:prstGeom prst="line">
            <a:avLst/>
          </a:prstGeom>
          <a:ln w="25400">
            <a:solidFill>
              <a:srgbClr val="7C8BA5"/>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760720" y="3401567"/>
            <a:ext cx="1280160" cy="530353"/>
          </a:xfrm>
          <a:prstGeom prst="line">
            <a:avLst/>
          </a:prstGeom>
          <a:ln w="25400">
            <a:solidFill>
              <a:srgbClr val="7C8BA5"/>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6126480" y="4498848"/>
            <a:ext cx="914400" cy="530352"/>
          </a:xfrm>
          <a:prstGeom prst="line">
            <a:avLst/>
          </a:prstGeom>
          <a:ln w="25400">
            <a:solidFill>
              <a:srgbClr val="7C8BA5"/>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040880" y="4498848"/>
            <a:ext cx="914399" cy="530352"/>
          </a:xfrm>
          <a:prstGeom prst="line">
            <a:avLst/>
          </a:prstGeom>
          <a:ln w="25400">
            <a:solidFill>
              <a:srgbClr val="7C8BA5"/>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778240" y="2103120"/>
            <a:ext cx="3108960" cy="2743200"/>
          </a:xfrm>
          <a:prstGeom prst="rect">
            <a:avLst/>
          </a:prstGeom>
          <a:noFill/>
        </p:spPr>
        <p:txBody>
          <a:bodyPr wrap="square" anchor="t" lIns="0" rIns="0" tIns="0" bIns="0">
            <a:spAutoFit/>
          </a:bodyPr>
          <a:lstStyle/>
          <a:p>
            <a:pPr algn="l">
              <a:spcAft>
                <a:spcPts val="200"/>
              </a:spcAft>
            </a:pPr>
            <a:r>
              <a:rPr sz="1400" b="1" i="0">
                <a:solidFill>
                  <a:srgbClr val="909CAB"/>
                </a:solidFill>
                <a:latin typeface="Segoe UI"/>
              </a:rPr>
              <a:t>Source:</a:t>
            </a:r>
          </a:p>
          <a:p>
            <a:pPr algn="l">
              <a:spcAft>
                <a:spcPts val="200"/>
              </a:spcAft>
            </a:pPr>
            <a:r>
              <a:rPr sz="1600" b="1" i="0">
                <a:solidFill>
                  <a:srgbClr val="F97316"/>
                </a:solidFill>
                <a:latin typeface="Segoe UI"/>
              </a:rPr>
              <a:t>x = a + b * 2</a:t>
            </a:r>
          </a:p>
          <a:p>
            <a:pPr algn="l">
              <a:spcAft>
                <a:spcPts val="200"/>
              </a:spcAft>
            </a:pPr>
            <a:r>
              <a:rPr sz="800" b="0" i="0">
                <a:solidFill>
                  <a:srgbClr val="D4DEEA"/>
                </a:solidFill>
                <a:latin typeface="Segoe UI"/>
              </a:rPr>
              <a:t/>
            </a:r>
          </a:p>
          <a:p>
            <a:pPr algn="l">
              <a:spcAft>
                <a:spcPts val="200"/>
              </a:spcAft>
            </a:pPr>
            <a:r>
              <a:rPr sz="1250" b="0" i="0">
                <a:solidFill>
                  <a:srgbClr val="9DB0C6"/>
                </a:solidFill>
                <a:latin typeface="Segoe UI"/>
              </a:rPr>
              <a:t>Precedence is baked</a:t>
            </a:r>
          </a:p>
          <a:p>
            <a:pPr algn="l">
              <a:spcAft>
                <a:spcPts val="200"/>
              </a:spcAft>
            </a:pPr>
            <a:r>
              <a:rPr sz="1250" b="0" i="0">
                <a:solidFill>
                  <a:srgbClr val="9DB0C6"/>
                </a:solidFill>
                <a:latin typeface="Segoe UI"/>
              </a:rPr>
              <a:t>into the tree: * binds</a:t>
            </a:r>
          </a:p>
          <a:p>
            <a:pPr algn="l">
              <a:spcAft>
                <a:spcPts val="200"/>
              </a:spcAft>
            </a:pPr>
            <a:r>
              <a:rPr sz="1250" b="0" i="0">
                <a:solidFill>
                  <a:srgbClr val="9DB0C6"/>
                </a:solidFill>
                <a:latin typeface="Segoe UI"/>
              </a:rPr>
              <a:t>tighter than +, so it</a:t>
            </a:r>
          </a:p>
          <a:p>
            <a:pPr algn="l">
              <a:spcAft>
                <a:spcPts val="200"/>
              </a:spcAft>
            </a:pPr>
            <a:r>
              <a:rPr sz="1250" b="0" i="0">
                <a:solidFill>
                  <a:srgbClr val="9DB0C6"/>
                </a:solidFill>
                <a:latin typeface="Segoe UI"/>
              </a:rPr>
              <a:t>sits deeper. Tools match</a:t>
            </a:r>
          </a:p>
          <a:p>
            <a:pPr algn="l">
              <a:spcAft>
                <a:spcPts val="200"/>
              </a:spcAft>
            </a:pPr>
            <a:r>
              <a:rPr sz="1250" b="0" i="0">
                <a:solidFill>
                  <a:srgbClr val="9DB0C6"/>
                </a:solidFill>
                <a:latin typeface="Segoe UI"/>
              </a:rPr>
              <a:t>on this shape, not text.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From AST to control flow &amp; data flow</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20</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Control-Flow Graph (CFG): the order statements CAN execute.</a:t>
            </a:r>
          </a:p>
          <a:p>
            <a:pPr>
              <a:spcAft>
                <a:spcPts val="900"/>
              </a:spcAft>
            </a:pPr>
            <a:r>
              <a:rPr sz="2100" b="1" i="0">
                <a:solidFill>
                  <a:srgbClr val="F97316"/>
                </a:solidFill>
                <a:latin typeface="Segoe UI"/>
              </a:rPr>
              <a:t>▸  </a:t>
            </a:r>
            <a:r>
              <a:rPr sz="2100" b="1" i="0">
                <a:solidFill>
                  <a:srgbClr val="D4DEEA"/>
                </a:solidFill>
                <a:latin typeface="Segoe UI"/>
              </a:rPr>
              <a:t>Data-Flow Graph / taint: how values move between variables.</a:t>
            </a:r>
          </a:p>
          <a:p>
            <a:pPr>
              <a:spcAft>
                <a:spcPts val="900"/>
              </a:spcAft>
            </a:pPr>
            <a:r>
              <a:rPr sz="2100" b="1" i="0">
                <a:solidFill>
                  <a:srgbClr val="F97316"/>
                </a:solidFill>
                <a:latin typeface="Segoe UI"/>
              </a:rPr>
              <a:t>▸  </a:t>
            </a:r>
            <a:r>
              <a:rPr sz="2100" b="1" i="0">
                <a:solidFill>
                  <a:srgbClr val="F2F6FB"/>
                </a:solidFill>
                <a:latin typeface="Segoe UI"/>
              </a:rPr>
              <a:t>Security questions are flow questions:</a:t>
            </a:r>
          </a:p>
          <a:p>
            <a:pPr lvl="1">
              <a:spcAft>
                <a:spcPts val="900"/>
              </a:spcAft>
            </a:pPr>
            <a:r>
              <a:rPr sz="1800" b="1" i="0">
                <a:solidFill>
                  <a:srgbClr val="909CAB"/>
                </a:solidFill>
                <a:latin typeface="Segoe UI"/>
              </a:rPr>
              <a:t>–  </a:t>
            </a:r>
            <a:r>
              <a:rPr sz="1800" b="1" i="0">
                <a:solidFill>
                  <a:srgbClr val="8184F7"/>
                </a:solidFill>
                <a:latin typeface="Segoe UI"/>
              </a:rPr>
              <a:t>SOURCE (untrusted input)  →  SANITIZER  →  SINK (dangerous op)</a:t>
            </a:r>
          </a:p>
          <a:p>
            <a:pPr>
              <a:spcAft>
                <a:spcPts val="900"/>
              </a:spcAft>
            </a:pPr>
            <a:r>
              <a:rPr sz="2100" b="1" i="0">
                <a:solidFill>
                  <a:srgbClr val="F97316"/>
                </a:solidFill>
                <a:latin typeface="Segoe UI"/>
              </a:rPr>
              <a:t>▸  </a:t>
            </a:r>
            <a:r>
              <a:rPr sz="2100" b="1" i="0">
                <a:solidFill>
                  <a:srgbClr val="FB7185"/>
                </a:solidFill>
                <a:latin typeface="Segoe UI"/>
              </a:rPr>
              <a:t>A vuln = source → sink flow with NO adequate sanitizer.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Control flow: which paths can execute</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21</a:t>
            </a:r>
          </a:p>
        </p:txBody>
      </p:sp>
      <p:sp>
        <p:nvSpPr>
          <p:cNvPr id="8" name="Rounded Rectangle 7"/>
          <p:cNvSpPr/>
          <p:nvPr/>
        </p:nvSpPr>
        <p:spPr>
          <a:xfrm>
            <a:off x="4846320" y="1463040"/>
            <a:ext cx="2651760" cy="77724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846320" y="1463040"/>
            <a:ext cx="2651760" cy="109728"/>
          </a:xfrm>
          <a:prstGeom prst="roundRect">
            <a:avLst>
              <a:gd name="adj" fmla="val 4500"/>
            </a:avLst>
          </a:prstGeom>
          <a:solidFill>
            <a:srgbClr val="7C8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46320" y="1609344"/>
            <a:ext cx="2651760" cy="6309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400" b="1" i="0">
                <a:solidFill>
                  <a:srgbClr val="F2F6FB"/>
                </a:solidFill>
                <a:latin typeface="Segoe UI"/>
              </a:rPr>
              <a:t>read len from input</a:t>
            </a:r>
          </a:p>
        </p:txBody>
      </p:sp>
      <p:sp>
        <p:nvSpPr>
          <p:cNvPr id="11" name="Rounded Rectangle 10"/>
          <p:cNvSpPr/>
          <p:nvPr/>
        </p:nvSpPr>
        <p:spPr>
          <a:xfrm>
            <a:off x="4846320" y="2606040"/>
            <a:ext cx="2651760" cy="8686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846320" y="2606040"/>
            <a:ext cx="265176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846320" y="2752344"/>
            <a:ext cx="2651760" cy="7223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400" b="1" i="0">
                <a:solidFill>
                  <a:srgbClr val="F2F6FB"/>
                </a:solidFill>
                <a:latin typeface="Segoe UI"/>
              </a:rPr>
              <a:t>if (len &gt; MAX) ?</a:t>
            </a:r>
          </a:p>
          <a:p>
            <a:pPr algn="ctr">
              <a:spcAft>
                <a:spcPts val="200"/>
              </a:spcAft>
            </a:pPr>
            <a:r>
              <a:rPr sz="1050" b="0" i="0">
                <a:solidFill>
                  <a:srgbClr val="9DB0C6"/>
                </a:solidFill>
                <a:latin typeface="Segoe UI"/>
              </a:rPr>
              <a:t>branch</a:t>
            </a:r>
          </a:p>
        </p:txBody>
      </p:sp>
      <p:sp>
        <p:nvSpPr>
          <p:cNvPr id="14" name="Rounded Rectangle 13"/>
          <p:cNvSpPr/>
          <p:nvPr/>
        </p:nvSpPr>
        <p:spPr>
          <a:xfrm>
            <a:off x="1737360" y="4023360"/>
            <a:ext cx="2834640" cy="8686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737360" y="4023360"/>
            <a:ext cx="2834640" cy="109728"/>
          </a:xfrm>
          <a:prstGeom prst="roundRect">
            <a:avLst>
              <a:gd name="adj" fmla="val 45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737360" y="4169664"/>
            <a:ext cx="2834640" cy="7223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400" b="1" i="0">
                <a:solidFill>
                  <a:srgbClr val="F2F6FB"/>
                </a:solidFill>
                <a:latin typeface="Segoe UI"/>
              </a:rPr>
              <a:t>return error</a:t>
            </a:r>
          </a:p>
          <a:p>
            <a:pPr algn="ctr">
              <a:spcAft>
                <a:spcPts val="200"/>
              </a:spcAft>
            </a:pPr>
            <a:r>
              <a:rPr sz="1050" b="0" i="0">
                <a:solidFill>
                  <a:srgbClr val="9DB0C6"/>
                </a:solidFill>
                <a:latin typeface="Segoe UI"/>
              </a:rPr>
              <a:t>safe path</a:t>
            </a:r>
          </a:p>
        </p:txBody>
      </p:sp>
      <p:sp>
        <p:nvSpPr>
          <p:cNvPr id="17" name="Rounded Rectangle 16"/>
          <p:cNvSpPr/>
          <p:nvPr/>
        </p:nvSpPr>
        <p:spPr>
          <a:xfrm>
            <a:off x="7680960" y="4023360"/>
            <a:ext cx="2834640" cy="8686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680960" y="4023360"/>
            <a:ext cx="2834640" cy="109728"/>
          </a:xfrm>
          <a:prstGeom prst="roundRect">
            <a:avLst>
              <a:gd name="adj" fmla="val 4500"/>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680960" y="4169664"/>
            <a:ext cx="2834640" cy="7223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400" b="1" i="0">
                <a:solidFill>
                  <a:srgbClr val="F2F6FB"/>
                </a:solidFill>
                <a:latin typeface="Segoe UI"/>
              </a:rPr>
              <a:t>memcpy(dst, src, len)</a:t>
            </a:r>
          </a:p>
          <a:p>
            <a:pPr algn="ctr">
              <a:spcAft>
                <a:spcPts val="200"/>
              </a:spcAft>
            </a:pPr>
            <a:r>
              <a:rPr sz="1050" b="0" i="0">
                <a:solidFill>
                  <a:srgbClr val="9DB0C6"/>
                </a:solidFill>
                <a:latin typeface="Segoe UI"/>
              </a:rPr>
              <a:t>sink — overflow if len &gt; MAX</a:t>
            </a:r>
          </a:p>
        </p:txBody>
      </p:sp>
      <p:cxnSp>
        <p:nvCxnSpPr>
          <p:cNvPr id="20" name="Connector 19"/>
          <p:cNvCxnSpPr/>
          <p:nvPr/>
        </p:nvCxnSpPr>
        <p:spPr>
          <a:xfrm>
            <a:off x="6172200" y="2240280"/>
            <a:ext cx="0" cy="365760"/>
          </a:xfrm>
          <a:prstGeom prst="line">
            <a:avLst/>
          </a:prstGeom>
          <a:ln w="31750">
            <a:solidFill>
              <a:srgbClr val="7C8BA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3154680" y="3246120"/>
            <a:ext cx="1965960" cy="777240"/>
          </a:xfrm>
          <a:prstGeom prst="line">
            <a:avLst/>
          </a:prstGeom>
          <a:ln w="31750">
            <a:solidFill>
              <a:srgbClr val="34D39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223760" y="3246120"/>
            <a:ext cx="1874520" cy="777240"/>
          </a:xfrm>
          <a:prstGeom prst="line">
            <a:avLst/>
          </a:prstGeom>
          <a:ln w="31750">
            <a:solidFill>
              <a:srgbClr val="FB718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17520" y="3429000"/>
            <a:ext cx="2011680" cy="365760"/>
          </a:xfrm>
          <a:prstGeom prst="rect">
            <a:avLst/>
          </a:prstGeom>
          <a:noFill/>
        </p:spPr>
        <p:txBody>
          <a:bodyPr wrap="square" anchor="t" lIns="0" rIns="0" tIns="0" bIns="0">
            <a:spAutoFit/>
          </a:bodyPr>
          <a:lstStyle/>
          <a:p>
            <a:pPr algn="l">
              <a:spcAft>
                <a:spcPts val="200"/>
              </a:spcAft>
            </a:pPr>
            <a:r>
              <a:rPr sz="1200" b="1" i="1">
                <a:solidFill>
                  <a:srgbClr val="34D399"/>
                </a:solidFill>
                <a:latin typeface="Segoe UI"/>
              </a:rPr>
              <a:t>len ≤ MAX</a:t>
            </a:r>
          </a:p>
        </p:txBody>
      </p:sp>
      <p:sp>
        <p:nvSpPr>
          <p:cNvPr id="24" name="TextBox 23"/>
          <p:cNvSpPr txBox="1"/>
          <p:nvPr/>
        </p:nvSpPr>
        <p:spPr>
          <a:xfrm>
            <a:off x="7406640" y="3429000"/>
            <a:ext cx="2194560" cy="365760"/>
          </a:xfrm>
          <a:prstGeom prst="rect">
            <a:avLst/>
          </a:prstGeom>
          <a:noFill/>
        </p:spPr>
        <p:txBody>
          <a:bodyPr wrap="square" anchor="t" lIns="0" rIns="0" tIns="0" bIns="0">
            <a:spAutoFit/>
          </a:bodyPr>
          <a:lstStyle/>
          <a:p>
            <a:pPr algn="l">
              <a:spcAft>
                <a:spcPts val="200"/>
              </a:spcAft>
            </a:pPr>
            <a:r>
              <a:rPr sz="1200" b="1" i="1">
                <a:solidFill>
                  <a:srgbClr val="FB7185"/>
                </a:solidFill>
                <a:latin typeface="Segoe UI"/>
              </a:rPr>
              <a:t>len &gt; MAX</a:t>
            </a:r>
          </a:p>
        </p:txBody>
      </p:sp>
      <p:sp>
        <p:nvSpPr>
          <p:cNvPr id="25" name="TextBox 24"/>
          <p:cNvSpPr txBox="1"/>
          <p:nvPr/>
        </p:nvSpPr>
        <p:spPr>
          <a:xfrm>
            <a:off x="640080" y="5394960"/>
            <a:ext cx="10972800" cy="914400"/>
          </a:xfrm>
          <a:prstGeom prst="rect">
            <a:avLst/>
          </a:prstGeom>
          <a:noFill/>
        </p:spPr>
        <p:txBody>
          <a:bodyPr wrap="square" anchor="t" lIns="0" rIns="0" tIns="0" bIns="0">
            <a:spAutoFit/>
          </a:bodyPr>
          <a:lstStyle/>
          <a:p>
            <a:pPr algn="l">
              <a:spcAft>
                <a:spcPts val="200"/>
              </a:spcAft>
            </a:pPr>
            <a:r>
              <a:rPr sz="1500" b="0" i="0">
                <a:solidFill>
                  <a:srgbClr val="D4DEEA"/>
                </a:solidFill>
                <a:latin typeface="Segoe UI"/>
              </a:rPr>
              <a:t>The CFG is the set of paths control CAN take. The bug only exists on ONE branch — and only if that branch is reachable with a bad len. Proving reachability is what SAST struggles with (→ false positives) and what the LLM is asked to reason about.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Data flow: does tainted input reach a sink?</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22</a:t>
            </a:r>
          </a:p>
        </p:txBody>
      </p:sp>
      <p:sp>
        <p:nvSpPr>
          <p:cNvPr id="8" name="Rounded Rectangle 7"/>
          <p:cNvSpPr/>
          <p:nvPr/>
        </p:nvSpPr>
        <p:spPr>
          <a:xfrm>
            <a:off x="914400" y="2286000"/>
            <a:ext cx="2743200" cy="118872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2286000"/>
            <a:ext cx="2743200" cy="109728"/>
          </a:xfrm>
          <a:prstGeom prst="roundRect">
            <a:avLst>
              <a:gd name="adj" fmla="val 4500"/>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432304"/>
            <a:ext cx="2743200" cy="10424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700" b="1" i="0">
                <a:solidFill>
                  <a:srgbClr val="F2F6FB"/>
                </a:solidFill>
                <a:latin typeface="Segoe UI"/>
              </a:rPr>
              <a:t>SOURCE</a:t>
            </a:r>
          </a:p>
          <a:p>
            <a:pPr algn="ctr">
              <a:spcAft>
                <a:spcPts val="200"/>
              </a:spcAft>
            </a:pPr>
            <a:r>
              <a:rPr sz="1150" b="0" i="0">
                <a:solidFill>
                  <a:srgbClr val="9DB0C6"/>
                </a:solidFill>
                <a:latin typeface="Segoe UI"/>
              </a:rPr>
              <a:t>untrusted input</a:t>
            </a:r>
          </a:p>
          <a:p>
            <a:pPr algn="ctr">
              <a:spcAft>
                <a:spcPts val="200"/>
              </a:spcAft>
            </a:pPr>
            <a:r>
              <a:rPr sz="1150" b="0" i="0">
                <a:solidFill>
                  <a:srgbClr val="9DB0C6"/>
                </a:solidFill>
                <a:latin typeface="Segoe UI"/>
              </a:rPr>
              <a:t>argv · request · file</a:t>
            </a:r>
          </a:p>
        </p:txBody>
      </p:sp>
      <p:sp>
        <p:nvSpPr>
          <p:cNvPr id="11" name="Rounded Rectangle 10"/>
          <p:cNvSpPr/>
          <p:nvPr/>
        </p:nvSpPr>
        <p:spPr>
          <a:xfrm>
            <a:off x="4709160" y="2286000"/>
            <a:ext cx="2743200" cy="118872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709160" y="2286000"/>
            <a:ext cx="2743200" cy="109728"/>
          </a:xfrm>
          <a:prstGeom prst="roundRect">
            <a:avLst>
              <a:gd name="adj" fmla="val 45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09160" y="2432304"/>
            <a:ext cx="2743200" cy="10424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700" b="1" i="0">
                <a:solidFill>
                  <a:srgbClr val="F2F6FB"/>
                </a:solidFill>
                <a:latin typeface="Segoe UI"/>
              </a:rPr>
              <a:t>SANITIZER</a:t>
            </a:r>
          </a:p>
          <a:p>
            <a:pPr algn="ctr">
              <a:spcAft>
                <a:spcPts val="200"/>
              </a:spcAft>
            </a:pPr>
            <a:r>
              <a:rPr sz="1150" b="0" i="0">
                <a:solidFill>
                  <a:srgbClr val="9DB0C6"/>
                </a:solidFill>
                <a:latin typeface="Segoe UI"/>
              </a:rPr>
              <a:t>validate / escape</a:t>
            </a:r>
          </a:p>
          <a:p>
            <a:pPr algn="ctr">
              <a:spcAft>
                <a:spcPts val="200"/>
              </a:spcAft>
            </a:pPr>
            <a:r>
              <a:rPr sz="1150" b="0" i="0">
                <a:solidFill>
                  <a:srgbClr val="9DB0C6"/>
                </a:solidFill>
                <a:latin typeface="Segoe UI"/>
              </a:rPr>
              <a:t>bounds-check</a:t>
            </a:r>
          </a:p>
        </p:txBody>
      </p:sp>
      <p:sp>
        <p:nvSpPr>
          <p:cNvPr id="14" name="Rounded Rectangle 13"/>
          <p:cNvSpPr/>
          <p:nvPr/>
        </p:nvSpPr>
        <p:spPr>
          <a:xfrm>
            <a:off x="8503920" y="2286000"/>
            <a:ext cx="2743200" cy="118872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503920" y="2286000"/>
            <a:ext cx="2743200" cy="109728"/>
          </a:xfrm>
          <a:prstGeom prst="roundRect">
            <a:avLst>
              <a:gd name="adj" fmla="val 45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03920" y="2432304"/>
            <a:ext cx="2743200" cy="10424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700" b="1" i="0">
                <a:solidFill>
                  <a:srgbClr val="F2F6FB"/>
                </a:solidFill>
                <a:latin typeface="Segoe UI"/>
              </a:rPr>
              <a:t>SINK</a:t>
            </a:r>
          </a:p>
          <a:p>
            <a:pPr algn="ctr">
              <a:spcAft>
                <a:spcPts val="200"/>
              </a:spcAft>
            </a:pPr>
            <a:r>
              <a:rPr sz="1150" b="0" i="0">
                <a:solidFill>
                  <a:srgbClr val="9DB0C6"/>
                </a:solidFill>
                <a:latin typeface="Segoe UI"/>
              </a:rPr>
              <a:t>dangerous op</a:t>
            </a:r>
          </a:p>
          <a:p>
            <a:pPr algn="ctr">
              <a:spcAft>
                <a:spcPts val="200"/>
              </a:spcAft>
            </a:pPr>
            <a:r>
              <a:rPr sz="1150" b="0" i="0">
                <a:solidFill>
                  <a:srgbClr val="9DB0C6"/>
                </a:solidFill>
                <a:latin typeface="Segoe UI"/>
              </a:rPr>
              <a:t>system() · memcpy()</a:t>
            </a:r>
          </a:p>
        </p:txBody>
      </p:sp>
      <p:cxnSp>
        <p:nvCxnSpPr>
          <p:cNvPr id="17" name="Connector 16"/>
          <p:cNvCxnSpPr/>
          <p:nvPr/>
        </p:nvCxnSpPr>
        <p:spPr>
          <a:xfrm>
            <a:off x="3657600" y="2880360"/>
            <a:ext cx="1051560" cy="0"/>
          </a:xfrm>
          <a:prstGeom prst="line">
            <a:avLst/>
          </a:prstGeom>
          <a:ln w="38100">
            <a:solidFill>
              <a:srgbClr val="7C8BA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452360" y="2880360"/>
            <a:ext cx="1051560" cy="0"/>
          </a:xfrm>
          <a:prstGeom prst="line">
            <a:avLst/>
          </a:prstGeom>
          <a:ln w="38100">
            <a:solidFill>
              <a:srgbClr val="7C8BA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286000" y="3977640"/>
            <a:ext cx="7589520" cy="0"/>
          </a:xfrm>
          <a:prstGeom prst="line">
            <a:avLst/>
          </a:prstGeom>
          <a:ln w="38100">
            <a:solidFill>
              <a:srgbClr val="FB718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14400" y="4087368"/>
            <a:ext cx="10332720" cy="457200"/>
          </a:xfrm>
          <a:prstGeom prst="rect">
            <a:avLst/>
          </a:prstGeom>
          <a:noFill/>
        </p:spPr>
        <p:txBody>
          <a:bodyPr wrap="square" anchor="t" lIns="0" rIns="0" tIns="0" bIns="0">
            <a:spAutoFit/>
          </a:bodyPr>
          <a:lstStyle/>
          <a:p>
            <a:pPr algn="ctr">
              <a:spcAft>
                <a:spcPts val="200"/>
              </a:spcAft>
            </a:pPr>
            <a:r>
              <a:rPr sz="1400" b="1" i="0">
                <a:solidFill>
                  <a:srgbClr val="FB7185"/>
                </a:solidFill>
                <a:latin typeface="Segoe UI"/>
              </a:rPr>
              <a:t>missing / inadequate sanitizer  ⇒  SOURCE reaches SINK  =  vulnerability</a:t>
            </a:r>
          </a:p>
        </p:txBody>
      </p:sp>
      <p:sp>
        <p:nvSpPr>
          <p:cNvPr id="21" name="TextBox 20"/>
          <p:cNvSpPr txBox="1"/>
          <p:nvPr/>
        </p:nvSpPr>
        <p:spPr>
          <a:xfrm>
            <a:off x="4526280" y="1828800"/>
            <a:ext cx="3108960" cy="365760"/>
          </a:xfrm>
          <a:prstGeom prst="rect">
            <a:avLst/>
          </a:prstGeom>
          <a:noFill/>
        </p:spPr>
        <p:txBody>
          <a:bodyPr wrap="square" anchor="t" lIns="0" rIns="0" tIns="0" bIns="0">
            <a:spAutoFit/>
          </a:bodyPr>
          <a:lstStyle/>
          <a:p>
            <a:pPr algn="ctr">
              <a:spcAft>
                <a:spcPts val="200"/>
              </a:spcAft>
            </a:pPr>
            <a:r>
              <a:rPr sz="1200" b="1" i="1">
                <a:solidFill>
                  <a:srgbClr val="34D399"/>
                </a:solidFill>
                <a:latin typeface="Segoe UI"/>
              </a:rPr>
              <a:t>adequate check here  ⇒  safe</a:t>
            </a:r>
          </a:p>
        </p:txBody>
      </p:sp>
      <p:sp>
        <p:nvSpPr>
          <p:cNvPr id="22" name="TextBox 21"/>
          <p:cNvSpPr txBox="1"/>
          <p:nvPr/>
        </p:nvSpPr>
        <p:spPr>
          <a:xfrm>
            <a:off x="640080" y="5166360"/>
            <a:ext cx="10972800" cy="1097280"/>
          </a:xfrm>
          <a:prstGeom prst="rect">
            <a:avLst/>
          </a:prstGeom>
          <a:noFill/>
        </p:spPr>
        <p:txBody>
          <a:bodyPr wrap="square" anchor="t" lIns="0" rIns="0" tIns="0" bIns="0">
            <a:spAutoFit/>
          </a:bodyPr>
          <a:lstStyle/>
          <a:p>
            <a:pPr algn="l">
              <a:spcAft>
                <a:spcPts val="200"/>
              </a:spcAft>
            </a:pPr>
            <a:r>
              <a:rPr sz="1500" b="1" i="0">
                <a:solidFill>
                  <a:srgbClr val="D4DEEA"/>
                </a:solidFill>
                <a:latin typeface="Segoe UI"/>
              </a:rPr>
              <a:t>A vulnerability = a data-flow path from a SOURCE to a SINK with no adequate SANITIZER. </a:t>
            </a:r>
            <a:r>
              <a:rPr sz="1500" b="0" i="0">
                <a:solidFill>
                  <a:srgbClr val="D4DEEA"/>
                </a:solidFill>
                <a:latin typeface="Segoe UI"/>
              </a:rPr>
              <a:t>Taint tracking asks exactly that question across the whole program. Find the source, find the sink, check what's in between.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CodeQL vs tree-sitter for building the AST</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23</a:t>
            </a:r>
          </a:p>
        </p:txBody>
      </p:sp>
      <p:graphicFrame>
        <p:nvGraphicFramePr>
          <p:cNvPr id="8" name="Table 7"/>
          <p:cNvGraphicFramePr>
            <a:graphicFrameLocks noGrp="1"/>
          </p:cNvGraphicFramePr>
          <p:nvPr/>
        </p:nvGraphicFramePr>
        <p:xfrm>
          <a:off x="640080" y="1417320"/>
          <a:ext cx="10927080" cy="2304288"/>
        </p:xfrm>
        <a:graphic>
          <a:graphicData uri="http://schemas.openxmlformats.org/drawingml/2006/table">
            <a:tbl>
              <a:tblPr>
                <a:tableStyleId>{5C22544A-7EE6-4342-B048-85BDC9FD1C3A}</a:tableStyleId>
              </a:tblPr>
              <a:tblGrid>
                <a:gridCol w="1828800"/>
                <a:gridCol w="4526280"/>
                <a:gridCol w="4572000"/>
              </a:tblGrid>
              <a:tr h="384048">
                <a:tc>
                  <a:txBody>
                    <a:bodyPr wrap="square"/>
                    <a:lstStyle/>
                    <a:p>
                      <a:pPr algn="l"/>
                      <a:r>
                        <a:rPr sz="1300" b="1" i="0">
                          <a:solidFill>
                            <a:srgbClr val="FFFFFF"/>
                          </a:solidFill>
                          <a:latin typeface="Segoe UI"/>
                        </a:rPr>
                        <a:t/>
                      </a:r>
                    </a:p>
                  </a:txBody>
                  <a:tcPr marL="73152" marR="54864" marT="27432" marB="27432" anchor="ctr">
                    <a:solidFill>
                      <a:srgbClr val="263552"/>
                    </a:solidFill>
                  </a:tcPr>
                </a:tc>
                <a:tc>
                  <a:txBody>
                    <a:bodyPr wrap="square"/>
                    <a:lstStyle/>
                    <a:p>
                      <a:pPr algn="l"/>
                      <a:r>
                        <a:rPr sz="1300" b="1" i="0">
                          <a:solidFill>
                            <a:srgbClr val="FFFFFF"/>
                          </a:solidFill>
                          <a:latin typeface="Segoe UI"/>
                        </a:rPr>
                        <a:t>CodeQL</a:t>
                      </a:r>
                    </a:p>
                  </a:txBody>
                  <a:tcPr marL="73152" marR="54864" marT="27432" marB="27432" anchor="ctr">
                    <a:solidFill>
                      <a:srgbClr val="263552"/>
                    </a:solidFill>
                  </a:tcPr>
                </a:tc>
                <a:tc>
                  <a:txBody>
                    <a:bodyPr wrap="square"/>
                    <a:lstStyle/>
                    <a:p>
                      <a:pPr algn="l"/>
                      <a:r>
                        <a:rPr sz="1300" b="1" i="0">
                          <a:solidFill>
                            <a:srgbClr val="FFFFFF"/>
                          </a:solidFill>
                          <a:latin typeface="Segoe UI"/>
                        </a:rPr>
                        <a:t>tree-sitter</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Model</a:t>
                      </a:r>
                    </a:p>
                  </a:txBody>
                  <a:tcPr marL="73152" marR="54864" marT="27432" marB="27432" anchor="ctr">
                    <a:solidFill>
                      <a:srgbClr val="18233D"/>
                    </a:solidFill>
                  </a:tcPr>
                </a:tc>
                <a:tc>
                  <a:txBody>
                    <a:bodyPr wrap="square"/>
                    <a:lstStyle/>
                    <a:p>
                      <a:pPr algn="l"/>
                      <a:r>
                        <a:rPr sz="1250" b="0" i="0">
                          <a:solidFill>
                            <a:srgbClr val="D4DEEA"/>
                          </a:solidFill>
                          <a:latin typeface="Segoe UI"/>
                        </a:rPr>
                        <a:t>Semantic: AST+CFG+DFG+types</a:t>
                      </a:r>
                    </a:p>
                  </a:txBody>
                  <a:tcPr marL="73152" marR="54864" marT="27432" marB="27432" anchor="ctr">
                    <a:solidFill>
                      <a:srgbClr val="18233D"/>
                    </a:solidFill>
                  </a:tcPr>
                </a:tc>
                <a:tc>
                  <a:txBody>
                    <a:bodyPr wrap="square"/>
                    <a:lstStyle/>
                    <a:p>
                      <a:pPr algn="l"/>
                      <a:r>
                        <a:rPr sz="1250" b="0" i="0">
                          <a:solidFill>
                            <a:srgbClr val="D4DEEA"/>
                          </a:solidFill>
                          <a:latin typeface="Segoe UI"/>
                        </a:rPr>
                        <a:t>Syntactic AST only</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Needs build?</a:t>
                      </a:r>
                    </a:p>
                  </a:txBody>
                  <a:tcPr marL="73152" marR="54864" marT="27432" marB="27432" anchor="ctr">
                    <a:solidFill>
                      <a:srgbClr val="131D33"/>
                    </a:solidFill>
                  </a:tcPr>
                </a:tc>
                <a:tc>
                  <a:txBody>
                    <a:bodyPr wrap="square"/>
                    <a:lstStyle/>
                    <a:p>
                      <a:pPr algn="l"/>
                      <a:r>
                        <a:rPr sz="1250" b="0" i="0">
                          <a:solidFill>
                            <a:srgbClr val="D4DEEA"/>
                          </a:solidFill>
                          <a:latin typeface="Segoe UI"/>
                        </a:rPr>
                        <a:t>Yes (compiled langs)</a:t>
                      </a:r>
                    </a:p>
                  </a:txBody>
                  <a:tcPr marL="73152" marR="54864" marT="27432" marB="27432" anchor="ctr">
                    <a:solidFill>
                      <a:srgbClr val="131D33"/>
                    </a:solidFill>
                  </a:tcPr>
                </a:tc>
                <a:tc>
                  <a:txBody>
                    <a:bodyPr wrap="square"/>
                    <a:lstStyle/>
                    <a:p>
                      <a:pPr algn="l"/>
                      <a:r>
                        <a:rPr sz="1250" b="0" i="0">
                          <a:solidFill>
                            <a:srgbClr val="D4DEEA"/>
                          </a:solidFill>
                          <a:latin typeface="Segoe UI"/>
                        </a:rPr>
                        <a:t>No — parses source</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Speed</a:t>
                      </a:r>
                    </a:p>
                  </a:txBody>
                  <a:tcPr marL="73152" marR="54864" marT="27432" marB="27432" anchor="ctr">
                    <a:solidFill>
                      <a:srgbClr val="18233D"/>
                    </a:solidFill>
                  </a:tcPr>
                </a:tc>
                <a:tc>
                  <a:txBody>
                    <a:bodyPr wrap="square"/>
                    <a:lstStyle/>
                    <a:p>
                      <a:pPr algn="l"/>
                      <a:r>
                        <a:rPr sz="1250" b="0" i="0">
                          <a:solidFill>
                            <a:srgbClr val="D4DEEA"/>
                          </a:solidFill>
                          <a:latin typeface="Segoe UI"/>
                        </a:rPr>
                        <a:t>Slower</a:t>
                      </a:r>
                    </a:p>
                  </a:txBody>
                  <a:tcPr marL="73152" marR="54864" marT="27432" marB="27432" anchor="ctr">
                    <a:solidFill>
                      <a:srgbClr val="18233D"/>
                    </a:solidFill>
                  </a:tcPr>
                </a:tc>
                <a:tc>
                  <a:txBody>
                    <a:bodyPr wrap="square"/>
                    <a:lstStyle/>
                    <a:p>
                      <a:pPr algn="l"/>
                      <a:r>
                        <a:rPr sz="1250" b="0" i="0">
                          <a:solidFill>
                            <a:srgbClr val="D4DEEA"/>
                          </a:solidFill>
                          <a:latin typeface="Segoe UI"/>
                        </a:rPr>
                        <a:t>Very fast</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Depth</a:t>
                      </a:r>
                    </a:p>
                  </a:txBody>
                  <a:tcPr marL="73152" marR="54864" marT="27432" marB="27432" anchor="ctr">
                    <a:solidFill>
                      <a:srgbClr val="131D33"/>
                    </a:solidFill>
                  </a:tcPr>
                </a:tc>
                <a:tc>
                  <a:txBody>
                    <a:bodyPr wrap="square"/>
                    <a:lstStyle/>
                    <a:p>
                      <a:pPr algn="l"/>
                      <a:r>
                        <a:rPr sz="1250" b="0" i="0">
                          <a:solidFill>
                            <a:srgbClr val="D4DEEA"/>
                          </a:solidFill>
                          <a:latin typeface="Segoe UI"/>
                        </a:rPr>
                        <a:t>Cross-function, type-aware</a:t>
                      </a:r>
                    </a:p>
                  </a:txBody>
                  <a:tcPr marL="73152" marR="54864" marT="27432" marB="27432" anchor="ctr">
                    <a:solidFill>
                      <a:srgbClr val="131D33"/>
                    </a:solidFill>
                  </a:tcPr>
                </a:tc>
                <a:tc>
                  <a:txBody>
                    <a:bodyPr wrap="square"/>
                    <a:lstStyle/>
                    <a:p>
                      <a:pPr algn="l"/>
                      <a:r>
                        <a:rPr sz="1250" b="0" i="0">
                          <a:solidFill>
                            <a:srgbClr val="D4DEEA"/>
                          </a:solidFill>
                          <a:latin typeface="Segoe UI"/>
                        </a:rPr>
                        <a:t>File-local, structural</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In VulnHunterX</a:t>
                      </a:r>
                    </a:p>
                  </a:txBody>
                  <a:tcPr marL="73152" marR="54864" marT="27432" marB="27432" anchor="ctr">
                    <a:solidFill>
                      <a:srgbClr val="18233D"/>
                    </a:solidFill>
                  </a:tcPr>
                </a:tc>
                <a:tc>
                  <a:txBody>
                    <a:bodyPr wrap="square"/>
                    <a:lstStyle/>
                    <a:p>
                      <a:pPr algn="l"/>
                      <a:r>
                        <a:rPr sz="1250" b="0" i="0">
                          <a:solidFill>
                            <a:srgbClr val="D4DEEA"/>
                          </a:solidFill>
                          <a:latin typeface="Segoe UI"/>
                        </a:rPr>
                        <a:t>Default context backend</a:t>
                      </a:r>
                    </a:p>
                  </a:txBody>
                  <a:tcPr marL="73152" marR="54864" marT="27432" marB="27432" anchor="ctr">
                    <a:solidFill>
                      <a:srgbClr val="18233D"/>
                    </a:solidFill>
                  </a:tcPr>
                </a:tc>
                <a:tc>
                  <a:txBody>
                    <a:bodyPr wrap="square"/>
                    <a:lstStyle/>
                    <a:p>
                      <a:pPr algn="l"/>
                      <a:r>
                        <a:rPr sz="1250" b="0" i="0">
                          <a:solidFill>
                            <a:srgbClr val="D4DEEA"/>
                          </a:solidFill>
                          <a:latin typeface="Segoe UI"/>
                        </a:rPr>
                        <a:t>Fast fallback; all 8 languages</a:t>
                      </a:r>
                    </a:p>
                  </a:txBody>
                  <a:tcPr marL="73152" marR="54864" marT="27432" marB="27432" anchor="ctr">
                    <a:solidFill>
                      <a:srgbClr val="18233D"/>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tree-sitter — the fast, build-free parser</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24</a:t>
            </a:r>
          </a:p>
        </p:txBody>
      </p:sp>
      <p:sp>
        <p:nvSpPr>
          <p:cNvPr id="8" name="Rounded Rectangle 7"/>
          <p:cNvSpPr/>
          <p:nvPr/>
        </p:nvSpPr>
        <p:spPr>
          <a:xfrm>
            <a:off x="548640" y="1737360"/>
            <a:ext cx="3566160" cy="17830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737360"/>
            <a:ext cx="100584" cy="1783080"/>
          </a:xfrm>
          <a:prstGeom prst="roundRect">
            <a:avLst>
              <a:gd name="adj" fmla="val 45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37360"/>
            <a:ext cx="3255264" cy="1783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Incremental parser</a:t>
            </a:r>
          </a:p>
          <a:p>
            <a:pPr algn="l">
              <a:spcAft>
                <a:spcPts val="200"/>
              </a:spcAft>
            </a:pPr>
            <a:r>
              <a:rPr sz="1250" b="0" i="0">
                <a:solidFill>
                  <a:srgbClr val="9DB0C6"/>
                </a:solidFill>
                <a:latin typeface="Segoe UI"/>
              </a:rPr>
              <a:t>Re-parses only edited regions — built for editor speed.</a:t>
            </a:r>
          </a:p>
        </p:txBody>
      </p:sp>
      <p:sp>
        <p:nvSpPr>
          <p:cNvPr id="11" name="Rounded Rectangle 10"/>
          <p:cNvSpPr/>
          <p:nvPr/>
        </p:nvSpPr>
        <p:spPr>
          <a:xfrm>
            <a:off x="4343400" y="1737360"/>
            <a:ext cx="3566160" cy="17830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1737360"/>
            <a:ext cx="100584" cy="1783080"/>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44568" y="1737360"/>
            <a:ext cx="3255264" cy="1783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Per-language grammars</a:t>
            </a:r>
          </a:p>
          <a:p>
            <a:pPr algn="l">
              <a:spcAft>
                <a:spcPts val="200"/>
              </a:spcAft>
            </a:pPr>
            <a:r>
              <a:rPr sz="1250" b="0" i="0">
                <a:solidFill>
                  <a:srgbClr val="9DB0C6"/>
                </a:solidFill>
                <a:latin typeface="Segoe UI"/>
              </a:rPr>
              <a:t>One grammar per language; VulnHunterX covers all 8.</a:t>
            </a:r>
          </a:p>
        </p:txBody>
      </p:sp>
      <p:sp>
        <p:nvSpPr>
          <p:cNvPr id="14" name="Rounded Rectangle 13"/>
          <p:cNvSpPr/>
          <p:nvPr/>
        </p:nvSpPr>
        <p:spPr>
          <a:xfrm>
            <a:off x="8138160" y="1737360"/>
            <a:ext cx="3566160" cy="17830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38160" y="1737360"/>
            <a:ext cx="100584" cy="1783080"/>
          </a:xfrm>
          <a:prstGeom prst="roundRect">
            <a:avLst>
              <a:gd name="adj" fmla="val 45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1737360"/>
            <a:ext cx="3255264" cy="1783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No build needed</a:t>
            </a:r>
          </a:p>
          <a:p>
            <a:pPr algn="l">
              <a:spcAft>
                <a:spcPts val="200"/>
              </a:spcAft>
            </a:pPr>
            <a:r>
              <a:rPr sz="1250" b="0" i="0">
                <a:solidFill>
                  <a:srgbClr val="9DB0C6"/>
                </a:solidFill>
                <a:latin typeface="Segoe UI"/>
              </a:rPr>
              <a:t>Reads source directly — works even when the build is broken.</a:t>
            </a:r>
          </a:p>
        </p:txBody>
      </p:sp>
      <p:sp>
        <p:nvSpPr>
          <p:cNvPr id="17" name="Rounded Rectangle 16"/>
          <p:cNvSpPr/>
          <p:nvPr/>
        </p:nvSpPr>
        <p:spPr>
          <a:xfrm>
            <a:off x="548640" y="3749040"/>
            <a:ext cx="3566160" cy="17830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3749040"/>
            <a:ext cx="100584" cy="1783080"/>
          </a:xfrm>
          <a:prstGeom prst="roundRect">
            <a:avLst>
              <a:gd name="adj" fmla="val 45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3749040"/>
            <a:ext cx="3255264" cy="1783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Error-tolerant</a:t>
            </a:r>
          </a:p>
          <a:p>
            <a:pPr algn="l">
              <a:spcAft>
                <a:spcPts val="200"/>
              </a:spcAft>
            </a:pPr>
            <a:r>
              <a:rPr sz="1250" b="0" i="0">
                <a:solidFill>
                  <a:srgbClr val="9DB0C6"/>
                </a:solidFill>
                <a:latin typeface="Segoe UI"/>
              </a:rPr>
              <a:t>Recovers from syntax errors; parses partial / WIP code.</a:t>
            </a:r>
          </a:p>
        </p:txBody>
      </p:sp>
      <p:sp>
        <p:nvSpPr>
          <p:cNvPr id="20" name="Rounded Rectangle 19"/>
          <p:cNvSpPr/>
          <p:nvPr/>
        </p:nvSpPr>
        <p:spPr>
          <a:xfrm>
            <a:off x="4343400" y="3749040"/>
            <a:ext cx="3566160" cy="17830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43400" y="3749040"/>
            <a:ext cx="100584" cy="1783080"/>
          </a:xfrm>
          <a:prstGeom prst="roundRect">
            <a:avLst>
              <a:gd name="adj" fmla="val 4500"/>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44568" y="3749040"/>
            <a:ext cx="3255264" cy="1783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Syntactic only</a:t>
            </a:r>
          </a:p>
          <a:p>
            <a:pPr algn="l">
              <a:spcAft>
                <a:spcPts val="200"/>
              </a:spcAft>
            </a:pPr>
            <a:r>
              <a:rPr sz="1250" b="0" i="0">
                <a:solidFill>
                  <a:srgbClr val="9DB0C6"/>
                </a:solidFill>
                <a:latin typeface="Segoe UI"/>
              </a:rPr>
              <a:t>AST + structure, but no types, no cross-function data-flow.</a:t>
            </a:r>
          </a:p>
        </p:txBody>
      </p:sp>
      <p:sp>
        <p:nvSpPr>
          <p:cNvPr id="23" name="Rounded Rectangle 22"/>
          <p:cNvSpPr/>
          <p:nvPr/>
        </p:nvSpPr>
        <p:spPr>
          <a:xfrm>
            <a:off x="8138160" y="3749040"/>
            <a:ext cx="3566160" cy="17830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38160" y="3749040"/>
            <a:ext cx="100584" cy="1783080"/>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39328" y="3749040"/>
            <a:ext cx="3255264" cy="1783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Role in VulnHunterX</a:t>
            </a:r>
          </a:p>
          <a:p>
            <a:pPr algn="l">
              <a:spcAft>
                <a:spcPts val="200"/>
              </a:spcAft>
            </a:pPr>
            <a:r>
              <a:rPr sz="1250" b="0" i="0">
                <a:solidFill>
                  <a:srgbClr val="9DB0C6"/>
                </a:solidFill>
                <a:latin typeface="Segoe UI"/>
              </a:rPr>
              <a:t>The 'treesitter' context backend — fallback when no CodeQL DB.</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Doesn't Semgrep already build an AST?</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25</a:t>
            </a:r>
          </a:p>
        </p:txBody>
      </p:sp>
      <p:sp>
        <p:nvSpPr>
          <p:cNvPr id="8" name="TextBox 7"/>
          <p:cNvSpPr txBox="1"/>
          <p:nvPr/>
        </p:nvSpPr>
        <p:spPr>
          <a:xfrm>
            <a:off x="640080" y="1133856"/>
            <a:ext cx="10972800" cy="365760"/>
          </a:xfrm>
          <a:prstGeom prst="rect">
            <a:avLst/>
          </a:prstGeom>
          <a:noFill/>
        </p:spPr>
        <p:txBody>
          <a:bodyPr wrap="square" anchor="t" lIns="0" rIns="0" tIns="0" bIns="0">
            <a:spAutoFit/>
          </a:bodyPr>
          <a:lstStyle/>
          <a:p>
            <a:pPr algn="l">
              <a:spcAft>
                <a:spcPts val="200"/>
              </a:spcAft>
            </a:pPr>
            <a:r>
              <a:rPr sz="1400" b="0" i="1">
                <a:solidFill>
                  <a:srgbClr val="909CAB"/>
                </a:solidFill>
                <a:latin typeface="Segoe UI"/>
              </a:rPr>
              <a:t>Different ASTs, different jobs — detection vs context.</a:t>
            </a:r>
          </a:p>
        </p:txBody>
      </p:sp>
      <p:graphicFrame>
        <p:nvGraphicFramePr>
          <p:cNvPr id="9" name="Table 8"/>
          <p:cNvGraphicFramePr>
            <a:graphicFrameLocks noGrp="1"/>
          </p:cNvGraphicFramePr>
          <p:nvPr/>
        </p:nvGraphicFramePr>
        <p:xfrm>
          <a:off x="640080" y="1627632"/>
          <a:ext cx="10927080" cy="2304288"/>
        </p:xfrm>
        <a:graphic>
          <a:graphicData uri="http://schemas.openxmlformats.org/drawingml/2006/table">
            <a:tbl>
              <a:tblPr>
                <a:tableStyleId>{5C22544A-7EE6-4342-B048-85BDC9FD1C3A}</a:tableStyleId>
              </a:tblPr>
              <a:tblGrid>
                <a:gridCol w="1737360"/>
                <a:gridCol w="4206240"/>
                <a:gridCol w="4983480"/>
              </a:tblGrid>
              <a:tr h="384048">
                <a:tc>
                  <a:txBody>
                    <a:bodyPr wrap="square"/>
                    <a:lstStyle/>
                    <a:p>
                      <a:pPr algn="l"/>
                      <a:r>
                        <a:rPr sz="1300" b="1" i="0">
                          <a:solidFill>
                            <a:srgbClr val="FFFFFF"/>
                          </a:solidFill>
                          <a:latin typeface="Segoe UI"/>
                        </a:rPr>
                        <a:t/>
                      </a:r>
                    </a:p>
                  </a:txBody>
                  <a:tcPr marL="73152" marR="54864" marT="27432" marB="27432" anchor="ctr">
                    <a:solidFill>
                      <a:srgbClr val="263552"/>
                    </a:solidFill>
                  </a:tcPr>
                </a:tc>
                <a:tc>
                  <a:txBody>
                    <a:bodyPr wrap="square"/>
                    <a:lstStyle/>
                    <a:p>
                      <a:pPr algn="l"/>
                      <a:r>
                        <a:rPr sz="1300" b="1" i="0">
                          <a:solidFill>
                            <a:srgbClr val="FFFFFF"/>
                          </a:solidFill>
                          <a:latin typeface="Segoe UI"/>
                        </a:rPr>
                        <a:t>Semgrep's AST</a:t>
                      </a:r>
                    </a:p>
                  </a:txBody>
                  <a:tcPr marL="73152" marR="54864" marT="27432" marB="27432" anchor="ctr">
                    <a:solidFill>
                      <a:srgbClr val="263552"/>
                    </a:solidFill>
                  </a:tcPr>
                </a:tc>
                <a:tc>
                  <a:txBody>
                    <a:bodyPr wrap="square"/>
                    <a:lstStyle/>
                    <a:p>
                      <a:pPr algn="l"/>
                      <a:r>
                        <a:rPr sz="1300" b="1" i="0">
                          <a:solidFill>
                            <a:srgbClr val="FFFFFF"/>
                          </a:solidFill>
                          <a:latin typeface="Segoe UI"/>
                        </a:rPr>
                        <a:t>tree-sitter (in VulnHunterX)</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Whose engine</a:t>
                      </a:r>
                    </a:p>
                  </a:txBody>
                  <a:tcPr marL="73152" marR="54864" marT="27432" marB="27432" anchor="ctr">
                    <a:solidFill>
                      <a:srgbClr val="18233D"/>
                    </a:solidFill>
                  </a:tcPr>
                </a:tc>
                <a:tc>
                  <a:txBody>
                    <a:bodyPr wrap="square"/>
                    <a:lstStyle/>
                    <a:p>
                      <a:pPr algn="l"/>
                      <a:r>
                        <a:rPr sz="1250" b="0" i="0">
                          <a:solidFill>
                            <a:srgbClr val="D4DEEA"/>
                          </a:solidFill>
                          <a:latin typeface="Segoe UI"/>
                        </a:rPr>
                        <a:t>Internal to Semgrep</a:t>
                      </a:r>
                    </a:p>
                  </a:txBody>
                  <a:tcPr marL="73152" marR="54864" marT="27432" marB="27432" anchor="ctr">
                    <a:solidFill>
                      <a:srgbClr val="18233D"/>
                    </a:solidFill>
                  </a:tcPr>
                </a:tc>
                <a:tc>
                  <a:txBody>
                    <a:bodyPr wrap="square"/>
                    <a:lstStyle/>
                    <a:p>
                      <a:pPr algn="l"/>
                      <a:r>
                        <a:rPr sz="1250" b="0" i="0">
                          <a:solidFill>
                            <a:srgbClr val="D4DEEA"/>
                          </a:solidFill>
                          <a:latin typeface="Segoe UI"/>
                        </a:rPr>
                        <a:t>VulnHunterX's ContextExtractor</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Purpose</a:t>
                      </a:r>
                    </a:p>
                  </a:txBody>
                  <a:tcPr marL="73152" marR="54864" marT="27432" marB="27432" anchor="ctr">
                    <a:solidFill>
                      <a:srgbClr val="131D33"/>
                    </a:solidFill>
                  </a:tcPr>
                </a:tc>
                <a:tc>
                  <a:txBody>
                    <a:bodyPr wrap="square"/>
                    <a:lstStyle/>
                    <a:p>
                      <a:pPr algn="l"/>
                      <a:r>
                        <a:rPr sz="1250" b="0" i="0">
                          <a:solidFill>
                            <a:srgbClr val="D4DEEA"/>
                          </a:solidFill>
                          <a:latin typeface="Segoe UI"/>
                        </a:rPr>
                        <a:t>DETECT findings (pattern match)</a:t>
                      </a:r>
                    </a:p>
                  </a:txBody>
                  <a:tcPr marL="73152" marR="54864" marT="27432" marB="27432" anchor="ctr">
                    <a:solidFill>
                      <a:srgbClr val="131D33"/>
                    </a:solidFill>
                  </a:tcPr>
                </a:tc>
                <a:tc>
                  <a:txBody>
                    <a:bodyPr wrap="square"/>
                    <a:lstStyle/>
                    <a:p>
                      <a:pPr algn="l"/>
                      <a:r>
                        <a:rPr sz="1250" b="0" i="0">
                          <a:solidFill>
                            <a:srgbClr val="D4DEEA"/>
                          </a:solidFill>
                          <a:latin typeface="Segoe UI"/>
                        </a:rPr>
                        <a:t>EXTRACT context for the LLM</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Reusable?</a:t>
                      </a:r>
                    </a:p>
                  </a:txBody>
                  <a:tcPr marL="73152" marR="54864" marT="27432" marB="27432" anchor="ctr">
                    <a:solidFill>
                      <a:srgbClr val="18233D"/>
                    </a:solidFill>
                  </a:tcPr>
                </a:tc>
                <a:tc>
                  <a:txBody>
                    <a:bodyPr wrap="square"/>
                    <a:lstStyle/>
                    <a:p>
                      <a:pPr algn="l"/>
                      <a:r>
                        <a:rPr sz="1250" b="0" i="0">
                          <a:solidFill>
                            <a:srgbClr val="D4DEEA"/>
                          </a:solidFill>
                          <a:latin typeface="Segoe UI"/>
                        </a:rPr>
                        <a:t>No — private to the matcher</a:t>
                      </a:r>
                    </a:p>
                  </a:txBody>
                  <a:tcPr marL="73152" marR="54864" marT="27432" marB="27432" anchor="ctr">
                    <a:solidFill>
                      <a:srgbClr val="18233D"/>
                    </a:solidFill>
                  </a:tcPr>
                </a:tc>
                <a:tc>
                  <a:txBody>
                    <a:bodyPr wrap="square"/>
                    <a:lstStyle/>
                    <a:p>
                      <a:pPr algn="l"/>
                      <a:r>
                        <a:rPr sz="1250" b="0" i="0">
                          <a:solidFill>
                            <a:srgbClr val="D4DEEA"/>
                          </a:solidFill>
                          <a:latin typeface="Segoe UI"/>
                        </a:rPr>
                        <a:t>Yes — query for functions, callers, structs</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Scope</a:t>
                      </a:r>
                    </a:p>
                  </a:txBody>
                  <a:tcPr marL="73152" marR="54864" marT="27432" marB="27432" anchor="ctr">
                    <a:solidFill>
                      <a:srgbClr val="131D33"/>
                    </a:solidFill>
                  </a:tcPr>
                </a:tc>
                <a:tc>
                  <a:txBody>
                    <a:bodyPr wrap="square"/>
                    <a:lstStyle/>
                    <a:p>
                      <a:pPr algn="l"/>
                      <a:r>
                        <a:rPr sz="1250" b="0" i="0">
                          <a:solidFill>
                            <a:srgbClr val="D4DEEA"/>
                          </a:solidFill>
                          <a:latin typeface="Segoe UI"/>
                        </a:rPr>
                        <a:t>The rule's match site</a:t>
                      </a:r>
                    </a:p>
                  </a:txBody>
                  <a:tcPr marL="73152" marR="54864" marT="27432" marB="27432" anchor="ctr">
                    <a:solidFill>
                      <a:srgbClr val="131D33"/>
                    </a:solidFill>
                  </a:tcPr>
                </a:tc>
                <a:tc>
                  <a:txBody>
                    <a:bodyPr wrap="square"/>
                    <a:lstStyle/>
                    <a:p>
                      <a:pPr algn="l"/>
                      <a:r>
                        <a:rPr sz="1250" b="0" i="0">
                          <a:solidFill>
                            <a:srgbClr val="D4DEEA"/>
                          </a:solidFill>
                          <a:latin typeface="Segoe UI"/>
                        </a:rPr>
                        <a:t>Whole codebase → context CSVs, all 8 langs</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When used</a:t>
                      </a:r>
                    </a:p>
                  </a:txBody>
                  <a:tcPr marL="73152" marR="54864" marT="27432" marB="27432" anchor="ctr">
                    <a:solidFill>
                      <a:srgbClr val="18233D"/>
                    </a:solidFill>
                  </a:tcPr>
                </a:tc>
                <a:tc>
                  <a:txBody>
                    <a:bodyPr wrap="square"/>
                    <a:lstStyle/>
                    <a:p>
                      <a:pPr algn="l"/>
                      <a:r>
                        <a:rPr sz="1250" b="0" i="0">
                          <a:solidFill>
                            <a:srgbClr val="D4DEEA"/>
                          </a:solidFill>
                          <a:latin typeface="Segoe UI"/>
                        </a:rPr>
                        <a:t>Only if Semgrep runs &amp; fires</a:t>
                      </a:r>
                    </a:p>
                  </a:txBody>
                  <a:tcPr marL="73152" marR="54864" marT="27432" marB="27432" anchor="ctr">
                    <a:solidFill>
                      <a:srgbClr val="18233D"/>
                    </a:solidFill>
                  </a:tcPr>
                </a:tc>
                <a:tc>
                  <a:txBody>
                    <a:bodyPr wrap="square"/>
                    <a:lstStyle/>
                    <a:p>
                      <a:pPr algn="l"/>
                      <a:r>
                        <a:rPr sz="1250" b="0" i="0">
                          <a:solidFill>
                            <a:srgbClr val="D4DEEA"/>
                          </a:solidFill>
                          <a:latin typeface="Segoe UI"/>
                        </a:rPr>
                        <a:t>Any finding (incl. CodeQL-only), build-free</a:t>
                      </a:r>
                    </a:p>
                  </a:txBody>
                  <a:tcPr marL="73152" marR="54864" marT="27432" marB="27432" anchor="ctr">
                    <a:solidFill>
                      <a:srgbClr val="18233D"/>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AST context: from repo to LLM prompt</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26</a:t>
            </a:r>
          </a:p>
        </p:txBody>
      </p:sp>
      <p:sp>
        <p:nvSpPr>
          <p:cNvPr id="8" name="Rounded Rectangle 7"/>
          <p:cNvSpPr/>
          <p:nvPr/>
        </p:nvSpPr>
        <p:spPr>
          <a:xfrm>
            <a:off x="457200" y="2743200"/>
            <a:ext cx="1783080" cy="128016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 y="2743200"/>
            <a:ext cx="178308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889504"/>
            <a:ext cx="1783080" cy="11338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300" b="1" i="0">
                <a:solidFill>
                  <a:srgbClr val="F2F6FB"/>
                </a:solidFill>
                <a:latin typeface="Segoe UI"/>
              </a:rPr>
              <a:t>Repo</a:t>
            </a:r>
          </a:p>
          <a:p>
            <a:pPr algn="ctr">
              <a:spcAft>
                <a:spcPts val="200"/>
              </a:spcAft>
            </a:pPr>
            <a:r>
              <a:rPr sz="950" b="0" i="0">
                <a:solidFill>
                  <a:srgbClr val="9DB0C6"/>
                </a:solidFill>
                <a:latin typeface="Segoe UI"/>
              </a:rPr>
              <a:t>source tree</a:t>
            </a:r>
          </a:p>
        </p:txBody>
      </p:sp>
      <p:sp>
        <p:nvSpPr>
          <p:cNvPr id="11" name="Rounded Rectangle 10"/>
          <p:cNvSpPr/>
          <p:nvPr/>
        </p:nvSpPr>
        <p:spPr>
          <a:xfrm>
            <a:off x="2404872" y="2743200"/>
            <a:ext cx="1783080" cy="128016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04872" y="2743200"/>
            <a:ext cx="178308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04872" y="2889504"/>
            <a:ext cx="1783080" cy="11338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300" b="1" i="0">
                <a:solidFill>
                  <a:srgbClr val="F2F6FB"/>
                </a:solidFill>
                <a:latin typeface="Segoe UI"/>
              </a:rPr>
              <a:t>Extraction</a:t>
            </a:r>
          </a:p>
          <a:p>
            <a:pPr algn="ctr">
              <a:spcAft>
                <a:spcPts val="200"/>
              </a:spcAft>
            </a:pPr>
            <a:r>
              <a:rPr sz="950" b="0" i="0">
                <a:solidFill>
                  <a:srgbClr val="9DB0C6"/>
                </a:solidFill>
                <a:latin typeface="Segoe UI"/>
              </a:rPr>
              <a:t>CodeQL / tree-sitter</a:t>
            </a:r>
          </a:p>
        </p:txBody>
      </p:sp>
      <p:sp>
        <p:nvSpPr>
          <p:cNvPr id="14" name="Rounded Rectangle 13"/>
          <p:cNvSpPr/>
          <p:nvPr/>
        </p:nvSpPr>
        <p:spPr>
          <a:xfrm>
            <a:off x="4352544" y="2743200"/>
            <a:ext cx="1783080" cy="128016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52544" y="2743200"/>
            <a:ext cx="178308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52544" y="2889504"/>
            <a:ext cx="1783080" cy="11338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300" b="1" i="0">
                <a:solidFill>
                  <a:srgbClr val="F2F6FB"/>
                </a:solidFill>
                <a:latin typeface="Segoe UI"/>
              </a:rPr>
              <a:t>Context CSVs</a:t>
            </a:r>
          </a:p>
          <a:p>
            <a:pPr algn="ctr">
              <a:spcAft>
                <a:spcPts val="200"/>
              </a:spcAft>
            </a:pPr>
            <a:r>
              <a:rPr sz="950" b="0" i="0">
                <a:solidFill>
                  <a:srgbClr val="9DB0C6"/>
                </a:solidFill>
                <a:latin typeface="Segoe UI"/>
              </a:rPr>
              <a:t>functions, callers,</a:t>
            </a:r>
          </a:p>
          <a:p>
            <a:pPr algn="ctr">
              <a:spcAft>
                <a:spcPts val="200"/>
              </a:spcAft>
            </a:pPr>
            <a:r>
              <a:rPr sz="950" b="0" i="0">
                <a:solidFill>
                  <a:srgbClr val="9DB0C6"/>
                </a:solidFill>
                <a:latin typeface="Segoe UI"/>
              </a:rPr>
              <a:t>structs, free_sites…</a:t>
            </a:r>
          </a:p>
        </p:txBody>
      </p:sp>
      <p:sp>
        <p:nvSpPr>
          <p:cNvPr id="17" name="Rounded Rectangle 16"/>
          <p:cNvSpPr/>
          <p:nvPr/>
        </p:nvSpPr>
        <p:spPr>
          <a:xfrm>
            <a:off x="6300216" y="2743200"/>
            <a:ext cx="1783080" cy="128016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00216" y="2743200"/>
            <a:ext cx="178308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00216" y="2889504"/>
            <a:ext cx="1783080" cy="11338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300" b="1" i="0">
                <a:solidFill>
                  <a:srgbClr val="F2F6FB"/>
                </a:solidFill>
                <a:latin typeface="Segoe UI"/>
              </a:rPr>
              <a:t>ContextProvider</a:t>
            </a:r>
          </a:p>
          <a:p>
            <a:pPr algn="ctr">
              <a:spcAft>
                <a:spcPts val="200"/>
              </a:spcAft>
            </a:pPr>
            <a:r>
              <a:rPr sz="950" b="0" i="0">
                <a:solidFill>
                  <a:srgbClr val="9DB0C6"/>
                </a:solidFill>
                <a:latin typeface="Segoe UI"/>
              </a:rPr>
              <a:t>look-up + cache</a:t>
            </a:r>
          </a:p>
        </p:txBody>
      </p:sp>
      <p:sp>
        <p:nvSpPr>
          <p:cNvPr id="20" name="Rounded Rectangle 19"/>
          <p:cNvSpPr/>
          <p:nvPr/>
        </p:nvSpPr>
        <p:spPr>
          <a:xfrm>
            <a:off x="8247888" y="2743200"/>
            <a:ext cx="1783080" cy="128016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47888" y="2743200"/>
            <a:ext cx="178308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47888" y="2889504"/>
            <a:ext cx="1783080" cy="11338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300" b="1" i="0">
                <a:solidFill>
                  <a:srgbClr val="F2F6FB"/>
                </a:solidFill>
                <a:latin typeface="Segoe UI"/>
              </a:rPr>
              <a:t>Code slice</a:t>
            </a:r>
          </a:p>
          <a:p>
            <a:pPr algn="ctr">
              <a:spcAft>
                <a:spcPts val="200"/>
              </a:spcAft>
            </a:pPr>
            <a:r>
              <a:rPr sz="950" b="0" i="0">
                <a:solidFill>
                  <a:srgbClr val="9DB0C6"/>
                </a:solidFill>
                <a:latin typeface="Segoe UI"/>
              </a:rPr>
              <a:t>enclosing fn +</a:t>
            </a:r>
          </a:p>
          <a:p>
            <a:pPr algn="ctr">
              <a:spcAft>
                <a:spcPts val="200"/>
              </a:spcAft>
            </a:pPr>
            <a:r>
              <a:rPr sz="950" b="0" i="0">
                <a:solidFill>
                  <a:srgbClr val="9DB0C6"/>
                </a:solidFill>
                <a:latin typeface="Segoe UI"/>
              </a:rPr>
              <a:t>requested context</a:t>
            </a:r>
          </a:p>
        </p:txBody>
      </p:sp>
      <p:sp>
        <p:nvSpPr>
          <p:cNvPr id="23" name="Rounded Rectangle 22"/>
          <p:cNvSpPr/>
          <p:nvPr/>
        </p:nvSpPr>
        <p:spPr>
          <a:xfrm>
            <a:off x="10195560" y="2743200"/>
            <a:ext cx="1783080" cy="128016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95560" y="2743200"/>
            <a:ext cx="178308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195560" y="2889504"/>
            <a:ext cx="1783080" cy="11338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300" b="1" i="0">
                <a:solidFill>
                  <a:srgbClr val="F2F6FB"/>
                </a:solidFill>
                <a:latin typeface="Segoe UI"/>
              </a:rPr>
              <a:t>LLM prompt</a:t>
            </a:r>
          </a:p>
          <a:p>
            <a:pPr algn="ctr">
              <a:spcAft>
                <a:spcPts val="200"/>
              </a:spcAft>
            </a:pPr>
            <a:r>
              <a:rPr sz="950" b="0" i="0">
                <a:solidFill>
                  <a:srgbClr val="9DB0C6"/>
                </a:solidFill>
                <a:latin typeface="Segoe UI"/>
              </a:rPr>
              <a:t>grounded, not</a:t>
            </a:r>
          </a:p>
          <a:p>
            <a:pPr algn="ctr">
              <a:spcAft>
                <a:spcPts val="200"/>
              </a:spcAft>
            </a:pPr>
            <a:r>
              <a:rPr sz="950" b="0" i="0">
                <a:solidFill>
                  <a:srgbClr val="9DB0C6"/>
                </a:solidFill>
                <a:latin typeface="Segoe UI"/>
              </a:rPr>
              <a:t>the whole repo</a:t>
            </a:r>
          </a:p>
        </p:txBody>
      </p:sp>
      <p:cxnSp>
        <p:nvCxnSpPr>
          <p:cNvPr id="26" name="Connector 25"/>
          <p:cNvCxnSpPr/>
          <p:nvPr/>
        </p:nvCxnSpPr>
        <p:spPr>
          <a:xfrm>
            <a:off x="2240280" y="3383280"/>
            <a:ext cx="164592" cy="0"/>
          </a:xfrm>
          <a:prstGeom prst="line">
            <a:avLst/>
          </a:prstGeom>
          <a:ln w="31750">
            <a:solidFill>
              <a:srgbClr val="8184F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187952" y="3383280"/>
            <a:ext cx="164592" cy="0"/>
          </a:xfrm>
          <a:prstGeom prst="line">
            <a:avLst/>
          </a:prstGeom>
          <a:ln w="31750">
            <a:solidFill>
              <a:srgbClr val="8184F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135624" y="3383280"/>
            <a:ext cx="164592" cy="0"/>
          </a:xfrm>
          <a:prstGeom prst="line">
            <a:avLst/>
          </a:prstGeom>
          <a:ln w="31750">
            <a:solidFill>
              <a:srgbClr val="8184F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083296" y="3383280"/>
            <a:ext cx="164592" cy="0"/>
          </a:xfrm>
          <a:prstGeom prst="line">
            <a:avLst/>
          </a:prstGeom>
          <a:ln w="31750">
            <a:solidFill>
              <a:srgbClr val="8184F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030968" y="3383280"/>
            <a:ext cx="164592" cy="0"/>
          </a:xfrm>
          <a:prstGeom prst="line">
            <a:avLst/>
          </a:prstGeom>
          <a:ln w="31750">
            <a:solidFill>
              <a:srgbClr val="8184F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4754880"/>
            <a:ext cx="10972800" cy="1188720"/>
          </a:xfrm>
          <a:prstGeom prst="rect">
            <a:avLst/>
          </a:prstGeom>
          <a:noFill/>
        </p:spPr>
        <p:txBody>
          <a:bodyPr wrap="square" anchor="t" lIns="0" rIns="0" tIns="0" bIns="0">
            <a:spAutoFit/>
          </a:bodyPr>
          <a:lstStyle/>
          <a:p>
            <a:pPr algn="l">
              <a:spcAft>
                <a:spcPts val="200"/>
              </a:spcAft>
            </a:pPr>
            <a:r>
              <a:rPr sz="1500" b="1" i="0">
                <a:solidFill>
                  <a:srgbClr val="F2F6FB"/>
                </a:solidFill>
                <a:latin typeface="Segoe UI"/>
              </a:rPr>
              <a:t>The model never sees the 100k-line repo. </a:t>
            </a:r>
            <a:r>
              <a:rPr sz="1500" b="0" i="0">
                <a:solidFill>
                  <a:srgbClr val="D4DEEA"/>
                </a:solidFill>
                <a:latin typeface="Segoe UI"/>
              </a:rPr>
              <a:t>It sees a tight, AST-derived slice that's actually relevant to the finding — the single most important defence against hallucination.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The context types the LLM can pull</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27</a:t>
            </a:r>
          </a:p>
        </p:txBody>
      </p:sp>
      <p:sp>
        <p:nvSpPr>
          <p:cNvPr id="8" name="TextBox 7"/>
          <p:cNvSpPr txBox="1"/>
          <p:nvPr/>
        </p:nvSpPr>
        <p:spPr>
          <a:xfrm>
            <a:off x="640080" y="1133856"/>
            <a:ext cx="10972800" cy="365760"/>
          </a:xfrm>
          <a:prstGeom prst="rect">
            <a:avLst/>
          </a:prstGeom>
          <a:noFill/>
        </p:spPr>
        <p:txBody>
          <a:bodyPr wrap="square" anchor="t" lIns="0" rIns="0" tIns="0" bIns="0">
            <a:spAutoFit/>
          </a:bodyPr>
          <a:lstStyle/>
          <a:p>
            <a:pPr algn="l">
              <a:spcAft>
                <a:spcPts val="200"/>
              </a:spcAft>
            </a:pPr>
            <a:r>
              <a:rPr sz="1400" b="0" i="1">
                <a:solidFill>
                  <a:srgbClr val="909CAB"/>
                </a:solidFill>
                <a:latin typeface="Segoe UI"/>
              </a:rPr>
              <a:t>Two phases: cheap function-keyed context is pre-fetched; the rest is fetched only when the LLM asks (context_needed).</a:t>
            </a:r>
          </a:p>
        </p:txBody>
      </p:sp>
      <p:graphicFrame>
        <p:nvGraphicFramePr>
          <p:cNvPr id="9" name="Table 8"/>
          <p:cNvGraphicFramePr>
            <a:graphicFrameLocks noGrp="1"/>
          </p:cNvGraphicFramePr>
          <p:nvPr/>
        </p:nvGraphicFramePr>
        <p:xfrm>
          <a:off x="640080" y="1627632"/>
          <a:ext cx="10927080" cy="3840480"/>
        </p:xfrm>
        <a:graphic>
          <a:graphicData uri="http://schemas.openxmlformats.org/drawingml/2006/table">
            <a:tbl>
              <a:tblPr>
                <a:tableStyleId>{5C22544A-7EE6-4342-B048-85BDC9FD1C3A}</a:tableStyleId>
              </a:tblPr>
              <a:tblGrid>
                <a:gridCol w="3017520"/>
                <a:gridCol w="5166360"/>
                <a:gridCol w="2743200"/>
              </a:tblGrid>
              <a:tr h="384048">
                <a:tc>
                  <a:txBody>
                    <a:bodyPr wrap="square"/>
                    <a:lstStyle/>
                    <a:p>
                      <a:pPr algn="l"/>
                      <a:r>
                        <a:rPr sz="1300" b="1" i="0">
                          <a:solidFill>
                            <a:srgbClr val="FFFFFF"/>
                          </a:solidFill>
                          <a:latin typeface="Segoe UI"/>
                        </a:rPr>
                        <a:t>Context type</a:t>
                      </a:r>
                    </a:p>
                  </a:txBody>
                  <a:tcPr marL="73152" marR="54864" marT="27432" marB="27432" anchor="ctr">
                    <a:solidFill>
                      <a:srgbClr val="263552"/>
                    </a:solidFill>
                  </a:tcPr>
                </a:tc>
                <a:tc>
                  <a:txBody>
                    <a:bodyPr wrap="square"/>
                    <a:lstStyle/>
                    <a:p>
                      <a:pPr algn="l"/>
                      <a:r>
                        <a:rPr sz="1300" b="1" i="0">
                          <a:solidFill>
                            <a:srgbClr val="FFFFFF"/>
                          </a:solidFill>
                          <a:latin typeface="Segoe UI"/>
                        </a:rPr>
                        <a:t>Answers</a:t>
                      </a:r>
                    </a:p>
                  </a:txBody>
                  <a:tcPr marL="73152" marR="54864" marT="27432" marB="27432" anchor="ctr">
                    <a:solidFill>
                      <a:srgbClr val="263552"/>
                    </a:solidFill>
                  </a:tcPr>
                </a:tc>
                <a:tc>
                  <a:txBody>
                    <a:bodyPr wrap="square"/>
                    <a:lstStyle/>
                    <a:p>
                      <a:pPr algn="l"/>
                      <a:r>
                        <a:rPr sz="1300" b="1" i="0">
                          <a:solidFill>
                            <a:srgbClr val="FFFFFF"/>
                          </a:solidFill>
                          <a:latin typeface="Segoe UI"/>
                        </a:rPr>
                        <a:t>When</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function / method</a:t>
                      </a:r>
                    </a:p>
                  </a:txBody>
                  <a:tcPr marL="73152" marR="54864" marT="27432" marB="27432" anchor="ctr">
                    <a:solidFill>
                      <a:srgbClr val="18233D"/>
                    </a:solidFill>
                  </a:tcPr>
                </a:tc>
                <a:tc>
                  <a:txBody>
                    <a:bodyPr wrap="square"/>
                    <a:lstStyle/>
                    <a:p>
                      <a:pPr algn="l"/>
                      <a:r>
                        <a:rPr sz="1250" b="0" i="0">
                          <a:solidFill>
                            <a:srgbClr val="D4DEEA"/>
                          </a:solidFill>
                          <a:latin typeface="Segoe UI"/>
                        </a:rPr>
                        <a:t>What does this code do?</a:t>
                      </a:r>
                    </a:p>
                  </a:txBody>
                  <a:tcPr marL="73152" marR="54864" marT="27432" marB="27432" anchor="ctr">
                    <a:solidFill>
                      <a:srgbClr val="18233D"/>
                    </a:solidFill>
                  </a:tcPr>
                </a:tc>
                <a:tc>
                  <a:txBody>
                    <a:bodyPr wrap="square"/>
                    <a:lstStyle/>
                    <a:p>
                      <a:pPr algn="l"/>
                      <a:r>
                        <a:rPr sz="1250" b="0" i="0">
                          <a:solidFill>
                            <a:srgbClr val="D4DEEA"/>
                          </a:solidFill>
                          <a:latin typeface="Segoe UI"/>
                        </a:rPr>
                        <a:t>pre-fetched</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caller / all_callers</a:t>
                      </a:r>
                    </a:p>
                  </a:txBody>
                  <a:tcPr marL="73152" marR="54864" marT="27432" marB="27432" anchor="ctr">
                    <a:solidFill>
                      <a:srgbClr val="131D33"/>
                    </a:solidFill>
                  </a:tcPr>
                </a:tc>
                <a:tc>
                  <a:txBody>
                    <a:bodyPr wrap="square"/>
                    <a:lstStyle/>
                    <a:p>
                      <a:pPr algn="l"/>
                      <a:r>
                        <a:rPr sz="1250" b="0" i="0">
                          <a:solidFill>
                            <a:srgbClr val="D4DEEA"/>
                          </a:solidFill>
                          <a:latin typeface="Segoe UI"/>
                        </a:rPr>
                        <a:t>Who calls it? Where does input come from?</a:t>
                      </a:r>
                    </a:p>
                  </a:txBody>
                  <a:tcPr marL="73152" marR="54864" marT="27432" marB="27432" anchor="ctr">
                    <a:solidFill>
                      <a:srgbClr val="131D33"/>
                    </a:solidFill>
                  </a:tcPr>
                </a:tc>
                <a:tc>
                  <a:txBody>
                    <a:bodyPr wrap="square"/>
                    <a:lstStyle/>
                    <a:p>
                      <a:pPr algn="l"/>
                      <a:r>
                        <a:rPr sz="1250" b="0" i="0">
                          <a:solidFill>
                            <a:srgbClr val="D4DEEA"/>
                          </a:solidFill>
                          <a:latin typeface="Segoe UI"/>
                        </a:rPr>
                        <a:t>pre-fetched</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callees</a:t>
                      </a:r>
                    </a:p>
                  </a:txBody>
                  <a:tcPr marL="73152" marR="54864" marT="27432" marB="27432" anchor="ctr">
                    <a:solidFill>
                      <a:srgbClr val="18233D"/>
                    </a:solidFill>
                  </a:tcPr>
                </a:tc>
                <a:tc>
                  <a:txBody>
                    <a:bodyPr wrap="square"/>
                    <a:lstStyle/>
                    <a:p>
                      <a:pPr algn="l"/>
                      <a:r>
                        <a:rPr sz="1250" b="0" i="0">
                          <a:solidFill>
                            <a:srgbClr val="D4DEEA"/>
                          </a:solidFill>
                          <a:latin typeface="Segoe UI"/>
                        </a:rPr>
                        <a:t>What sinks does it call?</a:t>
                      </a:r>
                    </a:p>
                  </a:txBody>
                  <a:tcPr marL="73152" marR="54864" marT="27432" marB="27432" anchor="ctr">
                    <a:solidFill>
                      <a:srgbClr val="18233D"/>
                    </a:solidFill>
                  </a:tcPr>
                </a:tc>
                <a:tc>
                  <a:txBody>
                    <a:bodyPr wrap="square"/>
                    <a:lstStyle/>
                    <a:p>
                      <a:pPr algn="l"/>
                      <a:r>
                        <a:rPr sz="1250" b="0" i="0">
                          <a:solidFill>
                            <a:srgbClr val="D4DEEA"/>
                          </a:solidFill>
                          <a:latin typeface="Segoe UI"/>
                        </a:rPr>
                        <a:t>pre-fetched</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struct / class</a:t>
                      </a:r>
                    </a:p>
                  </a:txBody>
                  <a:tcPr marL="73152" marR="54864" marT="27432" marB="27432" anchor="ctr">
                    <a:solidFill>
                      <a:srgbClr val="131D33"/>
                    </a:solidFill>
                  </a:tcPr>
                </a:tc>
                <a:tc>
                  <a:txBody>
                    <a:bodyPr wrap="square"/>
                    <a:lstStyle/>
                    <a:p>
                      <a:pPr algn="l"/>
                      <a:r>
                        <a:rPr sz="1250" b="0" i="0">
                          <a:solidFill>
                            <a:srgbClr val="D4DEEA"/>
                          </a:solidFill>
                          <a:latin typeface="Segoe UI"/>
                        </a:rPr>
                        <a:t>What are the field types &amp; layout?</a:t>
                      </a:r>
                    </a:p>
                  </a:txBody>
                  <a:tcPr marL="73152" marR="54864" marT="27432" marB="27432" anchor="ctr">
                    <a:solidFill>
                      <a:srgbClr val="131D33"/>
                    </a:solidFill>
                  </a:tcPr>
                </a:tc>
                <a:tc>
                  <a:txBody>
                    <a:bodyPr wrap="square"/>
                    <a:lstStyle/>
                    <a:p>
                      <a:pPr algn="l"/>
                      <a:r>
                        <a:rPr sz="1250" b="0" i="0">
                          <a:solidFill>
                            <a:srgbClr val="D4DEEA"/>
                          </a:solidFill>
                          <a:latin typeface="Segoe UI"/>
                        </a:rPr>
                        <a:t>reactive</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global / macro</a:t>
                      </a:r>
                    </a:p>
                  </a:txBody>
                  <a:tcPr marL="73152" marR="54864" marT="27432" marB="27432" anchor="ctr">
                    <a:solidFill>
                      <a:srgbClr val="18233D"/>
                    </a:solidFill>
                  </a:tcPr>
                </a:tc>
                <a:tc>
                  <a:txBody>
                    <a:bodyPr wrap="square"/>
                    <a:lstStyle/>
                    <a:p>
                      <a:pPr algn="l"/>
                      <a:r>
                        <a:rPr sz="1250" b="0" i="0">
                          <a:solidFill>
                            <a:srgbClr val="D4DEEA"/>
                          </a:solidFill>
                          <a:latin typeface="Segoe UI"/>
                        </a:rPr>
                        <a:t>What's this constant / expansion?</a:t>
                      </a:r>
                    </a:p>
                  </a:txBody>
                  <a:tcPr marL="73152" marR="54864" marT="27432" marB="27432" anchor="ctr">
                    <a:solidFill>
                      <a:srgbClr val="18233D"/>
                    </a:solidFill>
                  </a:tcPr>
                </a:tc>
                <a:tc>
                  <a:txBody>
                    <a:bodyPr wrap="square"/>
                    <a:lstStyle/>
                    <a:p>
                      <a:pPr algn="l"/>
                      <a:r>
                        <a:rPr sz="1250" b="0" i="0">
                          <a:solidFill>
                            <a:srgbClr val="D4DEEA"/>
                          </a:solidFill>
                          <a:latin typeface="Segoe UI"/>
                        </a:rPr>
                        <a:t>reactive</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typedef / enum</a:t>
                      </a:r>
                    </a:p>
                  </a:txBody>
                  <a:tcPr marL="73152" marR="54864" marT="27432" marB="27432" anchor="ctr">
                    <a:solidFill>
                      <a:srgbClr val="131D33"/>
                    </a:solidFill>
                  </a:tcPr>
                </a:tc>
                <a:tc>
                  <a:txBody>
                    <a:bodyPr wrap="square"/>
                    <a:lstStyle/>
                    <a:p>
                      <a:pPr algn="l"/>
                      <a:r>
                        <a:rPr sz="1250" b="0" i="0">
                          <a:solidFill>
                            <a:srgbClr val="D4DEEA"/>
                          </a:solidFill>
                          <a:latin typeface="Segoe UI"/>
                        </a:rPr>
                        <a:t>What's the underlying type / values?</a:t>
                      </a:r>
                    </a:p>
                  </a:txBody>
                  <a:tcPr marL="73152" marR="54864" marT="27432" marB="27432" anchor="ctr">
                    <a:solidFill>
                      <a:srgbClr val="131D33"/>
                    </a:solidFill>
                  </a:tcPr>
                </a:tc>
                <a:tc>
                  <a:txBody>
                    <a:bodyPr wrap="square"/>
                    <a:lstStyle/>
                    <a:p>
                      <a:pPr algn="l"/>
                      <a:r>
                        <a:rPr sz="1250" b="0" i="0">
                          <a:solidFill>
                            <a:srgbClr val="D4DEEA"/>
                          </a:solidFill>
                          <a:latin typeface="Segoe UI"/>
                        </a:rPr>
                        <a:t>reactive</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free_sites  (C/C++)</a:t>
                      </a:r>
                    </a:p>
                  </a:txBody>
                  <a:tcPr marL="73152" marR="54864" marT="27432" marB="27432" anchor="ctr">
                    <a:solidFill>
                      <a:srgbClr val="18233D"/>
                    </a:solidFill>
                  </a:tcPr>
                </a:tc>
                <a:tc>
                  <a:txBody>
                    <a:bodyPr wrap="square"/>
                    <a:lstStyle/>
                    <a:p>
                      <a:pPr algn="l"/>
                      <a:r>
                        <a:rPr sz="1250" b="0" i="0">
                          <a:solidFill>
                            <a:srgbClr val="D4DEEA"/>
                          </a:solidFill>
                          <a:latin typeface="Segoe UI"/>
                        </a:rPr>
                        <a:t>Where is this pointer freed?</a:t>
                      </a:r>
                    </a:p>
                  </a:txBody>
                  <a:tcPr marL="73152" marR="54864" marT="27432" marB="27432" anchor="ctr">
                    <a:solidFill>
                      <a:srgbClr val="18233D"/>
                    </a:solidFill>
                  </a:tcPr>
                </a:tc>
                <a:tc>
                  <a:txBody>
                    <a:bodyPr wrap="square"/>
                    <a:lstStyle/>
                    <a:p>
                      <a:pPr algn="l"/>
                      <a:r>
                        <a:rPr sz="1250" b="0" i="0">
                          <a:solidFill>
                            <a:srgbClr val="D4DEEA"/>
                          </a:solidFill>
                          <a:latin typeface="Segoe UI"/>
                        </a:rPr>
                        <a:t>reactive</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destructor  (C/C++)</a:t>
                      </a:r>
                    </a:p>
                  </a:txBody>
                  <a:tcPr marL="73152" marR="54864" marT="27432" marB="27432" anchor="ctr">
                    <a:solidFill>
                      <a:srgbClr val="131D33"/>
                    </a:solidFill>
                  </a:tcPr>
                </a:tc>
                <a:tc>
                  <a:txBody>
                    <a:bodyPr wrap="square"/>
                    <a:lstStyle/>
                    <a:p>
                      <a:pPr algn="l"/>
                      <a:r>
                        <a:rPr sz="1250" b="0" i="0">
                          <a:solidFill>
                            <a:srgbClr val="D4DEEA"/>
                          </a:solidFill>
                          <a:latin typeface="Segoe UI"/>
                        </a:rPr>
                        <a:t>What cleanup runs on this type?</a:t>
                      </a:r>
                    </a:p>
                  </a:txBody>
                  <a:tcPr marL="73152" marR="54864" marT="27432" marB="27432" anchor="ctr">
                    <a:solidFill>
                      <a:srgbClr val="131D33"/>
                    </a:solidFill>
                  </a:tcPr>
                </a:tc>
                <a:tc>
                  <a:txBody>
                    <a:bodyPr wrap="square"/>
                    <a:lstStyle/>
                    <a:p>
                      <a:pPr algn="l"/>
                      <a:r>
                        <a:rPr sz="1250" b="0" i="0">
                          <a:solidFill>
                            <a:srgbClr val="D4DEEA"/>
                          </a:solidFill>
                          <a:latin typeface="Segoe UI"/>
                        </a:rPr>
                        <a:t>reactive</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field_writes  (C/C++)</a:t>
                      </a:r>
                    </a:p>
                  </a:txBody>
                  <a:tcPr marL="73152" marR="54864" marT="27432" marB="27432" anchor="ctr">
                    <a:solidFill>
                      <a:srgbClr val="18233D"/>
                    </a:solidFill>
                  </a:tcPr>
                </a:tc>
                <a:tc>
                  <a:txBody>
                    <a:bodyPr wrap="square"/>
                    <a:lstStyle/>
                    <a:p>
                      <a:pPr algn="l"/>
                      <a:r>
                        <a:rPr sz="1250" b="0" i="0">
                          <a:solidFill>
                            <a:srgbClr val="D4DEEA"/>
                          </a:solidFill>
                          <a:latin typeface="Segoe UI"/>
                        </a:rPr>
                        <a:t>Where is this field written?</a:t>
                      </a:r>
                    </a:p>
                  </a:txBody>
                  <a:tcPr marL="73152" marR="54864" marT="27432" marB="27432" anchor="ctr">
                    <a:solidFill>
                      <a:srgbClr val="18233D"/>
                    </a:solidFill>
                  </a:tcPr>
                </a:tc>
                <a:tc>
                  <a:txBody>
                    <a:bodyPr wrap="square"/>
                    <a:lstStyle/>
                    <a:p>
                      <a:pPr algn="l"/>
                      <a:r>
                        <a:rPr sz="1250" b="0" i="0">
                          <a:solidFill>
                            <a:srgbClr val="D4DEEA"/>
                          </a:solidFill>
                          <a:latin typeface="Segoe UI"/>
                        </a:rPr>
                        <a:t>reactive</a:t>
                      </a:r>
                    </a:p>
                  </a:txBody>
                  <a:tcPr marL="73152" marR="54864" marT="27432" marB="27432" anchor="ctr">
                    <a:solidFill>
                      <a:srgbClr val="18233D"/>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0" y="960120"/>
            <a:ext cx="5074920" cy="4480560"/>
          </a:xfrm>
          <a:prstGeom prst="rect">
            <a:avLst/>
          </a:prstGeom>
          <a:noFill/>
        </p:spPr>
        <p:txBody>
          <a:bodyPr wrap="none" anchor="ctr" lIns="0" rIns="0" tIns="0" bIns="0">
            <a:spAutoFit/>
          </a:bodyPr>
          <a:lstStyle/>
          <a:p>
            <a:pPr algn="r">
              <a:spcAft>
                <a:spcPts val="200"/>
              </a:spcAft>
            </a:pPr>
            <a:r>
              <a:rPr sz="25000" b="1" i="0">
                <a:solidFill>
                  <a:srgbClr val="1C2C4A"/>
                </a:solidFill>
                <a:latin typeface="Segoe UI"/>
              </a:rPr>
              <a:t>04</a:t>
            </a:r>
          </a:p>
        </p:txBody>
      </p:sp>
      <p:sp>
        <p:nvSpPr>
          <p:cNvPr id="4" name="Rectangle 3"/>
          <p:cNvSpPr/>
          <p:nvPr/>
        </p:nvSpPr>
        <p:spPr>
          <a:xfrm>
            <a:off x="868680" y="2670048"/>
            <a:ext cx="50292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2450592"/>
            <a:ext cx="8229600" cy="502920"/>
          </a:xfrm>
          <a:prstGeom prst="rect">
            <a:avLst/>
          </a:prstGeom>
          <a:noFill/>
        </p:spPr>
        <p:txBody>
          <a:bodyPr wrap="square" anchor="t" lIns="0" rIns="0" tIns="0" bIns="0">
            <a:spAutoFit/>
          </a:bodyPr>
          <a:lstStyle/>
          <a:p>
            <a:pPr algn="l">
              <a:spcAft>
                <a:spcPts val="200"/>
              </a:spcAft>
            </a:pPr>
            <a:r>
              <a:rPr sz="1800" b="1" i="0">
                <a:solidFill>
                  <a:srgbClr val="F59E0B"/>
                </a:solidFill>
                <a:latin typeface="Segoe UI"/>
              </a:rPr>
              <a:t>PART 4</a:t>
            </a:r>
          </a:p>
        </p:txBody>
      </p:sp>
      <p:sp>
        <p:nvSpPr>
          <p:cNvPr id="6" name="TextBox 5"/>
          <p:cNvSpPr txBox="1"/>
          <p:nvPr/>
        </p:nvSpPr>
        <p:spPr>
          <a:xfrm>
            <a:off x="822960" y="2944368"/>
            <a:ext cx="10058400" cy="1645920"/>
          </a:xfrm>
          <a:prstGeom prst="rect">
            <a:avLst/>
          </a:prstGeom>
          <a:noFill/>
        </p:spPr>
        <p:txBody>
          <a:bodyPr wrap="square" anchor="t" lIns="0" rIns="0" tIns="0" bIns="0">
            <a:spAutoFit/>
          </a:bodyPr>
          <a:lstStyle/>
          <a:p>
            <a:pPr algn="l">
              <a:spcAft>
                <a:spcPts val="200"/>
              </a:spcAft>
            </a:pPr>
            <a:r>
              <a:rPr sz="4000" b="1" i="0">
                <a:solidFill>
                  <a:srgbClr val="FFFFFF"/>
                </a:solidFill>
                <a:latin typeface="Segoe UI"/>
              </a:rPr>
              <a:t>LLM verification — pros &amp; cons</a:t>
            </a:r>
          </a:p>
        </p:txBody>
      </p:sp>
      <p:sp>
        <p:nvSpPr>
          <p:cNvPr id="7" name="Rectangle 6"/>
          <p:cNvSpPr/>
          <p:nvPr/>
        </p:nvSpPr>
        <p:spPr>
          <a:xfrm>
            <a:off x="868680" y="4343400"/>
            <a:ext cx="292608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16152"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63624"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911096" y="6126480"/>
            <a:ext cx="457200" cy="146304"/>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514600"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62072"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09544"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Why add an LLM after the scanner?</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29</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9DB0C6"/>
                </a:solidFill>
                <a:latin typeface="Segoe UI"/>
              </a:rPr>
              <a:t>Scanner: “line 58 might be a heap overflow.”</a:t>
            </a:r>
          </a:p>
          <a:p>
            <a:pPr lvl="1">
              <a:spcAft>
                <a:spcPts val="900"/>
              </a:spcAft>
            </a:pPr>
            <a:r>
              <a:rPr sz="1800" b="1" i="0">
                <a:solidFill>
                  <a:srgbClr val="909CAB"/>
                </a:solidFill>
                <a:latin typeface="Segoe UI"/>
              </a:rPr>
              <a:t>–  </a:t>
            </a:r>
            <a:r>
              <a:rPr sz="1800" b="0" i="0">
                <a:solidFill>
                  <a:srgbClr val="9DB0C6"/>
                </a:solidFill>
                <a:latin typeface="Segoe UI"/>
              </a:rPr>
              <a:t>It can't add: “…and it's reachable with attacker-controlled length → real.”</a:t>
            </a:r>
          </a:p>
          <a:p>
            <a:pPr>
              <a:spcAft>
                <a:spcPts val="900"/>
              </a:spcAft>
            </a:pPr>
            <a:r>
              <a:rPr sz="2100" b="1" i="0">
                <a:solidFill>
                  <a:srgbClr val="F97316"/>
                </a:solidFill>
                <a:latin typeface="Segoe UI"/>
              </a:rPr>
              <a:t>▸  </a:t>
            </a:r>
            <a:r>
              <a:rPr sz="2100" b="1" i="0">
                <a:solidFill>
                  <a:srgbClr val="D4DEEA"/>
                </a:solidFill>
                <a:latin typeface="Segoe UI"/>
              </a:rPr>
              <a:t>An LLM, given code + context, can reason about reachability &amp; sanitizers.</a:t>
            </a:r>
          </a:p>
          <a:p>
            <a:pPr>
              <a:spcAft>
                <a:spcPts val="900"/>
              </a:spcAft>
            </a:pPr>
            <a:r>
              <a:rPr sz="2100" b="1" i="0">
                <a:solidFill>
                  <a:srgbClr val="F97316"/>
                </a:solidFill>
                <a:latin typeface="Segoe UI"/>
              </a:rPr>
              <a:t>▸  </a:t>
            </a:r>
            <a:r>
              <a:rPr sz="2100" b="1" i="0">
                <a:solidFill>
                  <a:srgbClr val="34D399"/>
                </a:solidFill>
                <a:latin typeface="Segoe UI"/>
              </a:rPr>
              <a:t>Goal: noisy candidate list → ranked, explained, triaged report.</a:t>
            </a:r>
          </a:p>
          <a:p>
            <a:pPr>
              <a:spcAft>
                <a:spcPts val="900"/>
              </a:spcAft>
            </a:pPr>
            <a:r>
              <a:rPr sz="2100" b="1" i="0">
                <a:solidFill>
                  <a:srgbClr val="F97316"/>
                </a:solidFill>
                <a:latin typeface="Segoe UI"/>
              </a:rPr>
              <a:t>▸  </a:t>
            </a:r>
            <a:r>
              <a:rPr sz="2100" b="1" i="0">
                <a:solidFill>
                  <a:srgbClr val="FB7185"/>
                </a:solidFill>
                <a:latin typeface="Segoe UI"/>
              </a:rPr>
              <a:t>It does NOT detect new bugs — it judges the ones SAST produced.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What we actually ask the LLM</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30</a:t>
            </a:r>
          </a:p>
        </p:txBody>
      </p:sp>
      <p:sp>
        <p:nvSpPr>
          <p:cNvPr id="8" name="Rounded Rectangle 7"/>
          <p:cNvSpPr/>
          <p:nvPr/>
        </p:nvSpPr>
        <p:spPr>
          <a:xfrm>
            <a:off x="548640" y="1737360"/>
            <a:ext cx="3566160" cy="15544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737360"/>
            <a:ext cx="100584" cy="1554480"/>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737360"/>
            <a:ext cx="3255264"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Verdict</a:t>
            </a:r>
          </a:p>
          <a:p>
            <a:pPr algn="l">
              <a:spcAft>
                <a:spcPts val="200"/>
              </a:spcAft>
            </a:pPr>
            <a:r>
              <a:rPr sz="1250" b="0" i="0">
                <a:solidFill>
                  <a:srgbClr val="9DB0C6"/>
                </a:solidFill>
                <a:latin typeface="Segoe UI"/>
              </a:rPr>
              <a:t>TRUE_POSITIVE · FALSE_POSITIVE · NEEDS_MORE_DATA</a:t>
            </a:r>
          </a:p>
        </p:txBody>
      </p:sp>
      <p:sp>
        <p:nvSpPr>
          <p:cNvPr id="11" name="Rounded Rectangle 10"/>
          <p:cNvSpPr/>
          <p:nvPr/>
        </p:nvSpPr>
        <p:spPr>
          <a:xfrm>
            <a:off x="4343400" y="1737360"/>
            <a:ext cx="3566160" cy="15544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1737360"/>
            <a:ext cx="100584" cy="1554480"/>
          </a:xfrm>
          <a:prstGeom prst="roundRect">
            <a:avLst>
              <a:gd name="adj" fmla="val 45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44568" y="1737360"/>
            <a:ext cx="3255264"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Confidence</a:t>
            </a:r>
          </a:p>
          <a:p>
            <a:pPr algn="l">
              <a:spcAft>
                <a:spcPts val="200"/>
              </a:spcAft>
            </a:pPr>
            <a:r>
              <a:rPr sz="1250" b="0" i="0">
                <a:solidFill>
                  <a:srgbClr val="9DB0C6"/>
                </a:solidFill>
                <a:latin typeface="Segoe UI"/>
              </a:rPr>
              <a:t>high / medium / low  →  0.85 / 0.6 / 0.3</a:t>
            </a:r>
          </a:p>
        </p:txBody>
      </p:sp>
      <p:sp>
        <p:nvSpPr>
          <p:cNvPr id="14" name="Rounded Rectangle 13"/>
          <p:cNvSpPr/>
          <p:nvPr/>
        </p:nvSpPr>
        <p:spPr>
          <a:xfrm>
            <a:off x="8138160" y="1737360"/>
            <a:ext cx="3566160" cy="15544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38160" y="1737360"/>
            <a:ext cx="100584" cy="1554480"/>
          </a:xfrm>
          <a:prstGeom prst="roundRect">
            <a:avLst>
              <a:gd name="adj" fmla="val 45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1737360"/>
            <a:ext cx="3255264"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Reasoning</a:t>
            </a:r>
          </a:p>
          <a:p>
            <a:pPr algn="l">
              <a:spcAft>
                <a:spcPts val="200"/>
              </a:spcAft>
            </a:pPr>
            <a:r>
              <a:rPr sz="1250" b="0" i="0">
                <a:solidFill>
                  <a:srgbClr val="9DB0C6"/>
                </a:solidFill>
                <a:latin typeface="Segoe UI"/>
              </a:rPr>
              <a:t>Anchored to specific lines (no hand-waving)</a:t>
            </a:r>
          </a:p>
        </p:txBody>
      </p:sp>
      <p:sp>
        <p:nvSpPr>
          <p:cNvPr id="17" name="Rounded Rectangle 16"/>
          <p:cNvSpPr/>
          <p:nvPr/>
        </p:nvSpPr>
        <p:spPr>
          <a:xfrm>
            <a:off x="548640" y="3520440"/>
            <a:ext cx="3566160" cy="15544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3520440"/>
            <a:ext cx="100584" cy="1554480"/>
          </a:xfrm>
          <a:prstGeom prst="roundRect">
            <a:avLst>
              <a:gd name="adj" fmla="val 45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3520440"/>
            <a:ext cx="3255264"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Answers</a:t>
            </a:r>
          </a:p>
          <a:p>
            <a:pPr algn="l">
              <a:spcAft>
                <a:spcPts val="200"/>
              </a:spcAft>
            </a:pPr>
            <a:r>
              <a:rPr sz="1250" b="0" i="0">
                <a:solidFill>
                  <a:srgbClr val="9DB0C6"/>
                </a:solidFill>
                <a:latin typeface="Segoe UI"/>
              </a:rPr>
              <a:t>Responses to the rule's guided questions</a:t>
            </a:r>
          </a:p>
        </p:txBody>
      </p:sp>
      <p:sp>
        <p:nvSpPr>
          <p:cNvPr id="20" name="Rounded Rectangle 19"/>
          <p:cNvSpPr/>
          <p:nvPr/>
        </p:nvSpPr>
        <p:spPr>
          <a:xfrm>
            <a:off x="4343400" y="3520440"/>
            <a:ext cx="3566160" cy="15544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43400" y="3520440"/>
            <a:ext cx="100584" cy="1554480"/>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44568" y="3520440"/>
            <a:ext cx="3255264"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context_needed</a:t>
            </a:r>
          </a:p>
          <a:p>
            <a:pPr algn="l">
              <a:spcAft>
                <a:spcPts val="200"/>
              </a:spcAft>
            </a:pPr>
            <a:r>
              <a:rPr sz="1250" b="0" i="0">
                <a:solidFill>
                  <a:srgbClr val="9DB0C6"/>
                </a:solidFill>
                <a:latin typeface="Segoe UI"/>
              </a:rPr>
              <a:t>Extra code it wants to see next → drives the multi-turn loop</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Pros of LLM verification</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31</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34D399"/>
                </a:solidFill>
                <a:latin typeface="Segoe UI"/>
              </a:rPr>
              <a:t>Cuts false-positive noise — the headline benefit.</a:t>
            </a:r>
          </a:p>
          <a:p>
            <a:pPr>
              <a:spcAft>
                <a:spcPts val="900"/>
              </a:spcAft>
            </a:pPr>
            <a:r>
              <a:rPr sz="2100" b="1" i="0">
                <a:solidFill>
                  <a:srgbClr val="F97316"/>
                </a:solidFill>
                <a:latin typeface="Segoe UI"/>
              </a:rPr>
              <a:t>▸  </a:t>
            </a:r>
            <a:r>
              <a:rPr sz="2100" b="1" i="0">
                <a:solidFill>
                  <a:srgbClr val="D4DEEA"/>
                </a:solidFill>
                <a:latin typeface="Segoe UI"/>
              </a:rPr>
              <a:t>Explains each verdict in plain language → faster triage &amp; learning.</a:t>
            </a:r>
          </a:p>
          <a:p>
            <a:pPr>
              <a:spcAft>
                <a:spcPts val="900"/>
              </a:spcAft>
            </a:pPr>
            <a:r>
              <a:rPr sz="2100" b="1" i="0">
                <a:solidFill>
                  <a:srgbClr val="F97316"/>
                </a:solidFill>
                <a:latin typeface="Segoe UI"/>
              </a:rPr>
              <a:t>▸  </a:t>
            </a:r>
            <a:r>
              <a:rPr sz="2100" b="1" i="0">
                <a:solidFill>
                  <a:srgbClr val="D4DEEA"/>
                </a:solidFill>
                <a:latin typeface="Segoe UI"/>
              </a:rPr>
              <a:t>Fills context gaps SAST leaves (intent, framework conventions).</a:t>
            </a:r>
          </a:p>
          <a:p>
            <a:pPr>
              <a:spcAft>
                <a:spcPts val="900"/>
              </a:spcAft>
            </a:pPr>
            <a:r>
              <a:rPr sz="2100" b="1" i="0">
                <a:solidFill>
                  <a:srgbClr val="F97316"/>
                </a:solidFill>
                <a:latin typeface="Segoe UI"/>
              </a:rPr>
              <a:t>▸  </a:t>
            </a:r>
            <a:r>
              <a:rPr sz="2100" b="1" i="0">
                <a:solidFill>
                  <a:srgbClr val="D4DEEA"/>
                </a:solidFill>
                <a:latin typeface="Segoe UI"/>
              </a:rPr>
              <a:t>Language-flexible — one reasoning engine across C, Python, Java, JS, Go…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Cons &amp; risks of LLM verification</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32</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FB7185"/>
                </a:solidFill>
                <a:latin typeface="Segoe UI"/>
              </a:rPr>
              <a:t>Hallucination — can assert a sanitizer or flow that isn't there.</a:t>
            </a:r>
          </a:p>
          <a:p>
            <a:pPr>
              <a:spcAft>
                <a:spcPts val="900"/>
              </a:spcAft>
            </a:pPr>
            <a:r>
              <a:rPr sz="2100" b="1" i="0">
                <a:solidFill>
                  <a:srgbClr val="F97316"/>
                </a:solidFill>
                <a:latin typeface="Segoe UI"/>
              </a:rPr>
              <a:t>▸  </a:t>
            </a:r>
            <a:r>
              <a:rPr sz="2100" b="1" i="0">
                <a:solidFill>
                  <a:srgbClr val="FB7185"/>
                </a:solidFill>
                <a:latin typeface="Segoe UI"/>
              </a:rPr>
              <a:t>Non-determinism — same finding, different runs, maybe different verdict.</a:t>
            </a:r>
          </a:p>
          <a:p>
            <a:pPr>
              <a:spcAft>
                <a:spcPts val="900"/>
              </a:spcAft>
            </a:pPr>
            <a:r>
              <a:rPr sz="2100" b="1" i="0">
                <a:solidFill>
                  <a:srgbClr val="F97316"/>
                </a:solidFill>
                <a:latin typeface="Segoe UI"/>
              </a:rPr>
              <a:t>▸  </a:t>
            </a:r>
            <a:r>
              <a:rPr sz="2100" b="1" i="0">
                <a:solidFill>
                  <a:srgbClr val="FB7185"/>
                </a:solidFill>
                <a:latin typeface="Segoe UI"/>
              </a:rPr>
              <a:t>Cost &amp; latency — tokens and time per finding, especially multi-turn.</a:t>
            </a:r>
          </a:p>
          <a:p>
            <a:pPr>
              <a:spcAft>
                <a:spcPts val="900"/>
              </a:spcAft>
            </a:pPr>
            <a:r>
              <a:rPr sz="2100" b="1" i="0">
                <a:solidFill>
                  <a:srgbClr val="F97316"/>
                </a:solidFill>
                <a:latin typeface="Segoe UI"/>
              </a:rPr>
              <a:t>▸  </a:t>
            </a:r>
            <a:r>
              <a:rPr sz="2100" b="1" i="0">
                <a:solidFill>
                  <a:srgbClr val="FB7185"/>
                </a:solidFill>
                <a:latin typeface="Segoe UI"/>
              </a:rPr>
              <a:t>Prompt injection — the code under review is attacker-influenced text.</a:t>
            </a:r>
          </a:p>
          <a:p>
            <a:pPr>
              <a:spcAft>
                <a:spcPts val="900"/>
              </a:spcAft>
            </a:pPr>
            <a:r>
              <a:rPr sz="2100" b="1" i="0">
                <a:solidFill>
                  <a:srgbClr val="F97316"/>
                </a:solidFill>
                <a:latin typeface="Segoe UI"/>
              </a:rPr>
              <a:t>▸  </a:t>
            </a:r>
            <a:r>
              <a:rPr sz="2100" b="1" i="0">
                <a:solidFill>
                  <a:srgbClr val="FB7185"/>
                </a:solidFill>
                <a:latin typeface="Segoe UI"/>
              </a:rPr>
              <a:t>Overconfidence — fluent prose ≠ correct reasoning.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How VulnHunterX mitigates the cons</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33</a:t>
            </a:r>
          </a:p>
        </p:txBody>
      </p:sp>
      <p:graphicFrame>
        <p:nvGraphicFramePr>
          <p:cNvPr id="8" name="Table 7"/>
          <p:cNvGraphicFramePr>
            <a:graphicFrameLocks noGrp="1"/>
          </p:cNvGraphicFramePr>
          <p:nvPr/>
        </p:nvGraphicFramePr>
        <p:xfrm>
          <a:off x="640080" y="1417320"/>
          <a:ext cx="10927080" cy="2304288"/>
        </p:xfrm>
        <a:graphic>
          <a:graphicData uri="http://schemas.openxmlformats.org/drawingml/2006/table">
            <a:tbl>
              <a:tblPr>
                <a:tableStyleId>{5C22544A-7EE6-4342-B048-85BDC9FD1C3A}</a:tableStyleId>
              </a:tblPr>
              <a:tblGrid>
                <a:gridCol w="2834640"/>
                <a:gridCol w="8092440"/>
              </a:tblGrid>
              <a:tr h="384048">
                <a:tc>
                  <a:txBody>
                    <a:bodyPr wrap="square"/>
                    <a:lstStyle/>
                    <a:p>
                      <a:pPr algn="l"/>
                      <a:r>
                        <a:rPr sz="1300" b="1" i="0">
                          <a:solidFill>
                            <a:srgbClr val="FFFFFF"/>
                          </a:solidFill>
                          <a:latin typeface="Segoe UI"/>
                        </a:rPr>
                        <a:t>Risk</a:t>
                      </a:r>
                    </a:p>
                  </a:txBody>
                  <a:tcPr marL="73152" marR="54864" marT="27432" marB="27432" anchor="ctr">
                    <a:solidFill>
                      <a:srgbClr val="263552"/>
                    </a:solidFill>
                  </a:tcPr>
                </a:tc>
                <a:tc>
                  <a:txBody>
                    <a:bodyPr wrap="square"/>
                    <a:lstStyle/>
                    <a:p>
                      <a:pPr algn="l"/>
                      <a:r>
                        <a:rPr sz="1300" b="1" i="0">
                          <a:solidFill>
                            <a:srgbClr val="FFFFFF"/>
                          </a:solidFill>
                          <a:latin typeface="Segoe UI"/>
                        </a:rPr>
                        <a:t>Mitigation</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Hallucination</a:t>
                      </a:r>
                    </a:p>
                  </a:txBody>
                  <a:tcPr marL="73152" marR="54864" marT="27432" marB="27432" anchor="ctr">
                    <a:solidFill>
                      <a:srgbClr val="18233D"/>
                    </a:solidFill>
                  </a:tcPr>
                </a:tc>
                <a:tc>
                  <a:txBody>
                    <a:bodyPr wrap="square"/>
                    <a:lstStyle/>
                    <a:p>
                      <a:pPr algn="l"/>
                      <a:r>
                        <a:rPr sz="1250" b="0" i="0">
                          <a:solidFill>
                            <a:srgbClr val="D4DEEA"/>
                          </a:solidFill>
                          <a:latin typeface="Segoe UI"/>
                        </a:rPr>
                        <a:t>Grounding — CSV/AST context; questions demand line citations</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Weak / uncited claims</a:t>
                      </a:r>
                    </a:p>
                  </a:txBody>
                  <a:tcPr marL="73152" marR="54864" marT="27432" marB="27432" anchor="ctr">
                    <a:solidFill>
                      <a:srgbClr val="131D33"/>
                    </a:solidFill>
                  </a:tcPr>
                </a:tc>
                <a:tc>
                  <a:txBody>
                    <a:bodyPr wrap="square"/>
                    <a:lstStyle/>
                    <a:p>
                      <a:pPr algn="l"/>
                      <a:r>
                        <a:rPr sz="1250" b="0" i="0">
                          <a:solidFill>
                            <a:srgbClr val="D4DEEA"/>
                          </a:solidFill>
                          <a:latin typeface="Segoe UI"/>
                        </a:rPr>
                        <a:t>Confidence downgrades — vague reasoning auto-demoted to low</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Premature verdicts</a:t>
                      </a:r>
                    </a:p>
                  </a:txBody>
                  <a:tcPr marL="73152" marR="54864" marT="27432" marB="27432" anchor="ctr">
                    <a:solidFill>
                      <a:srgbClr val="18233D"/>
                    </a:solidFill>
                  </a:tcPr>
                </a:tc>
                <a:tc>
                  <a:txBody>
                    <a:bodyPr wrap="square"/>
                    <a:lstStyle/>
                    <a:p>
                      <a:pPr algn="l"/>
                      <a:r>
                        <a:rPr sz="1250" b="0" i="0">
                          <a:solidFill>
                            <a:srgbClr val="D4DEEA"/>
                          </a:solidFill>
                          <a:latin typeface="Segoe UI"/>
                        </a:rPr>
                        <a:t>min_iterations on high-stakes CWEs (e.g. CWE-416, CWE-200)</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Non-determinism</a:t>
                      </a:r>
                    </a:p>
                  </a:txBody>
                  <a:tcPr marL="73152" marR="54864" marT="27432" marB="27432" anchor="ctr">
                    <a:solidFill>
                      <a:srgbClr val="131D33"/>
                    </a:solidFill>
                  </a:tcPr>
                </a:tc>
                <a:tc>
                  <a:txBody>
                    <a:bodyPr wrap="square"/>
                    <a:lstStyle/>
                    <a:p>
                      <a:pPr algn="l"/>
                      <a:r>
                        <a:rPr sz="1250" b="0" i="0">
                          <a:solidFill>
                            <a:srgbClr val="D4DEEA"/>
                          </a:solidFill>
                          <a:latin typeface="Segoe UI"/>
                        </a:rPr>
                        <a:t>Temperature 0.2, structured JSON, tool reconciliation</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Single-tool error</a:t>
                      </a:r>
                    </a:p>
                  </a:txBody>
                  <a:tcPr marL="73152" marR="54864" marT="27432" marB="27432" anchor="ctr">
                    <a:solidFill>
                      <a:srgbClr val="18233D"/>
                    </a:solidFill>
                  </a:tcPr>
                </a:tc>
                <a:tc>
                  <a:txBody>
                    <a:bodyPr wrap="square"/>
                    <a:lstStyle/>
                    <a:p>
                      <a:pPr algn="l"/>
                      <a:r>
                        <a:rPr sz="1250" b="0" i="0">
                          <a:solidFill>
                            <a:srgbClr val="D4DEEA"/>
                          </a:solidFill>
                          <a:latin typeface="Segoe UI"/>
                        </a:rPr>
                        <a:t>Cross-tool reconciliation (CodeQL vs Semgrep)</a:t>
                      </a:r>
                    </a:p>
                  </a:txBody>
                  <a:tcPr marL="73152" marR="54864" marT="27432" marB="27432" anchor="ctr">
                    <a:solidFill>
                      <a:srgbClr val="18233D"/>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0" y="960120"/>
            <a:ext cx="5074920" cy="4480560"/>
          </a:xfrm>
          <a:prstGeom prst="rect">
            <a:avLst/>
          </a:prstGeom>
          <a:noFill/>
        </p:spPr>
        <p:txBody>
          <a:bodyPr wrap="none" anchor="ctr" lIns="0" rIns="0" tIns="0" bIns="0">
            <a:spAutoFit/>
          </a:bodyPr>
          <a:lstStyle/>
          <a:p>
            <a:pPr algn="r">
              <a:spcAft>
                <a:spcPts val="200"/>
              </a:spcAft>
            </a:pPr>
            <a:r>
              <a:rPr sz="25000" b="1" i="0">
                <a:solidFill>
                  <a:srgbClr val="1C2C4A"/>
                </a:solidFill>
                <a:latin typeface="Segoe UI"/>
              </a:rPr>
              <a:t>05</a:t>
            </a:r>
          </a:p>
        </p:txBody>
      </p:sp>
      <p:sp>
        <p:nvSpPr>
          <p:cNvPr id="4" name="Rectangle 3"/>
          <p:cNvSpPr/>
          <p:nvPr/>
        </p:nvSpPr>
        <p:spPr>
          <a:xfrm>
            <a:off x="868680" y="2670048"/>
            <a:ext cx="50292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2450592"/>
            <a:ext cx="8229600" cy="502920"/>
          </a:xfrm>
          <a:prstGeom prst="rect">
            <a:avLst/>
          </a:prstGeom>
          <a:noFill/>
        </p:spPr>
        <p:txBody>
          <a:bodyPr wrap="square" anchor="t" lIns="0" rIns="0" tIns="0" bIns="0">
            <a:spAutoFit/>
          </a:bodyPr>
          <a:lstStyle/>
          <a:p>
            <a:pPr algn="l">
              <a:spcAft>
                <a:spcPts val="200"/>
              </a:spcAft>
            </a:pPr>
            <a:r>
              <a:rPr sz="1800" b="1" i="0">
                <a:solidFill>
                  <a:srgbClr val="F59E0B"/>
                </a:solidFill>
                <a:latin typeface="Segoe UI"/>
              </a:rPr>
              <a:t>PART 5</a:t>
            </a:r>
          </a:p>
        </p:txBody>
      </p:sp>
      <p:sp>
        <p:nvSpPr>
          <p:cNvPr id="6" name="TextBox 5"/>
          <p:cNvSpPr txBox="1"/>
          <p:nvPr/>
        </p:nvSpPr>
        <p:spPr>
          <a:xfrm>
            <a:off x="822960" y="2944368"/>
            <a:ext cx="10058400" cy="1645920"/>
          </a:xfrm>
          <a:prstGeom prst="rect">
            <a:avLst/>
          </a:prstGeom>
          <a:noFill/>
        </p:spPr>
        <p:txBody>
          <a:bodyPr wrap="square" anchor="t" lIns="0" rIns="0" tIns="0" bIns="0">
            <a:spAutoFit/>
          </a:bodyPr>
          <a:lstStyle/>
          <a:p>
            <a:pPr algn="l">
              <a:spcAft>
                <a:spcPts val="200"/>
              </a:spcAft>
            </a:pPr>
            <a:r>
              <a:rPr sz="4000" b="1" i="0">
                <a:solidFill>
                  <a:srgbClr val="FFFFFF"/>
                </a:solidFill>
                <a:latin typeface="Segoe UI"/>
              </a:rPr>
              <a:t>VulnHunterX architecture &amp; stages</a:t>
            </a:r>
          </a:p>
        </p:txBody>
      </p:sp>
      <p:sp>
        <p:nvSpPr>
          <p:cNvPr id="7" name="Rectangle 6"/>
          <p:cNvSpPr/>
          <p:nvPr/>
        </p:nvSpPr>
        <p:spPr>
          <a:xfrm>
            <a:off x="868680" y="4343400"/>
            <a:ext cx="292608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16152"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63624"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911096"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258568" y="6126480"/>
            <a:ext cx="457200" cy="146304"/>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62072"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09544"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The big picture</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35</a:t>
            </a:r>
          </a:p>
        </p:txBody>
      </p:sp>
      <p:sp>
        <p:nvSpPr>
          <p:cNvPr id="8" name="Rounded Rectangle 7"/>
          <p:cNvSpPr/>
          <p:nvPr/>
        </p:nvSpPr>
        <p:spPr>
          <a:xfrm>
            <a:off x="640080" y="1371600"/>
            <a:ext cx="10927080" cy="4983480"/>
          </a:xfrm>
          <a:prstGeom prst="roundRect">
            <a:avLst>
              <a:gd name="adj" fmla="val 4500"/>
            </a:avLst>
          </a:prstGeom>
          <a:solidFill>
            <a:srgbClr val="0F1A2E"/>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74320" tIns="566928"/>
          <a:lstStyle/>
          <a:p>
            <a:pPr algn="ctr">
              <a:spcAft>
                <a:spcPts val="300"/>
              </a:spcAft>
            </a:pPr>
            <a:r>
              <a:rPr sz="1550" b="0" i="0">
                <a:solidFill>
                  <a:srgbClr val="CCD8E6"/>
                </a:solidFill>
                <a:latin typeface="Consolas"/>
              </a:rPr>
              <a:t>SARIF</a:t>
            </a:r>
            <a:r>
              <a:rPr sz="1550" b="0" i="0">
                <a:solidFill>
                  <a:srgbClr val="CCD8E6"/>
                </a:solidFill>
                <a:latin typeface="Consolas"/>
              </a:rPr>
              <a:t> </a:t>
            </a:r>
            <a:r>
              <a:rPr sz="1550" b="0" i="0">
                <a:solidFill>
                  <a:srgbClr val="CCD8E6"/>
                </a:solidFill>
                <a:latin typeface="Consolas"/>
              </a:rPr>
              <a:t>files</a:t>
            </a:r>
          </a:p>
          <a:p>
            <a:pPr>
              <a:spcAft>
                <a:spcPts val="300"/>
              </a:spcAft>
            </a:pP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SarifParser</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[Finding]</a:t>
            </a:r>
          </a:p>
          <a:p>
            <a:pPr>
              <a:spcAft>
                <a:spcPts val="300"/>
              </a:spcAft>
            </a:pP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VerificationEngine</a:t>
            </a:r>
          </a:p>
          <a:p>
            <a:pPr>
              <a:spcAft>
                <a:spcPts val="300"/>
              </a:spcAft>
            </a:pP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QuestionsLoader</a:t>
            </a:r>
            <a:r>
              <a:rPr sz="1550" b="0" i="0">
                <a:solidFill>
                  <a:srgbClr val="CCD8E6"/>
                </a:solidFill>
                <a:latin typeface="Consolas"/>
              </a:rPr>
              <a:t>   </a:t>
            </a:r>
            <a:r>
              <a:rPr sz="1550" b="0" i="0">
                <a:solidFill>
                  <a:srgbClr val="CCD8E6"/>
                </a:solidFill>
                <a:latin typeface="Consolas"/>
              </a:rPr>
              <a:t>(rule-specific</a:t>
            </a:r>
            <a:r>
              <a:rPr sz="1550" b="0" i="0">
                <a:solidFill>
                  <a:srgbClr val="CCD8E6"/>
                </a:solidFill>
                <a:latin typeface="Consolas"/>
              </a:rPr>
              <a:t> </a:t>
            </a:r>
            <a:r>
              <a:rPr sz="1550" b="0" i="0">
                <a:solidFill>
                  <a:srgbClr val="CCD8E6"/>
                </a:solidFill>
                <a:latin typeface="Consolas"/>
              </a:rPr>
              <a:t>guided</a:t>
            </a:r>
            <a:r>
              <a:rPr sz="1550" b="0" i="0">
                <a:solidFill>
                  <a:srgbClr val="CCD8E6"/>
                </a:solidFill>
                <a:latin typeface="Consolas"/>
              </a:rPr>
              <a:t> </a:t>
            </a:r>
            <a:r>
              <a:rPr sz="1550" b="0" i="0">
                <a:solidFill>
                  <a:srgbClr val="CCD8E6"/>
                </a:solidFill>
                <a:latin typeface="Consolas"/>
              </a:rPr>
              <a:t>questions)</a:t>
            </a:r>
          </a:p>
          <a:p>
            <a:pPr>
              <a:spcAft>
                <a:spcPts val="300"/>
              </a:spcAft>
            </a:pP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ContextProvider</a:t>
            </a:r>
            <a:r>
              <a:rPr sz="1550" b="0" i="0">
                <a:solidFill>
                  <a:srgbClr val="CCD8E6"/>
                </a:solidFill>
                <a:latin typeface="Consolas"/>
              </a:rPr>
              <a:t>   </a:t>
            </a:r>
            <a:r>
              <a:rPr sz="1550" b="0" i="0">
                <a:solidFill>
                  <a:srgbClr val="CCD8E6"/>
                </a:solidFill>
                <a:latin typeface="Consolas"/>
              </a:rPr>
              <a:t>(CSV</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AST</a:t>
            </a:r>
            <a:r>
              <a:rPr sz="1550" b="0" i="0">
                <a:solidFill>
                  <a:srgbClr val="CCD8E6"/>
                </a:solidFill>
                <a:latin typeface="Consolas"/>
              </a:rPr>
              <a:t> </a:t>
            </a:r>
            <a:r>
              <a:rPr sz="1550" b="0" i="0">
                <a:solidFill>
                  <a:srgbClr val="CCD8E6"/>
                </a:solidFill>
                <a:latin typeface="Consolas"/>
              </a:rPr>
              <a:t>look-ups)</a:t>
            </a:r>
          </a:p>
          <a:p>
            <a:pPr>
              <a:spcAft>
                <a:spcPts val="300"/>
              </a:spcAft>
            </a:pP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LLMClient</a:t>
            </a:r>
            <a:r>
              <a:rPr sz="1550" b="0" i="0">
                <a:solidFill>
                  <a:srgbClr val="CCD8E6"/>
                </a:solidFill>
                <a:latin typeface="Consolas"/>
              </a:rPr>
              <a:t> </a:t>
            </a:r>
            <a:r>
              <a:rPr sz="1550" b="0" i="0">
                <a:solidFill>
                  <a:srgbClr val="CCD8E6"/>
                </a:solidFill>
                <a:latin typeface="Consolas"/>
              </a:rPr>
              <a:t>(LiteLLM</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OpenAI</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Anthropic</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Ollama)</a:t>
            </a:r>
          </a:p>
          <a:p>
            <a:pPr>
              <a:spcAft>
                <a:spcPts val="300"/>
              </a:spcAft>
            </a:pP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Verdict</a:t>
            </a:r>
            <a:r>
              <a:rPr sz="1550" b="0" i="0">
                <a:solidFill>
                  <a:srgbClr val="CCD8E6"/>
                </a:solidFill>
                <a:latin typeface="Consolas"/>
              </a:rPr>
              <a:t> </a:t>
            </a:r>
            <a:r>
              <a:rPr sz="1550" b="0" i="0">
                <a:solidFill>
                  <a:srgbClr val="CCD8E6"/>
                </a:solidFill>
                <a:latin typeface="Consolas"/>
              </a:rPr>
              <a:t>(TP</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FP</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NEEDS_MORE_DATA)</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CCD8E6"/>
                </a:solidFill>
                <a:latin typeface="Consolas"/>
              </a:rPr>
              <a:t>confidence</a:t>
            </a:r>
          </a:p>
        </p:txBody>
      </p:sp>
      <p:sp>
        <p:nvSpPr>
          <p:cNvPr id="9" name="Oval 8"/>
          <p:cNvSpPr/>
          <p:nvPr/>
        </p:nvSpPr>
        <p:spPr>
          <a:xfrm>
            <a:off x="868680" y="1572768"/>
            <a:ext cx="146304" cy="146304"/>
          </a:xfrm>
          <a:prstGeom prst="ellipse">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4712" y="1572768"/>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80744" y="1572768"/>
            <a:ext cx="146304" cy="14630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The pipeline: Stages 1–4 (static + LLM)</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36</a:t>
            </a:r>
          </a:p>
        </p:txBody>
      </p:sp>
      <p:sp>
        <p:nvSpPr>
          <p:cNvPr id="8" name="TextBox 7"/>
          <p:cNvSpPr txBox="1"/>
          <p:nvPr/>
        </p:nvSpPr>
        <p:spPr>
          <a:xfrm>
            <a:off x="640080" y="1133856"/>
            <a:ext cx="10972800" cy="365760"/>
          </a:xfrm>
          <a:prstGeom prst="rect">
            <a:avLst/>
          </a:prstGeom>
          <a:noFill/>
        </p:spPr>
        <p:txBody>
          <a:bodyPr wrap="square" anchor="t" lIns="0" rIns="0" tIns="0" bIns="0">
            <a:spAutoFit/>
          </a:bodyPr>
          <a:lstStyle/>
          <a:p>
            <a:pPr algn="l">
              <a:spcAft>
                <a:spcPts val="200"/>
              </a:spcAft>
            </a:pPr>
            <a:r>
              <a:rPr sz="1400" b="0" i="1">
                <a:solidFill>
                  <a:srgbClr val="909CAB"/>
                </a:solidFill>
                <a:latin typeface="Segoe UI"/>
              </a:rPr>
              <a:t>scan runs all four supported stages in one command.</a:t>
            </a:r>
          </a:p>
        </p:txBody>
      </p:sp>
      <p:graphicFrame>
        <p:nvGraphicFramePr>
          <p:cNvPr id="9" name="Table 8"/>
          <p:cNvGraphicFramePr>
            <a:graphicFrameLocks noGrp="1"/>
          </p:cNvGraphicFramePr>
          <p:nvPr/>
        </p:nvGraphicFramePr>
        <p:xfrm>
          <a:off x="640080" y="1627632"/>
          <a:ext cx="10927080" cy="1920240"/>
        </p:xfrm>
        <a:graphic>
          <a:graphicData uri="http://schemas.openxmlformats.org/drawingml/2006/table">
            <a:tbl>
              <a:tblPr>
                <a:tableStyleId>{5C22544A-7EE6-4342-B048-85BDC9FD1C3A}</a:tableStyleId>
              </a:tblPr>
              <a:tblGrid>
                <a:gridCol w="1005840"/>
                <a:gridCol w="1828800"/>
                <a:gridCol w="8092440"/>
              </a:tblGrid>
              <a:tr h="384048">
                <a:tc>
                  <a:txBody>
                    <a:bodyPr wrap="square"/>
                    <a:lstStyle/>
                    <a:p>
                      <a:pPr algn="l"/>
                      <a:r>
                        <a:rPr sz="1300" b="1" i="0">
                          <a:solidFill>
                            <a:srgbClr val="FFFFFF"/>
                          </a:solidFill>
                          <a:latin typeface="Segoe UI"/>
                        </a:rPr>
                        <a:t>Stage</a:t>
                      </a:r>
                    </a:p>
                  </a:txBody>
                  <a:tcPr marL="73152" marR="54864" marT="27432" marB="27432" anchor="ctr">
                    <a:solidFill>
                      <a:srgbClr val="263552"/>
                    </a:solidFill>
                  </a:tcPr>
                </a:tc>
                <a:tc>
                  <a:txBody>
                    <a:bodyPr wrap="square"/>
                    <a:lstStyle/>
                    <a:p>
                      <a:pPr algn="l"/>
                      <a:r>
                        <a:rPr sz="1300" b="1" i="0">
                          <a:solidFill>
                            <a:srgbClr val="FFFFFF"/>
                          </a:solidFill>
                          <a:latin typeface="Segoe UI"/>
                        </a:rPr>
                        <a:t>Command</a:t>
                      </a:r>
                    </a:p>
                  </a:txBody>
                  <a:tcPr marL="73152" marR="54864" marT="27432" marB="27432" anchor="ctr">
                    <a:solidFill>
                      <a:srgbClr val="263552"/>
                    </a:solidFill>
                  </a:tcPr>
                </a:tc>
                <a:tc>
                  <a:txBody>
                    <a:bodyPr wrap="square"/>
                    <a:lstStyle/>
                    <a:p>
                      <a:pPr algn="l"/>
                      <a:r>
                        <a:rPr sz="1300" b="1" i="0">
                          <a:solidFill>
                            <a:srgbClr val="FFFFFF"/>
                          </a:solidFill>
                          <a:latin typeface="Segoe UI"/>
                        </a:rPr>
                        <a:t>In → Out</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1</a:t>
                      </a:r>
                    </a:p>
                  </a:txBody>
                  <a:tcPr marL="73152" marR="54864" marT="27432" marB="27432" anchor="ctr">
                    <a:solidFill>
                      <a:srgbClr val="18233D"/>
                    </a:solidFill>
                  </a:tcPr>
                </a:tc>
                <a:tc>
                  <a:txBody>
                    <a:bodyPr wrap="square"/>
                    <a:lstStyle/>
                    <a:p>
                      <a:pPr algn="l"/>
                      <a:r>
                        <a:rPr sz="1250" b="0" i="0">
                          <a:solidFill>
                            <a:srgbClr val="D4DEEA"/>
                          </a:solidFill>
                          <a:latin typeface="Segoe UI"/>
                        </a:rPr>
                        <a:t>prepare</a:t>
                      </a:r>
                    </a:p>
                  </a:txBody>
                  <a:tcPr marL="73152" marR="54864" marT="27432" marB="27432" anchor="ctr">
                    <a:solidFill>
                      <a:srgbClr val="18233D"/>
                    </a:solidFill>
                  </a:tcPr>
                </a:tc>
                <a:tc>
                  <a:txBody>
                    <a:bodyPr wrap="square"/>
                    <a:lstStyle/>
                    <a:p>
                      <a:pPr algn="l"/>
                      <a:r>
                        <a:rPr sz="1250" b="0" i="0">
                          <a:solidFill>
                            <a:srgbClr val="D4DEEA"/>
                          </a:solidFill>
                          <a:latin typeface="Segoe UI"/>
                        </a:rPr>
                        <a:t>repo URL/path → source + CodeQL DB + context CSVs</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2</a:t>
                      </a:r>
                    </a:p>
                  </a:txBody>
                  <a:tcPr marL="73152" marR="54864" marT="27432" marB="27432" anchor="ctr">
                    <a:solidFill>
                      <a:srgbClr val="131D33"/>
                    </a:solidFill>
                  </a:tcPr>
                </a:tc>
                <a:tc>
                  <a:txBody>
                    <a:bodyPr wrap="square"/>
                    <a:lstStyle/>
                    <a:p>
                      <a:pPr algn="l"/>
                      <a:r>
                        <a:rPr sz="1250" b="0" i="0">
                          <a:solidFill>
                            <a:srgbClr val="D4DEEA"/>
                          </a:solidFill>
                          <a:latin typeface="Segoe UI"/>
                        </a:rPr>
                        <a:t>analyze</a:t>
                      </a:r>
                    </a:p>
                  </a:txBody>
                  <a:tcPr marL="73152" marR="54864" marT="27432" marB="27432" anchor="ctr">
                    <a:solidFill>
                      <a:srgbClr val="131D33"/>
                    </a:solidFill>
                  </a:tcPr>
                </a:tc>
                <a:tc>
                  <a:txBody>
                    <a:bodyPr wrap="square"/>
                    <a:lstStyle/>
                    <a:p>
                      <a:pPr algn="l"/>
                      <a:r>
                        <a:rPr sz="1250" b="0" i="0">
                          <a:solidFill>
                            <a:srgbClr val="D4DEEA"/>
                          </a:solidFill>
                          <a:latin typeface="Segoe UI"/>
                        </a:rPr>
                        <a:t>DB/source → SARIF (CodeQL / Semgrep)</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3</a:t>
                      </a:r>
                    </a:p>
                  </a:txBody>
                  <a:tcPr marL="73152" marR="54864" marT="27432" marB="27432" anchor="ctr">
                    <a:solidFill>
                      <a:srgbClr val="18233D"/>
                    </a:solidFill>
                  </a:tcPr>
                </a:tc>
                <a:tc>
                  <a:txBody>
                    <a:bodyPr wrap="square"/>
                    <a:lstStyle/>
                    <a:p>
                      <a:pPr algn="l"/>
                      <a:r>
                        <a:rPr sz="1250" b="0" i="0">
                          <a:solidFill>
                            <a:srgbClr val="D4DEEA"/>
                          </a:solidFill>
                          <a:latin typeface="Segoe UI"/>
                        </a:rPr>
                        <a:t>verify</a:t>
                      </a:r>
                    </a:p>
                  </a:txBody>
                  <a:tcPr marL="73152" marR="54864" marT="27432" marB="27432" anchor="ctr">
                    <a:solidFill>
                      <a:srgbClr val="18233D"/>
                    </a:solidFill>
                  </a:tcPr>
                </a:tc>
                <a:tc>
                  <a:txBody>
                    <a:bodyPr wrap="square"/>
                    <a:lstStyle/>
                    <a:p>
                      <a:pPr algn="l"/>
                      <a:r>
                        <a:rPr sz="1250" b="0" i="0">
                          <a:solidFill>
                            <a:srgbClr val="D4DEEA"/>
                          </a:solidFill>
                          <a:latin typeface="Segoe UI"/>
                        </a:rPr>
                        <a:t>SARIF + context → verdicts (TP/FP/NMD + confidence)</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4</a:t>
                      </a:r>
                    </a:p>
                  </a:txBody>
                  <a:tcPr marL="73152" marR="54864" marT="27432" marB="27432" anchor="ctr">
                    <a:solidFill>
                      <a:srgbClr val="131D33"/>
                    </a:solidFill>
                  </a:tcPr>
                </a:tc>
                <a:tc>
                  <a:txBody>
                    <a:bodyPr wrap="square"/>
                    <a:lstStyle/>
                    <a:p>
                      <a:pPr algn="l"/>
                      <a:r>
                        <a:rPr sz="1250" b="0" i="0">
                          <a:solidFill>
                            <a:srgbClr val="D4DEEA"/>
                          </a:solidFill>
                          <a:latin typeface="Segoe UI"/>
                        </a:rPr>
                        <a:t>report</a:t>
                      </a:r>
                    </a:p>
                  </a:txBody>
                  <a:tcPr marL="73152" marR="54864" marT="27432" marB="27432" anchor="ctr">
                    <a:solidFill>
                      <a:srgbClr val="131D33"/>
                    </a:solidFill>
                  </a:tcPr>
                </a:tc>
                <a:tc>
                  <a:txBody>
                    <a:bodyPr wrap="square"/>
                    <a:lstStyle/>
                    <a:p>
                      <a:pPr algn="l"/>
                      <a:r>
                        <a:rPr sz="1250" b="0" i="0">
                          <a:solidFill>
                            <a:srgbClr val="D4DEEA"/>
                          </a:solidFill>
                          <a:latin typeface="Segoe UI"/>
                        </a:rPr>
                        <a:t>verdicts → Markdown report (EN / VI)</a:t>
                      </a:r>
                    </a:p>
                  </a:txBody>
                  <a:tcPr marL="73152" marR="54864" marT="27432" marB="27432" anchor="ctr">
                    <a:solidFill>
                      <a:srgbClr val="131D33"/>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The pipeline, as a flow</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37</a:t>
            </a:r>
          </a:p>
        </p:txBody>
      </p:sp>
      <p:sp>
        <p:nvSpPr>
          <p:cNvPr id="8" name="Rounded Rectangle 7"/>
          <p:cNvSpPr/>
          <p:nvPr/>
        </p:nvSpPr>
        <p:spPr>
          <a:xfrm>
            <a:off x="640080" y="2240280"/>
            <a:ext cx="2468880" cy="13716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2240280"/>
            <a:ext cx="2468880" cy="109728"/>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386584"/>
            <a:ext cx="2468880" cy="12252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600" b="1" i="0">
                <a:solidFill>
                  <a:srgbClr val="F2F6FB"/>
                </a:solidFill>
                <a:latin typeface="Segoe UI"/>
              </a:rPr>
              <a:t>1 · prepare</a:t>
            </a:r>
          </a:p>
          <a:p>
            <a:pPr algn="ctr">
              <a:spcAft>
                <a:spcPts val="200"/>
              </a:spcAft>
            </a:pPr>
            <a:r>
              <a:rPr sz="1100" b="0" i="0">
                <a:solidFill>
                  <a:srgbClr val="9DB0C6"/>
                </a:solidFill>
                <a:latin typeface="Segoe UI"/>
              </a:rPr>
              <a:t>clone + CodeQL DB</a:t>
            </a:r>
          </a:p>
          <a:p>
            <a:pPr algn="ctr">
              <a:spcAft>
                <a:spcPts val="200"/>
              </a:spcAft>
            </a:pPr>
            <a:r>
              <a:rPr sz="1100" b="0" i="0">
                <a:solidFill>
                  <a:srgbClr val="9DB0C6"/>
                </a:solidFill>
                <a:latin typeface="Segoe UI"/>
              </a:rPr>
              <a:t>+ context CSVs</a:t>
            </a:r>
          </a:p>
        </p:txBody>
      </p:sp>
      <p:sp>
        <p:nvSpPr>
          <p:cNvPr id="11" name="Rounded Rectangle 10"/>
          <p:cNvSpPr/>
          <p:nvPr/>
        </p:nvSpPr>
        <p:spPr>
          <a:xfrm>
            <a:off x="3675888" y="2240280"/>
            <a:ext cx="2468880" cy="13716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75888" y="2240280"/>
            <a:ext cx="2468880" cy="109728"/>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5888" y="2386584"/>
            <a:ext cx="2468880" cy="12252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600" b="1" i="0">
                <a:solidFill>
                  <a:srgbClr val="F2F6FB"/>
                </a:solidFill>
                <a:latin typeface="Segoe UI"/>
              </a:rPr>
              <a:t>2 · analyze</a:t>
            </a:r>
          </a:p>
          <a:p>
            <a:pPr algn="ctr">
              <a:spcAft>
                <a:spcPts val="200"/>
              </a:spcAft>
            </a:pPr>
            <a:r>
              <a:rPr sz="1100" b="0" i="0">
                <a:solidFill>
                  <a:srgbClr val="9DB0C6"/>
                </a:solidFill>
                <a:latin typeface="Segoe UI"/>
              </a:rPr>
              <a:t>CodeQL / Semgrep</a:t>
            </a:r>
          </a:p>
          <a:p>
            <a:pPr algn="ctr">
              <a:spcAft>
                <a:spcPts val="200"/>
              </a:spcAft>
            </a:pPr>
            <a:r>
              <a:rPr sz="1100" b="0" i="0">
                <a:solidFill>
                  <a:srgbClr val="9DB0C6"/>
                </a:solidFill>
                <a:latin typeface="Segoe UI"/>
              </a:rPr>
              <a:t>→ SARIF</a:t>
            </a:r>
          </a:p>
        </p:txBody>
      </p:sp>
      <p:sp>
        <p:nvSpPr>
          <p:cNvPr id="14" name="Rounded Rectangle 13"/>
          <p:cNvSpPr/>
          <p:nvPr/>
        </p:nvSpPr>
        <p:spPr>
          <a:xfrm>
            <a:off x="6711696" y="2240280"/>
            <a:ext cx="2468880" cy="13716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11696" y="2240280"/>
            <a:ext cx="2468880" cy="109728"/>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11696" y="2386584"/>
            <a:ext cx="2468880" cy="12252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600" b="1" i="0">
                <a:solidFill>
                  <a:srgbClr val="F2F6FB"/>
                </a:solidFill>
                <a:latin typeface="Segoe UI"/>
              </a:rPr>
              <a:t>3 · verify</a:t>
            </a:r>
          </a:p>
          <a:p>
            <a:pPr algn="ctr">
              <a:spcAft>
                <a:spcPts val="200"/>
              </a:spcAft>
            </a:pPr>
            <a:r>
              <a:rPr sz="1100" b="0" i="0">
                <a:solidFill>
                  <a:srgbClr val="9DB0C6"/>
                </a:solidFill>
                <a:latin typeface="Segoe UI"/>
              </a:rPr>
              <a:t>LLM triage →</a:t>
            </a:r>
          </a:p>
          <a:p>
            <a:pPr algn="ctr">
              <a:spcAft>
                <a:spcPts val="200"/>
              </a:spcAft>
            </a:pPr>
            <a:r>
              <a:rPr sz="1100" b="0" i="0">
                <a:solidFill>
                  <a:srgbClr val="9DB0C6"/>
                </a:solidFill>
                <a:latin typeface="Segoe UI"/>
              </a:rPr>
              <a:t>verdicts</a:t>
            </a:r>
          </a:p>
        </p:txBody>
      </p:sp>
      <p:sp>
        <p:nvSpPr>
          <p:cNvPr id="17" name="Rounded Rectangle 16"/>
          <p:cNvSpPr/>
          <p:nvPr/>
        </p:nvSpPr>
        <p:spPr>
          <a:xfrm>
            <a:off x="9747504" y="2240280"/>
            <a:ext cx="2468880" cy="13716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47504" y="2240280"/>
            <a:ext cx="2468880" cy="109728"/>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747504" y="2386584"/>
            <a:ext cx="2468880" cy="122529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600" b="1" i="0">
                <a:solidFill>
                  <a:srgbClr val="F2F6FB"/>
                </a:solidFill>
                <a:latin typeface="Segoe UI"/>
              </a:rPr>
              <a:t>4 · report</a:t>
            </a:r>
          </a:p>
          <a:p>
            <a:pPr algn="ctr">
              <a:spcAft>
                <a:spcPts val="200"/>
              </a:spcAft>
            </a:pPr>
            <a:r>
              <a:rPr sz="1100" b="0" i="0">
                <a:solidFill>
                  <a:srgbClr val="9DB0C6"/>
                </a:solidFill>
                <a:latin typeface="Segoe UI"/>
              </a:rPr>
              <a:t>Markdown report</a:t>
            </a:r>
          </a:p>
          <a:p>
            <a:pPr algn="ctr">
              <a:spcAft>
                <a:spcPts val="200"/>
              </a:spcAft>
            </a:pPr>
            <a:r>
              <a:rPr sz="1100" b="0" i="0">
                <a:solidFill>
                  <a:srgbClr val="9DB0C6"/>
                </a:solidFill>
                <a:latin typeface="Segoe UI"/>
              </a:rPr>
              <a:t>EN / VI</a:t>
            </a:r>
          </a:p>
        </p:txBody>
      </p:sp>
      <p:cxnSp>
        <p:nvCxnSpPr>
          <p:cNvPr id="20" name="Connector 19"/>
          <p:cNvCxnSpPr/>
          <p:nvPr/>
        </p:nvCxnSpPr>
        <p:spPr>
          <a:xfrm>
            <a:off x="3108960" y="2926080"/>
            <a:ext cx="566928" cy="0"/>
          </a:xfrm>
          <a:prstGeom prst="line">
            <a:avLst/>
          </a:prstGeom>
          <a:ln w="31750">
            <a:solidFill>
              <a:srgbClr val="F9731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144768" y="2926080"/>
            <a:ext cx="566928" cy="0"/>
          </a:xfrm>
          <a:prstGeom prst="line">
            <a:avLst/>
          </a:prstGeom>
          <a:ln w="31750">
            <a:solidFill>
              <a:srgbClr val="F9731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180576" y="2926080"/>
            <a:ext cx="566928" cy="0"/>
          </a:xfrm>
          <a:prstGeom prst="line">
            <a:avLst/>
          </a:prstGeom>
          <a:ln w="31750">
            <a:solidFill>
              <a:srgbClr val="F9731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40080" y="4114800"/>
            <a:ext cx="10972800" cy="457200"/>
          </a:xfrm>
          <a:prstGeom prst="rect">
            <a:avLst/>
          </a:prstGeom>
          <a:noFill/>
        </p:spPr>
        <p:txBody>
          <a:bodyPr wrap="square" anchor="t" lIns="0" rIns="0" tIns="0" bIns="0">
            <a:spAutoFit/>
          </a:bodyPr>
          <a:lstStyle/>
          <a:p>
            <a:pPr algn="l">
              <a:spcAft>
                <a:spcPts val="200"/>
              </a:spcAft>
            </a:pPr>
            <a:r>
              <a:rPr sz="1350" b="1" i="1">
                <a:solidFill>
                  <a:srgbClr val="909CAB"/>
                </a:solidFill>
                <a:latin typeface="Segoe UI"/>
              </a:rPr>
              <a:t>artifacts under  output/&lt;lang&gt;/&lt;repo&gt;/ :</a:t>
            </a:r>
          </a:p>
        </p:txBody>
      </p:sp>
      <p:sp>
        <p:nvSpPr>
          <p:cNvPr id="24" name="Rounded Rectangle 23"/>
          <p:cNvSpPr/>
          <p:nvPr/>
        </p:nvSpPr>
        <p:spPr>
          <a:xfrm>
            <a:off x="640080" y="4617720"/>
            <a:ext cx="2468880" cy="6400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0080" y="4617720"/>
            <a:ext cx="2468880" cy="109728"/>
          </a:xfrm>
          <a:prstGeom prst="roundRect">
            <a:avLst>
              <a:gd name="adj" fmla="val 4500"/>
            </a:avLst>
          </a:prstGeom>
          <a:solidFill>
            <a:srgbClr val="7C8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4764024"/>
            <a:ext cx="2468880"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250" b="1" i="0">
                <a:solidFill>
                  <a:srgbClr val="F2F6FB"/>
                </a:solidFill>
                <a:latin typeface="Segoe UI"/>
              </a:rPr>
              <a:t>database/  +  context/</a:t>
            </a:r>
          </a:p>
        </p:txBody>
      </p:sp>
      <p:sp>
        <p:nvSpPr>
          <p:cNvPr id="27" name="Rounded Rectangle 26"/>
          <p:cNvSpPr/>
          <p:nvPr/>
        </p:nvSpPr>
        <p:spPr>
          <a:xfrm>
            <a:off x="3675888" y="4617720"/>
            <a:ext cx="2468880" cy="6400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675888" y="4617720"/>
            <a:ext cx="2468880" cy="109728"/>
          </a:xfrm>
          <a:prstGeom prst="roundRect">
            <a:avLst>
              <a:gd name="adj" fmla="val 4500"/>
            </a:avLst>
          </a:prstGeom>
          <a:solidFill>
            <a:srgbClr val="7C8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75888" y="4764024"/>
            <a:ext cx="2468880"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250" b="1" i="0">
                <a:solidFill>
                  <a:srgbClr val="F2F6FB"/>
                </a:solidFill>
                <a:latin typeface="Segoe UI"/>
              </a:rPr>
              <a:t>*.sarif</a:t>
            </a:r>
          </a:p>
        </p:txBody>
      </p:sp>
      <p:sp>
        <p:nvSpPr>
          <p:cNvPr id="30" name="Rounded Rectangle 29"/>
          <p:cNvSpPr/>
          <p:nvPr/>
        </p:nvSpPr>
        <p:spPr>
          <a:xfrm>
            <a:off x="6711696" y="4617720"/>
            <a:ext cx="2468880" cy="6400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711696" y="4617720"/>
            <a:ext cx="2468880" cy="109728"/>
          </a:xfrm>
          <a:prstGeom prst="roundRect">
            <a:avLst>
              <a:gd name="adj" fmla="val 4500"/>
            </a:avLst>
          </a:prstGeom>
          <a:solidFill>
            <a:srgbClr val="7C8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711696" y="4764024"/>
            <a:ext cx="2468880"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250" b="1" i="0">
                <a:solidFill>
                  <a:srgbClr val="F2F6FB"/>
                </a:solidFill>
                <a:latin typeface="Segoe UI"/>
              </a:rPr>
              <a:t>verification_results/</a:t>
            </a:r>
          </a:p>
        </p:txBody>
      </p:sp>
      <p:sp>
        <p:nvSpPr>
          <p:cNvPr id="33" name="Rounded Rectangle 32"/>
          <p:cNvSpPr/>
          <p:nvPr/>
        </p:nvSpPr>
        <p:spPr>
          <a:xfrm>
            <a:off x="9747504" y="4617720"/>
            <a:ext cx="2468880" cy="64008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747504" y="4617720"/>
            <a:ext cx="2468880" cy="109728"/>
          </a:xfrm>
          <a:prstGeom prst="roundRect">
            <a:avLst>
              <a:gd name="adj" fmla="val 4500"/>
            </a:avLst>
          </a:prstGeom>
          <a:solidFill>
            <a:srgbClr val="7C8B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47504" y="4764024"/>
            <a:ext cx="2468880" cy="49377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250" b="1" i="0">
                <a:solidFill>
                  <a:srgbClr val="F2F6FB"/>
                </a:solidFill>
                <a:latin typeface="Segoe UI"/>
              </a:rPr>
              <a:t>report.md</a:t>
            </a:r>
          </a:p>
        </p:txBody>
      </p:sp>
      <p:cxnSp>
        <p:nvCxnSpPr>
          <p:cNvPr id="36" name="Connector 35"/>
          <p:cNvCxnSpPr/>
          <p:nvPr/>
        </p:nvCxnSpPr>
        <p:spPr>
          <a:xfrm>
            <a:off x="3108960" y="4937760"/>
            <a:ext cx="566928" cy="0"/>
          </a:xfrm>
          <a:prstGeom prst="line">
            <a:avLst/>
          </a:prstGeom>
          <a:ln w="31750">
            <a:solidFill>
              <a:srgbClr val="7C8BA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144768" y="4937760"/>
            <a:ext cx="566928" cy="0"/>
          </a:xfrm>
          <a:prstGeom prst="line">
            <a:avLst/>
          </a:prstGeom>
          <a:ln w="31750">
            <a:solidFill>
              <a:srgbClr val="7C8BA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180576" y="4937760"/>
            <a:ext cx="566928" cy="0"/>
          </a:xfrm>
          <a:prstGeom prst="line">
            <a:avLst/>
          </a:prstGeom>
          <a:ln w="31750">
            <a:solidFill>
              <a:srgbClr val="7C8BA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Rule profiles: dialing coverage up</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38</a:t>
            </a:r>
          </a:p>
        </p:txBody>
      </p:sp>
      <p:sp>
        <p:nvSpPr>
          <p:cNvPr id="8" name="TextBox 7"/>
          <p:cNvSpPr txBox="1"/>
          <p:nvPr/>
        </p:nvSpPr>
        <p:spPr>
          <a:xfrm>
            <a:off x="640080" y="1133856"/>
            <a:ext cx="10972800" cy="365760"/>
          </a:xfrm>
          <a:prstGeom prst="rect">
            <a:avLst/>
          </a:prstGeom>
          <a:noFill/>
        </p:spPr>
        <p:txBody>
          <a:bodyPr wrap="square" anchor="t" lIns="0" rIns="0" tIns="0" bIns="0">
            <a:spAutoFit/>
          </a:bodyPr>
          <a:lstStyle/>
          <a:p>
            <a:pPr algn="l">
              <a:spcAft>
                <a:spcPts val="200"/>
              </a:spcAft>
            </a:pPr>
            <a:r>
              <a:rPr sz="1400" b="0" i="1">
                <a:solidFill>
                  <a:srgbClr val="909CAB"/>
                </a:solidFill>
                <a:latin typeface="Segoe UI"/>
              </a:rPr>
              <a:t>* standard is the default.</a:t>
            </a:r>
          </a:p>
        </p:txBody>
      </p:sp>
      <p:graphicFrame>
        <p:nvGraphicFramePr>
          <p:cNvPr id="9" name="Table 8"/>
          <p:cNvGraphicFramePr>
            <a:graphicFrameLocks noGrp="1"/>
          </p:cNvGraphicFramePr>
          <p:nvPr/>
        </p:nvGraphicFramePr>
        <p:xfrm>
          <a:off x="640080" y="1627632"/>
          <a:ext cx="10927080" cy="2304288"/>
        </p:xfrm>
        <a:graphic>
          <a:graphicData uri="http://schemas.openxmlformats.org/drawingml/2006/table">
            <a:tbl>
              <a:tblPr>
                <a:tableStyleId>{5C22544A-7EE6-4342-B048-85BDC9FD1C3A}</a:tableStyleId>
              </a:tblPr>
              <a:tblGrid>
                <a:gridCol w="2468880"/>
                <a:gridCol w="3108960"/>
                <a:gridCol w="3703320"/>
                <a:gridCol w="1645920"/>
              </a:tblGrid>
              <a:tr h="384048">
                <a:tc>
                  <a:txBody>
                    <a:bodyPr wrap="square"/>
                    <a:lstStyle/>
                    <a:p>
                      <a:pPr algn="l"/>
                      <a:r>
                        <a:rPr sz="1300" b="1" i="0">
                          <a:solidFill>
                            <a:srgbClr val="FFFFFF"/>
                          </a:solidFill>
                          <a:latin typeface="Segoe UI"/>
                        </a:rPr>
                        <a:t>Profile</a:t>
                      </a:r>
                    </a:p>
                  </a:txBody>
                  <a:tcPr marL="73152" marR="54864" marT="27432" marB="27432" anchor="ctr">
                    <a:solidFill>
                      <a:srgbClr val="263552"/>
                    </a:solidFill>
                  </a:tcPr>
                </a:tc>
                <a:tc>
                  <a:txBody>
                    <a:bodyPr wrap="square"/>
                    <a:lstStyle/>
                    <a:p>
                      <a:pPr algn="l"/>
                      <a:r>
                        <a:rPr sz="1300" b="1" i="0">
                          <a:solidFill>
                            <a:srgbClr val="FFFFFF"/>
                          </a:solidFill>
                          <a:latin typeface="Segoe UI"/>
                        </a:rPr>
                        <a:t>CodeQL suite</a:t>
                      </a:r>
                    </a:p>
                  </a:txBody>
                  <a:tcPr marL="73152" marR="54864" marT="27432" marB="27432" anchor="ctr">
                    <a:solidFill>
                      <a:srgbClr val="263552"/>
                    </a:solidFill>
                  </a:tcPr>
                </a:tc>
                <a:tc>
                  <a:txBody>
                    <a:bodyPr wrap="square"/>
                    <a:lstStyle/>
                    <a:p>
                      <a:pPr algn="l"/>
                      <a:r>
                        <a:rPr sz="1300" b="1" i="0">
                          <a:solidFill>
                            <a:srgbClr val="FFFFFF"/>
                          </a:solidFill>
                          <a:latin typeface="Segoe UI"/>
                        </a:rPr>
                        <a:t>Semgrep packs</a:t>
                      </a:r>
                    </a:p>
                  </a:txBody>
                  <a:tcPr marL="73152" marR="54864" marT="27432" marB="27432" anchor="ctr">
                    <a:solidFill>
                      <a:srgbClr val="263552"/>
                    </a:solidFill>
                  </a:tcPr>
                </a:tc>
                <a:tc>
                  <a:txBody>
                    <a:bodyPr wrap="square"/>
                    <a:lstStyle/>
                    <a:p>
                      <a:pPr algn="l"/>
                      <a:r>
                        <a:rPr sz="1300" b="1" i="0">
                          <a:solidFill>
                            <a:srgbClr val="FFFFFF"/>
                          </a:solidFill>
                          <a:latin typeface="Segoe UI"/>
                        </a:rPr>
                        <a:t>Custom</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standard*</a:t>
                      </a:r>
                    </a:p>
                  </a:txBody>
                  <a:tcPr marL="73152" marR="54864" marT="27432" marB="27432" anchor="ctr">
                    <a:solidFill>
                      <a:srgbClr val="18233D"/>
                    </a:solidFill>
                  </a:tcPr>
                </a:tc>
                <a:tc>
                  <a:txBody>
                    <a:bodyPr wrap="square"/>
                    <a:lstStyle/>
                    <a:p>
                      <a:pPr algn="l"/>
                      <a:r>
                        <a:rPr sz="1250" b="0" i="0">
                          <a:solidFill>
                            <a:srgbClr val="D4DEEA"/>
                          </a:solidFill>
                          <a:latin typeface="Segoe UI"/>
                        </a:rPr>
                        <a:t>security-extended</a:t>
                      </a:r>
                    </a:p>
                  </a:txBody>
                  <a:tcPr marL="73152" marR="54864" marT="27432" marB="27432" anchor="ctr">
                    <a:solidFill>
                      <a:srgbClr val="18233D"/>
                    </a:solidFill>
                  </a:tcPr>
                </a:tc>
                <a:tc>
                  <a:txBody>
                    <a:bodyPr wrap="square"/>
                    <a:lstStyle/>
                    <a:p>
                      <a:pPr algn="l"/>
                      <a:r>
                        <a:rPr sz="1250" b="0" i="0">
                          <a:solidFill>
                            <a:srgbClr val="D4DEEA"/>
                          </a:solidFill>
                          <a:latin typeface="Segoe UI"/>
                        </a:rPr>
                        <a:t>auto + per-lang pack</a:t>
                      </a:r>
                    </a:p>
                  </a:txBody>
                  <a:tcPr marL="73152" marR="54864" marT="27432" marB="27432" anchor="ctr">
                    <a:solidFill>
                      <a:srgbClr val="18233D"/>
                    </a:solidFill>
                  </a:tcPr>
                </a:tc>
                <a:tc>
                  <a:txBody>
                    <a:bodyPr wrap="square"/>
                    <a:lstStyle/>
                    <a:p>
                      <a:pPr algn="l"/>
                      <a:r>
                        <a:rPr sz="1250" b="0" i="0">
                          <a:solidFill>
                            <a:srgbClr val="D4DEEA"/>
                          </a:solidFill>
                          <a:latin typeface="Segoe UI"/>
                        </a:rPr>
                        <a:t>—</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extended</a:t>
                      </a:r>
                    </a:p>
                  </a:txBody>
                  <a:tcPr marL="73152" marR="54864" marT="27432" marB="27432" anchor="ctr">
                    <a:solidFill>
                      <a:srgbClr val="131D33"/>
                    </a:solidFill>
                  </a:tcPr>
                </a:tc>
                <a:tc>
                  <a:txBody>
                    <a:bodyPr wrap="square"/>
                    <a:lstStyle/>
                    <a:p>
                      <a:pPr algn="l"/>
                      <a:r>
                        <a:rPr sz="1250" b="0" i="0">
                          <a:solidFill>
                            <a:srgbClr val="D4DEEA"/>
                          </a:solidFill>
                          <a:latin typeface="Segoe UI"/>
                        </a:rPr>
                        <a:t>security-extended</a:t>
                      </a:r>
                    </a:p>
                  </a:txBody>
                  <a:tcPr marL="73152" marR="54864" marT="27432" marB="27432" anchor="ctr">
                    <a:solidFill>
                      <a:srgbClr val="131D33"/>
                    </a:solidFill>
                  </a:tcPr>
                </a:tc>
                <a:tc>
                  <a:txBody>
                    <a:bodyPr wrap="square"/>
                    <a:lstStyle/>
                    <a:p>
                      <a:pPr algn="l"/>
                      <a:r>
                        <a:rPr sz="1250" b="0" i="0">
                          <a:solidFill>
                            <a:srgbClr val="D4DEEA"/>
                          </a:solidFill>
                          <a:latin typeface="Segoe UI"/>
                        </a:rPr>
                        <a:t>+ security-audit, secrets</a:t>
                      </a:r>
                    </a:p>
                  </a:txBody>
                  <a:tcPr marL="73152" marR="54864" marT="27432" marB="27432" anchor="ctr">
                    <a:solidFill>
                      <a:srgbClr val="131D33"/>
                    </a:solidFill>
                  </a:tcPr>
                </a:tc>
                <a:tc>
                  <a:txBody>
                    <a:bodyPr wrap="square"/>
                    <a:lstStyle/>
                    <a:p>
                      <a:pPr algn="l"/>
                      <a:r>
                        <a:rPr sz="1250" b="0" i="0">
                          <a:solidFill>
                            <a:srgbClr val="D4DEEA"/>
                          </a:solidFill>
                          <a:latin typeface="Segoe UI"/>
                        </a:rPr>
                        <a:t>—</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maximum</a:t>
                      </a:r>
                    </a:p>
                  </a:txBody>
                  <a:tcPr marL="73152" marR="54864" marT="27432" marB="27432" anchor="ctr">
                    <a:solidFill>
                      <a:srgbClr val="18233D"/>
                    </a:solidFill>
                  </a:tcPr>
                </a:tc>
                <a:tc>
                  <a:txBody>
                    <a:bodyPr wrap="square"/>
                    <a:lstStyle/>
                    <a:p>
                      <a:pPr algn="l"/>
                      <a:r>
                        <a:rPr sz="1250" b="0" i="0">
                          <a:solidFill>
                            <a:srgbClr val="D4DEEA"/>
                          </a:solidFill>
                          <a:latin typeface="Segoe UI"/>
                        </a:rPr>
                        <a:t>security-and-quality</a:t>
                      </a:r>
                    </a:p>
                  </a:txBody>
                  <a:tcPr marL="73152" marR="54864" marT="27432" marB="27432" anchor="ctr">
                    <a:solidFill>
                      <a:srgbClr val="18233D"/>
                    </a:solidFill>
                  </a:tcPr>
                </a:tc>
                <a:tc>
                  <a:txBody>
                    <a:bodyPr wrap="square"/>
                    <a:lstStyle/>
                    <a:p>
                      <a:pPr algn="l"/>
                      <a:r>
                        <a:rPr sz="1250" b="0" i="0">
                          <a:solidFill>
                            <a:srgbClr val="D4DEEA"/>
                          </a:solidFill>
                          <a:latin typeface="Segoe UI"/>
                        </a:rPr>
                        <a:t>+ owasp-top-ten</a:t>
                      </a:r>
                    </a:p>
                  </a:txBody>
                  <a:tcPr marL="73152" marR="54864" marT="27432" marB="27432" anchor="ctr">
                    <a:solidFill>
                      <a:srgbClr val="18233D"/>
                    </a:solidFill>
                  </a:tcPr>
                </a:tc>
                <a:tc>
                  <a:txBody>
                    <a:bodyPr wrap="square"/>
                    <a:lstStyle/>
                    <a:p>
                      <a:pPr algn="l"/>
                      <a:r>
                        <a:rPr sz="1250" b="0" i="0">
                          <a:solidFill>
                            <a:srgbClr val="D4DEEA"/>
                          </a:solidFill>
                          <a:latin typeface="Segoe UI"/>
                        </a:rPr>
                        <a:t>—</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extended-registry</a:t>
                      </a:r>
                    </a:p>
                  </a:txBody>
                  <a:tcPr marL="73152" marR="54864" marT="27432" marB="27432" anchor="ctr">
                    <a:solidFill>
                      <a:srgbClr val="131D33"/>
                    </a:solidFill>
                  </a:tcPr>
                </a:tc>
                <a:tc>
                  <a:txBody>
                    <a:bodyPr wrap="square"/>
                    <a:lstStyle/>
                    <a:p>
                      <a:pPr algn="l"/>
                      <a:r>
                        <a:rPr sz="1250" b="0" i="0">
                          <a:solidFill>
                            <a:srgbClr val="D4DEEA"/>
                          </a:solidFill>
                          <a:latin typeface="Segoe UI"/>
                        </a:rPr>
                        <a:t>security-and-quality</a:t>
                      </a:r>
                    </a:p>
                  </a:txBody>
                  <a:tcPr marL="73152" marR="54864" marT="27432" marB="27432" anchor="ctr">
                    <a:solidFill>
                      <a:srgbClr val="131D33"/>
                    </a:solidFill>
                  </a:tcPr>
                </a:tc>
                <a:tc>
                  <a:txBody>
                    <a:bodyPr wrap="square"/>
                    <a:lstStyle/>
                    <a:p>
                      <a:pPr algn="l"/>
                      <a:r>
                        <a:rPr sz="1250" b="0" i="0">
                          <a:solidFill>
                            <a:srgbClr val="D4DEEA"/>
                          </a:solidFill>
                          <a:latin typeface="Segoe UI"/>
                        </a:rPr>
                        <a:t>8 universal + per-lang</a:t>
                      </a:r>
                    </a:p>
                  </a:txBody>
                  <a:tcPr marL="73152" marR="54864" marT="27432" marB="27432" anchor="ctr">
                    <a:solidFill>
                      <a:srgbClr val="131D33"/>
                    </a:solidFill>
                  </a:tcPr>
                </a:tc>
                <a:tc>
                  <a:txBody>
                    <a:bodyPr wrap="square"/>
                    <a:lstStyle/>
                    <a:p>
                      <a:pPr algn="l"/>
                      <a:r>
                        <a:rPr sz="1250" b="0" i="0">
                          <a:solidFill>
                            <a:srgbClr val="D4DEEA"/>
                          </a:solidFill>
                          <a:latin typeface="Segoe UI"/>
                        </a:rPr>
                        <a:t>—</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full</a:t>
                      </a:r>
                    </a:p>
                  </a:txBody>
                  <a:tcPr marL="73152" marR="54864" marT="27432" marB="27432" anchor="ctr">
                    <a:solidFill>
                      <a:srgbClr val="18233D"/>
                    </a:solidFill>
                  </a:tcPr>
                </a:tc>
                <a:tc>
                  <a:txBody>
                    <a:bodyPr wrap="square"/>
                    <a:lstStyle/>
                    <a:p>
                      <a:pPr algn="l"/>
                      <a:r>
                        <a:rPr sz="1250" b="0" i="0">
                          <a:solidFill>
                            <a:srgbClr val="D4DEEA"/>
                          </a:solidFill>
                          <a:latin typeface="Segoe UI"/>
                        </a:rPr>
                        <a:t>security-and-quality</a:t>
                      </a:r>
                    </a:p>
                  </a:txBody>
                  <a:tcPr marL="73152" marR="54864" marT="27432" marB="27432" anchor="ctr">
                    <a:solidFill>
                      <a:srgbClr val="18233D"/>
                    </a:solidFill>
                  </a:tcPr>
                </a:tc>
                <a:tc>
                  <a:txBody>
                    <a:bodyPr wrap="square"/>
                    <a:lstStyle/>
                    <a:p>
                      <a:pPr algn="l"/>
                      <a:r>
                        <a:rPr sz="1250" b="0" i="0">
                          <a:solidFill>
                            <a:srgbClr val="D4DEEA"/>
                          </a:solidFill>
                          <a:latin typeface="Segoe UI"/>
                        </a:rPr>
                        <a:t>extended-registry packs</a:t>
                      </a:r>
                    </a:p>
                  </a:txBody>
                  <a:tcPr marL="73152" marR="54864" marT="27432" marB="27432" anchor="ctr">
                    <a:solidFill>
                      <a:srgbClr val="18233D"/>
                    </a:solidFill>
                  </a:tcPr>
                </a:tc>
                <a:tc>
                  <a:txBody>
                    <a:bodyPr wrap="square"/>
                    <a:lstStyle/>
                    <a:p>
                      <a:pPr algn="l"/>
                      <a:r>
                        <a:rPr sz="1250" b="0" i="0">
                          <a:solidFill>
                            <a:srgbClr val="D4DEEA"/>
                          </a:solidFill>
                          <a:latin typeface="Segoe UI"/>
                        </a:rPr>
                        <a:t>+ in-repo custom</a:t>
                      </a:r>
                    </a:p>
                  </a:txBody>
                  <a:tcPr marL="73152" marR="54864" marT="27432" marB="27432" anchor="ctr">
                    <a:solidFill>
                      <a:srgbClr val="18233D"/>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What the suites &amp; packs actually contain</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39</a:t>
            </a:r>
          </a:p>
        </p:txBody>
      </p:sp>
      <p:sp>
        <p:nvSpPr>
          <p:cNvPr id="8" name="TextBox 7"/>
          <p:cNvSpPr txBox="1"/>
          <p:nvPr/>
        </p:nvSpPr>
        <p:spPr>
          <a:xfrm>
            <a:off x="640080" y="1133856"/>
            <a:ext cx="10972800" cy="365760"/>
          </a:xfrm>
          <a:prstGeom prst="rect">
            <a:avLst/>
          </a:prstGeom>
          <a:noFill/>
        </p:spPr>
        <p:txBody>
          <a:bodyPr wrap="square" anchor="t" lIns="0" rIns="0" tIns="0" bIns="0">
            <a:spAutoFit/>
          </a:bodyPr>
          <a:lstStyle/>
          <a:p>
            <a:pPr algn="l">
              <a:spcAft>
                <a:spcPts val="200"/>
              </a:spcAft>
            </a:pPr>
            <a:r>
              <a:rPr sz="1400" b="0" i="1">
                <a:solidFill>
                  <a:srgbClr val="909CAB"/>
                </a:solidFill>
                <a:latin typeface="Segoe UI"/>
              </a:rPr>
              <a:t>A profile is just a preset bundle of one CodeQL suite + a set of Semgrep packs.</a:t>
            </a:r>
          </a:p>
        </p:txBody>
      </p:sp>
      <p:graphicFrame>
        <p:nvGraphicFramePr>
          <p:cNvPr id="9" name="Table 8"/>
          <p:cNvGraphicFramePr>
            <a:graphicFrameLocks noGrp="1"/>
          </p:cNvGraphicFramePr>
          <p:nvPr/>
        </p:nvGraphicFramePr>
        <p:xfrm>
          <a:off x="640080" y="1627632"/>
          <a:ext cx="10927080" cy="3072384"/>
        </p:xfrm>
        <a:graphic>
          <a:graphicData uri="http://schemas.openxmlformats.org/drawingml/2006/table">
            <a:tbl>
              <a:tblPr>
                <a:tableStyleId>{5C22544A-7EE6-4342-B048-85BDC9FD1C3A}</a:tableStyleId>
              </a:tblPr>
              <a:tblGrid>
                <a:gridCol w="4023360"/>
                <a:gridCol w="6903720"/>
              </a:tblGrid>
              <a:tr h="384048">
                <a:tc>
                  <a:txBody>
                    <a:bodyPr wrap="square"/>
                    <a:lstStyle/>
                    <a:p>
                      <a:pPr algn="l"/>
                      <a:r>
                        <a:rPr sz="1300" b="1" i="0">
                          <a:solidFill>
                            <a:srgbClr val="FFFFFF"/>
                          </a:solidFill>
                          <a:latin typeface="Segoe UI"/>
                        </a:rPr>
                        <a:t>Suite / pack</a:t>
                      </a:r>
                    </a:p>
                  </a:txBody>
                  <a:tcPr marL="73152" marR="54864" marT="27432" marB="27432" anchor="ctr">
                    <a:solidFill>
                      <a:srgbClr val="263552"/>
                    </a:solidFill>
                  </a:tcPr>
                </a:tc>
                <a:tc>
                  <a:txBody>
                    <a:bodyPr wrap="square"/>
                    <a:lstStyle/>
                    <a:p>
                      <a:pPr algn="l"/>
                      <a:r>
                        <a:rPr sz="1300" b="1" i="0">
                          <a:solidFill>
                            <a:srgbClr val="FFFFFF"/>
                          </a:solidFill>
                          <a:latin typeface="Segoe UI"/>
                        </a:rPr>
                        <a:t>What it is</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CodeQL · security-extended</a:t>
                      </a:r>
                    </a:p>
                  </a:txBody>
                  <a:tcPr marL="73152" marR="54864" marT="27432" marB="27432" anchor="ctr">
                    <a:solidFill>
                      <a:srgbClr val="18233D"/>
                    </a:solidFill>
                  </a:tcPr>
                </a:tc>
                <a:tc>
                  <a:txBody>
                    <a:bodyPr wrap="square"/>
                    <a:lstStyle/>
                    <a:p>
                      <a:pPr algn="l"/>
                      <a:r>
                        <a:rPr sz="1250" b="0" i="0">
                          <a:solidFill>
                            <a:srgbClr val="D4DEEA"/>
                          </a:solidFill>
                          <a:latin typeface="Segoe UI"/>
                        </a:rPr>
                        <a:t>High-confidence security queries — fewer FPs, the safe default</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CodeQL · security-and-quality</a:t>
                      </a:r>
                    </a:p>
                  </a:txBody>
                  <a:tcPr marL="73152" marR="54864" marT="27432" marB="27432" anchor="ctr">
                    <a:solidFill>
                      <a:srgbClr val="131D33"/>
                    </a:solidFill>
                  </a:tcPr>
                </a:tc>
                <a:tc>
                  <a:txBody>
                    <a:bodyPr wrap="square"/>
                    <a:lstStyle/>
                    <a:p>
                      <a:pPr algn="l"/>
                      <a:r>
                        <a:rPr sz="1250" b="0" i="0">
                          <a:solidFill>
                            <a:srgbClr val="D4DEEA"/>
                          </a:solidFill>
                          <a:latin typeface="Segoe UI"/>
                        </a:rPr>
                        <a:t>security-extended + maintainability/quality queries — broader, noisier</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Semgrep · auto</a:t>
                      </a:r>
                    </a:p>
                  </a:txBody>
                  <a:tcPr marL="73152" marR="54864" marT="27432" marB="27432" anchor="ctr">
                    <a:solidFill>
                      <a:srgbClr val="18233D"/>
                    </a:solidFill>
                  </a:tcPr>
                </a:tc>
                <a:tc>
                  <a:txBody>
                    <a:bodyPr wrap="square"/>
                    <a:lstStyle/>
                    <a:p>
                      <a:pPr algn="l"/>
                      <a:r>
                        <a:rPr sz="1250" b="0" i="0">
                          <a:solidFill>
                            <a:srgbClr val="D4DEEA"/>
                          </a:solidFill>
                          <a:latin typeface="Segoe UI"/>
                        </a:rPr>
                        <a:t>Registry auto-detects languages and applies matching rulesets</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Semgrep · p/security-audit</a:t>
                      </a:r>
                    </a:p>
                  </a:txBody>
                  <a:tcPr marL="73152" marR="54864" marT="27432" marB="27432" anchor="ctr">
                    <a:solidFill>
                      <a:srgbClr val="131D33"/>
                    </a:solidFill>
                  </a:tcPr>
                </a:tc>
                <a:tc>
                  <a:txBody>
                    <a:bodyPr wrap="square"/>
                    <a:lstStyle/>
                    <a:p>
                      <a:pPr algn="l"/>
                      <a:r>
                        <a:rPr sz="1250" b="0" i="0">
                          <a:solidFill>
                            <a:srgbClr val="D4DEEA"/>
                          </a:solidFill>
                          <a:latin typeface="Segoe UI"/>
                        </a:rPr>
                        <a:t>Broad cross-language security audit ruleset</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Semgrep · p/secrets</a:t>
                      </a:r>
                    </a:p>
                  </a:txBody>
                  <a:tcPr marL="73152" marR="54864" marT="27432" marB="27432" anchor="ctr">
                    <a:solidFill>
                      <a:srgbClr val="18233D"/>
                    </a:solidFill>
                  </a:tcPr>
                </a:tc>
                <a:tc>
                  <a:txBody>
                    <a:bodyPr wrap="square"/>
                    <a:lstStyle/>
                    <a:p>
                      <a:pPr algn="l"/>
                      <a:r>
                        <a:rPr sz="1250" b="0" i="0">
                          <a:solidFill>
                            <a:srgbClr val="D4DEEA"/>
                          </a:solidFill>
                          <a:latin typeface="Segoe UI"/>
                        </a:rPr>
                        <a:t>Hardcoded credentials, API keys, tokens</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Semgrep · p/owasp-top-ten</a:t>
                      </a:r>
                    </a:p>
                  </a:txBody>
                  <a:tcPr marL="73152" marR="54864" marT="27432" marB="27432" anchor="ctr">
                    <a:solidFill>
                      <a:srgbClr val="131D33"/>
                    </a:solidFill>
                  </a:tcPr>
                </a:tc>
                <a:tc>
                  <a:txBody>
                    <a:bodyPr wrap="square"/>
                    <a:lstStyle/>
                    <a:p>
                      <a:pPr algn="l"/>
                      <a:r>
                        <a:rPr sz="1250" b="0" i="0">
                          <a:solidFill>
                            <a:srgbClr val="D4DEEA"/>
                          </a:solidFill>
                          <a:latin typeface="Segoe UI"/>
                        </a:rPr>
                        <a:t>Rules grouped by the OWASP Top-10 categories</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Semgrep · per-language</a:t>
                      </a:r>
                    </a:p>
                  </a:txBody>
                  <a:tcPr marL="73152" marR="54864" marT="27432" marB="27432" anchor="ctr">
                    <a:solidFill>
                      <a:srgbClr val="18233D"/>
                    </a:solidFill>
                  </a:tcPr>
                </a:tc>
                <a:tc>
                  <a:txBody>
                    <a:bodyPr wrap="square"/>
                    <a:lstStyle/>
                    <a:p>
                      <a:pPr algn="l"/>
                      <a:r>
                        <a:rPr sz="1250" b="0" i="0">
                          <a:solidFill>
                            <a:srgbClr val="D4DEEA"/>
                          </a:solidFill>
                          <a:latin typeface="Segoe UI"/>
                        </a:rPr>
                        <a:t>e.g. p/gosec (Go), p/django/p/flask (Py), p/nodejs (JS)</a:t>
                      </a:r>
                    </a:p>
                  </a:txBody>
                  <a:tcPr marL="73152" marR="54864" marT="27432" marB="27432" anchor="ctr">
                    <a:solidFill>
                      <a:srgbClr val="18233D"/>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Custom rules (the full profile)</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40</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Custom CodeQL — config/codeql-custom/&lt;lang&gt;/src/*.ql  (65 total).</a:t>
            </a:r>
          </a:p>
          <a:p>
            <a:pPr lvl="1">
              <a:spcAft>
                <a:spcPts val="900"/>
              </a:spcAft>
            </a:pPr>
            <a:r>
              <a:rPr sz="1800" b="1" i="0">
                <a:solidFill>
                  <a:srgbClr val="909CAB"/>
                </a:solidFill>
                <a:latin typeface="Segoe UI"/>
              </a:rPr>
              <a:t>–  </a:t>
            </a:r>
            <a:r>
              <a:rPr sz="1800" b="0" i="0">
                <a:solidFill>
                  <a:srgbClr val="9DB0C6"/>
                </a:solidFill>
                <a:latin typeface="Segoe UI"/>
              </a:rPr>
              <a:t>e.g. cpp/use-after-free, cpp/double-free; @id matches a question key exactly.</a:t>
            </a:r>
          </a:p>
          <a:p>
            <a:pPr>
              <a:spcAft>
                <a:spcPts val="900"/>
              </a:spcAft>
            </a:pPr>
            <a:r>
              <a:rPr sz="2100" b="1" i="0">
                <a:solidFill>
                  <a:srgbClr val="F97316"/>
                </a:solidFill>
                <a:latin typeface="Segoe UI"/>
              </a:rPr>
              <a:t>▸  </a:t>
            </a:r>
            <a:r>
              <a:rPr sz="2100" b="1" i="0">
                <a:solidFill>
                  <a:srgbClr val="D4DEEA"/>
                </a:solidFill>
                <a:latin typeface="Segoe UI"/>
              </a:rPr>
              <a:t>Custom Semgrep — config/semgrep-custom/&lt;lang&gt;.yaml  (108 total).</a:t>
            </a:r>
          </a:p>
          <a:p>
            <a:pPr lvl="1">
              <a:spcAft>
                <a:spcPts val="900"/>
              </a:spcAft>
            </a:pPr>
            <a:r>
              <a:rPr sz="1800" b="1" i="0">
                <a:solidFill>
                  <a:srgbClr val="909CAB"/>
                </a:solidFill>
                <a:latin typeface="Segoe UI"/>
              </a:rPr>
              <a:t>–  </a:t>
            </a:r>
            <a:r>
              <a:rPr sz="1800" b="0" i="0">
                <a:solidFill>
                  <a:srgbClr val="9DB0C6"/>
                </a:solidFill>
                <a:latin typeface="Segoe UI"/>
              </a:rPr>
              <a:t>e.g. vulnhunterx.cpp.weak-hash; each sets metadata.cwe for routing.</a:t>
            </a:r>
          </a:p>
          <a:p>
            <a:pPr>
              <a:spcAft>
                <a:spcPts val="900"/>
              </a:spcAft>
            </a:pPr>
            <a:r>
              <a:rPr sz="2100" b="1" i="0">
                <a:solidFill>
                  <a:srgbClr val="F97316"/>
                </a:solidFill>
                <a:latin typeface="Segoe UI"/>
              </a:rPr>
              <a:t>▸  </a:t>
            </a:r>
            <a:r>
              <a:rPr sz="2100" b="1" i="0">
                <a:solidFill>
                  <a:srgbClr val="34D399"/>
                </a:solidFill>
                <a:latin typeface="Segoe UI"/>
              </a:rPr>
              <a:t>Counts are computed from config/ at build time — never drift.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Guided questions</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41</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Per-language YAML banks: config/prompts/&lt;lang&gt;_questions.yaml (365 entries).</a:t>
            </a:r>
          </a:p>
          <a:p>
            <a:pPr>
              <a:spcAft>
                <a:spcPts val="900"/>
              </a:spcAft>
            </a:pPr>
            <a:r>
              <a:rPr sz="2100" b="1" i="0">
                <a:solidFill>
                  <a:srgbClr val="F97316"/>
                </a:solidFill>
                <a:latin typeface="Segoe UI"/>
              </a:rPr>
              <a:t>▸  </a:t>
            </a:r>
            <a:r>
              <a:rPr sz="2100" b="1" i="0">
                <a:solidFill>
                  <a:srgbClr val="D4DEEA"/>
                </a:solidFill>
                <a:latin typeface="Segoe UI"/>
              </a:rPr>
              <a:t>Each rule → evidence-anchored questions the LLM must answer first.</a:t>
            </a:r>
          </a:p>
          <a:p>
            <a:pPr lvl="1">
              <a:spcAft>
                <a:spcPts val="900"/>
              </a:spcAft>
            </a:pPr>
            <a:r>
              <a:rPr sz="1800" b="1" i="0">
                <a:solidFill>
                  <a:srgbClr val="909CAB"/>
                </a:solidFill>
                <a:latin typeface="Segoe UI"/>
              </a:rPr>
              <a:t>–  </a:t>
            </a:r>
            <a:r>
              <a:rPr sz="1800" b="0" i="0">
                <a:solidFill>
                  <a:srgbClr val="9DB0C6"/>
                </a:solidFill>
                <a:latin typeface="Segoe UI"/>
              </a:rPr>
              <a:t>UAF e.g.: “Where is the pointer allocated? Where freed? Quote the flagged line.”</a:t>
            </a:r>
          </a:p>
          <a:p>
            <a:pPr>
              <a:spcAft>
                <a:spcPts val="900"/>
              </a:spcAft>
            </a:pPr>
            <a:r>
              <a:rPr sz="2100" b="1" i="0">
                <a:solidFill>
                  <a:srgbClr val="F97316"/>
                </a:solidFill>
                <a:latin typeface="Segoe UI"/>
              </a:rPr>
              <a:t>▸  </a:t>
            </a:r>
            <a:r>
              <a:rPr sz="2100" b="1" i="0">
                <a:solidFill>
                  <a:srgbClr val="D4DEEA"/>
                </a:solidFill>
                <a:latin typeface="Segoe UI"/>
              </a:rPr>
              <a:t>Also sets additional_context to prefetch, min_iterations, snippet window.</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Anatomy of a guided-question entry</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42</a:t>
            </a:r>
          </a:p>
        </p:txBody>
      </p:sp>
      <p:sp>
        <p:nvSpPr>
          <p:cNvPr id="8" name="TextBox 7"/>
          <p:cNvSpPr txBox="1"/>
          <p:nvPr/>
        </p:nvSpPr>
        <p:spPr>
          <a:xfrm>
            <a:off x="640080" y="1133856"/>
            <a:ext cx="10972800" cy="365760"/>
          </a:xfrm>
          <a:prstGeom prst="rect">
            <a:avLst/>
          </a:prstGeom>
          <a:noFill/>
        </p:spPr>
        <p:txBody>
          <a:bodyPr wrap="square" anchor="t" lIns="0" rIns="0" tIns="0" bIns="0">
            <a:spAutoFit/>
          </a:bodyPr>
          <a:lstStyle/>
          <a:p>
            <a:pPr algn="l">
              <a:spcAft>
                <a:spcPts val="200"/>
              </a:spcAft>
            </a:pPr>
            <a:r>
              <a:rPr sz="1400" b="0" i="1">
                <a:solidFill>
                  <a:srgbClr val="909CAB"/>
                </a:solidFill>
                <a:latin typeface="Segoe UI"/>
              </a:rPr>
              <a:t>config/prompts/&lt;lang&gt;_questions.yaml — one entry per rule.</a:t>
            </a:r>
          </a:p>
        </p:txBody>
      </p:sp>
      <p:graphicFrame>
        <p:nvGraphicFramePr>
          <p:cNvPr id="9" name="Table 8"/>
          <p:cNvGraphicFramePr>
            <a:graphicFrameLocks noGrp="1"/>
          </p:cNvGraphicFramePr>
          <p:nvPr/>
        </p:nvGraphicFramePr>
        <p:xfrm>
          <a:off x="640080" y="1627632"/>
          <a:ext cx="10927080" cy="2688336"/>
        </p:xfrm>
        <a:graphic>
          <a:graphicData uri="http://schemas.openxmlformats.org/drawingml/2006/table">
            <a:tbl>
              <a:tblPr>
                <a:tableStyleId>{5C22544A-7EE6-4342-B048-85BDC9FD1C3A}</a:tableStyleId>
              </a:tblPr>
              <a:tblGrid>
                <a:gridCol w="3017520"/>
                <a:gridCol w="7909560"/>
              </a:tblGrid>
              <a:tr h="384048">
                <a:tc>
                  <a:txBody>
                    <a:bodyPr wrap="square"/>
                    <a:lstStyle/>
                    <a:p>
                      <a:pPr algn="l"/>
                      <a:r>
                        <a:rPr sz="1300" b="1" i="0">
                          <a:solidFill>
                            <a:srgbClr val="FFFFFF"/>
                          </a:solidFill>
                          <a:latin typeface="Segoe UI"/>
                        </a:rPr>
                        <a:t>Key</a:t>
                      </a:r>
                    </a:p>
                  </a:txBody>
                  <a:tcPr marL="73152" marR="54864" marT="27432" marB="27432" anchor="ctr">
                    <a:solidFill>
                      <a:srgbClr val="263552"/>
                    </a:solidFill>
                  </a:tcPr>
                </a:tc>
                <a:tc>
                  <a:txBody>
                    <a:bodyPr wrap="square"/>
                    <a:lstStyle/>
                    <a:p>
                      <a:pPr algn="l"/>
                      <a:r>
                        <a:rPr sz="1300" b="1" i="0">
                          <a:solidFill>
                            <a:srgbClr val="FFFFFF"/>
                          </a:solidFill>
                          <a:latin typeface="Segoe UI"/>
                        </a:rPr>
                        <a:t>Purpose</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short_description</a:t>
                      </a:r>
                    </a:p>
                  </a:txBody>
                  <a:tcPr marL="73152" marR="54864" marT="27432" marB="27432" anchor="ctr">
                    <a:solidFill>
                      <a:srgbClr val="18233D"/>
                    </a:solidFill>
                  </a:tcPr>
                </a:tc>
                <a:tc>
                  <a:txBody>
                    <a:bodyPr wrap="square"/>
                    <a:lstStyle/>
                    <a:p>
                      <a:pPr algn="l"/>
                      <a:r>
                        <a:rPr sz="1250" b="0" i="0">
                          <a:solidFill>
                            <a:srgbClr val="D4DEEA"/>
                          </a:solidFill>
                          <a:latin typeface="Segoe UI"/>
                        </a:rPr>
                        <a:t>One-line summary of the vulnerability class</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questions</a:t>
                      </a:r>
                    </a:p>
                  </a:txBody>
                  <a:tcPr marL="73152" marR="54864" marT="27432" marB="27432" anchor="ctr">
                    <a:solidFill>
                      <a:srgbClr val="131D33"/>
                    </a:solidFill>
                  </a:tcPr>
                </a:tc>
                <a:tc>
                  <a:txBody>
                    <a:bodyPr wrap="square"/>
                    <a:lstStyle/>
                    <a:p>
                      <a:pPr algn="l"/>
                      <a:r>
                        <a:rPr sz="1250" b="0" i="0">
                          <a:solidFill>
                            <a:srgbClr val="D4DEEA"/>
                          </a:solidFill>
                          <a:latin typeface="Segoe UI"/>
                        </a:rPr>
                        <a:t>Ordered, evidence-anchored questions the LLM must answer first</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context_hint</a:t>
                      </a:r>
                    </a:p>
                  </a:txBody>
                  <a:tcPr marL="73152" marR="54864" marT="27432" marB="27432" anchor="ctr">
                    <a:solidFill>
                      <a:srgbClr val="18233D"/>
                    </a:solidFill>
                  </a:tcPr>
                </a:tc>
                <a:tc>
                  <a:txBody>
                    <a:bodyPr wrap="square"/>
                    <a:lstStyle/>
                    <a:p>
                      <a:pPr algn="l"/>
                      <a:r>
                        <a:rPr sz="1250" b="0" i="0">
                          <a:solidFill>
                            <a:srgbClr val="D4DEEA"/>
                          </a:solidFill>
                          <a:latin typeface="Segoe UI"/>
                        </a:rPr>
                        <a:t>Human-readable trace plan (allocation → free → use)</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additional_context</a:t>
                      </a:r>
                    </a:p>
                  </a:txBody>
                  <a:tcPr marL="73152" marR="54864" marT="27432" marB="27432" anchor="ctr">
                    <a:solidFill>
                      <a:srgbClr val="131D33"/>
                    </a:solidFill>
                  </a:tcPr>
                </a:tc>
                <a:tc>
                  <a:txBody>
                    <a:bodyPr wrap="square"/>
                    <a:lstStyle/>
                    <a:p>
                      <a:pPr algn="l"/>
                      <a:r>
                        <a:rPr sz="1250" b="0" i="0">
                          <a:solidFill>
                            <a:srgbClr val="D4DEEA"/>
                          </a:solidFill>
                          <a:latin typeface="Segoe UI"/>
                        </a:rPr>
                        <a:t>Context types to prefetch / allow requesting</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min_iterations</a:t>
                      </a:r>
                    </a:p>
                  </a:txBody>
                  <a:tcPr marL="73152" marR="54864" marT="27432" marB="27432" anchor="ctr">
                    <a:solidFill>
                      <a:srgbClr val="18233D"/>
                    </a:solidFill>
                  </a:tcPr>
                </a:tc>
                <a:tc>
                  <a:txBody>
                    <a:bodyPr wrap="square"/>
                    <a:lstStyle/>
                    <a:p>
                      <a:pPr algn="l"/>
                      <a:r>
                        <a:rPr sz="1250" b="0" i="0">
                          <a:solidFill>
                            <a:srgbClr val="D4DEEA"/>
                          </a:solidFill>
                          <a:latin typeface="Segoe UI"/>
                        </a:rPr>
                        <a:t>Floor on rounds before TP/FP (high-stakes CWEs)</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snippet_window_lines</a:t>
                      </a:r>
                    </a:p>
                  </a:txBody>
                  <a:tcPr marL="73152" marR="54864" marT="27432" marB="27432" anchor="ctr">
                    <a:solidFill>
                      <a:srgbClr val="131D33"/>
                    </a:solidFill>
                  </a:tcPr>
                </a:tc>
                <a:tc>
                  <a:txBody>
                    <a:bodyPr wrap="square"/>
                    <a:lstStyle/>
                    <a:p>
                      <a:pPr algn="l"/>
                      <a:r>
                        <a:rPr sz="1250" b="0" i="0">
                          <a:solidFill>
                            <a:srgbClr val="D4DEEA"/>
                          </a:solidFill>
                          <a:latin typeface="Segoe UI"/>
                        </a:rPr>
                        <a:t>How much code around the flagged line to show</a:t>
                      </a:r>
                    </a:p>
                  </a:txBody>
                  <a:tcPr marL="73152" marR="54864" marT="27432" marB="27432" anchor="ctr">
                    <a:solidFill>
                      <a:srgbClr val="131D33"/>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Real example — py/sql-injection (verbatim)</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43</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0" i="0">
                <a:solidFill>
                  <a:srgbClr val="D4DEEA"/>
                </a:solidFill>
                <a:latin typeface="Segoe UI"/>
              </a:rPr>
              <a:t>Quote the EXACT sink (cursor.execute / session.execute, line N) and name the variable passed to it. Do not paraphrase.</a:t>
            </a:r>
          </a:p>
          <a:p>
            <a:pPr>
              <a:spcAft>
                <a:spcPts val="900"/>
              </a:spcAft>
            </a:pPr>
            <a:r>
              <a:rPr sz="2100" b="0" i="0">
                <a:solidFill>
                  <a:srgbClr val="D4DEEA"/>
                </a:solidFill>
                <a:latin typeface="Segoe UI"/>
              </a:rPr>
              <a:t>List EVERY assignment to that variable on each path reaching the sink, with line numbers; identify the LAST one that executes.</a:t>
            </a:r>
          </a:p>
          <a:p>
            <a:pPr>
              <a:spcAft>
                <a:spcPts val="900"/>
              </a:spcAft>
            </a:pPr>
            <a:r>
              <a:rPr sz="2100" b="0" i="0">
                <a:solidFill>
                  <a:srgbClr val="D4DEEA"/>
                </a:solidFill>
                <a:latin typeface="Segoe UI"/>
              </a:rPr>
              <a:t>For each, does the value derive from user input (request.args/form/json/cookies) or a constant? Cite the data-flow chain.</a:t>
            </a:r>
          </a:p>
          <a:p>
            <a:pPr>
              <a:spcAft>
                <a:spcPts val="900"/>
              </a:spcAft>
            </a:pPr>
            <a:r>
              <a:rPr sz="2100" b="0" i="0">
                <a:solidFill>
                  <a:srgbClr val="D4DEEA"/>
                </a:solidFill>
                <a:latin typeface="Segoe UI"/>
              </a:rPr>
              <a:t>What specific defence sanitises it? Name it — parameterised execute(sql, params), Django ORM .filter(**kwargs)… vague 'sanitisation' is not acceptable.</a:t>
            </a:r>
          </a:p>
          <a:p>
            <a:pPr>
              <a:spcAft>
                <a:spcPts val="900"/>
              </a:spcAft>
            </a:pPr>
            <a:r>
              <a:rPr sz="2100" b="1" i="0">
                <a:solidFill>
                  <a:srgbClr val="F97316"/>
                </a:solidFill>
                <a:latin typeface="Segoe UI"/>
              </a:rPr>
              <a:t>▸  </a:t>
            </a:r>
            <a:r>
              <a:rPr sz="2100" b="1" i="0">
                <a:solidFill>
                  <a:srgbClr val="FB7185"/>
                </a:solidFill>
                <a:latin typeface="Segoe UI"/>
              </a:rPr>
              <a:t>If you can't show the tainted value reaching the sink AND the absence of every defence, verdict FALSE POSITIVE.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Real example — cpp/overflow-buffer (verbatim)</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44</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0" i="0">
                <a:solidFill>
                  <a:srgbClr val="D4DEEA"/>
                </a:solidFill>
                <a:latin typeface="Segoe UI"/>
              </a:rPr>
              <a:t>Where is the DESTINATION buffer declared and what is its exact size?</a:t>
            </a:r>
          </a:p>
          <a:p>
            <a:pPr>
              <a:spcAft>
                <a:spcPts val="900"/>
              </a:spcAft>
            </a:pPr>
            <a:r>
              <a:rPr sz="2100" b="0" i="0">
                <a:solidFill>
                  <a:srgbClr val="D4DEEA"/>
                </a:solidFill>
                <a:latin typeface="Segoe UI"/>
              </a:rPr>
              <a:t>Where is the SOURCE buffer/data declared and what is its exact size?</a:t>
            </a:r>
          </a:p>
          <a:p>
            <a:pPr>
              <a:spcAft>
                <a:spcPts val="900"/>
              </a:spcAft>
            </a:pPr>
            <a:r>
              <a:rPr sz="2100" b="0" i="0">
                <a:solidFill>
                  <a:srgbClr val="D4DEEA"/>
                </a:solidFill>
                <a:latin typeface="Segoe UI"/>
              </a:rPr>
              <a:t>Do these sizes ever CHANGE via assignment, reallocation, or parameters?</a:t>
            </a:r>
          </a:p>
          <a:p>
            <a:pPr>
              <a:spcAft>
                <a:spcPts val="900"/>
              </a:spcAft>
            </a:pPr>
            <a:r>
              <a:rPr sz="2100" b="0" i="0">
                <a:solidFill>
                  <a:srgbClr val="D4DEEA"/>
                </a:solidFill>
                <a:latin typeface="Segoe UI"/>
              </a:rPr>
              <a:t>Are there any CHECKS on source size, destination size, or copy length BEFORE the copy?</a:t>
            </a:r>
          </a:p>
          <a:p>
            <a:pPr>
              <a:spcAft>
                <a:spcPts val="900"/>
              </a:spcAft>
            </a:pPr>
            <a:r>
              <a:rPr sz="2100" b="1" i="0">
                <a:solidFill>
                  <a:srgbClr val="F97316"/>
                </a:solidFill>
                <a:latin typeface="Segoe UI"/>
              </a:rPr>
              <a:t>▸  </a:t>
            </a:r>
            <a:r>
              <a:rPr sz="2100" b="1" i="0">
                <a:solidFill>
                  <a:srgbClr val="34D399"/>
                </a:solidFill>
                <a:latin typeface="Segoe UI"/>
              </a:rPr>
              <a:t>→ The pattern: pin down sizes, track changes, look for the missing bound.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How a finding finds its questions (3-tier routing)</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45</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1. Exact match on SARIF ruleId → &lt;lang&gt;/&lt;name&gt;  (custom CodeQL hits here).</a:t>
            </a:r>
          </a:p>
          <a:p>
            <a:pPr>
              <a:spcAft>
                <a:spcPts val="900"/>
              </a:spcAft>
            </a:pPr>
            <a:r>
              <a:rPr sz="2100" b="1" i="0">
                <a:solidFill>
                  <a:srgbClr val="F97316"/>
                </a:solidFill>
                <a:latin typeface="Segoe UI"/>
              </a:rPr>
              <a:t>▸  </a:t>
            </a:r>
            <a:r>
              <a:rPr sz="2100" b="1" i="0">
                <a:solidFill>
                  <a:srgbClr val="D4DEEA"/>
                </a:solidFill>
                <a:latin typeface="Segoe UI"/>
              </a:rPr>
              <a:t>2. Normalized / prefix / language-prefix fallbacks.</a:t>
            </a:r>
          </a:p>
          <a:p>
            <a:pPr>
              <a:spcAft>
                <a:spcPts val="900"/>
              </a:spcAft>
            </a:pPr>
            <a:r>
              <a:rPr sz="2100" b="1" i="0">
                <a:solidFill>
                  <a:srgbClr val="F97316"/>
                </a:solidFill>
                <a:latin typeface="Segoe UI"/>
              </a:rPr>
              <a:t>▸  </a:t>
            </a:r>
            <a:r>
              <a:rPr sz="2100" b="1" i="0">
                <a:solidFill>
                  <a:srgbClr val="D4DEEA"/>
                </a:solidFill>
                <a:latin typeface="Segoe UI"/>
              </a:rPr>
              <a:t>3. CWE-based fallback via cwe_question_map  (custom Semgrep routes here).</a:t>
            </a:r>
          </a:p>
          <a:p>
            <a:pPr lvl="1">
              <a:spcAft>
                <a:spcPts val="900"/>
              </a:spcAft>
            </a:pPr>
            <a:r>
              <a:rPr sz="1800" b="1" i="0">
                <a:solidFill>
                  <a:srgbClr val="909CAB"/>
                </a:solidFill>
                <a:latin typeface="Segoe UI"/>
              </a:rPr>
              <a:t>–  </a:t>
            </a:r>
            <a:r>
              <a:rPr sz="1800" b="0" i="0">
                <a:solidFill>
                  <a:srgbClr val="9DB0C6"/>
                </a:solidFill>
                <a:latin typeface="Segoe UI"/>
              </a:rPr>
              <a:t>else → generic question template.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Routing, traced: two findings, two paths</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46</a:t>
            </a:r>
          </a:p>
        </p:txBody>
      </p:sp>
      <p:sp>
        <p:nvSpPr>
          <p:cNvPr id="8" name="TextBox 7"/>
          <p:cNvSpPr txBox="1"/>
          <p:nvPr/>
        </p:nvSpPr>
        <p:spPr>
          <a:xfrm>
            <a:off x="640080" y="1325880"/>
            <a:ext cx="10972800" cy="365760"/>
          </a:xfrm>
          <a:prstGeom prst="rect">
            <a:avLst/>
          </a:prstGeom>
          <a:noFill/>
        </p:spPr>
        <p:txBody>
          <a:bodyPr wrap="square" anchor="t" lIns="0" rIns="0" tIns="0" bIns="0">
            <a:spAutoFit/>
          </a:bodyPr>
          <a:lstStyle/>
          <a:p>
            <a:pPr algn="l">
              <a:spcAft>
                <a:spcPts val="200"/>
              </a:spcAft>
            </a:pPr>
            <a:r>
              <a:rPr sz="1400" b="1" i="0">
                <a:solidFill>
                  <a:srgbClr val="8184F7"/>
                </a:solidFill>
                <a:latin typeface="Segoe UI"/>
              </a:rPr>
              <a:t>CodeQL finding — exact ruleId match (Tier 1):</a:t>
            </a:r>
          </a:p>
        </p:txBody>
      </p:sp>
      <p:sp>
        <p:nvSpPr>
          <p:cNvPr id="9" name="Rounded Rectangle 8"/>
          <p:cNvSpPr/>
          <p:nvPr/>
        </p:nvSpPr>
        <p:spPr>
          <a:xfrm>
            <a:off x="640080" y="1783080"/>
            <a:ext cx="3017520" cy="96012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1783080"/>
            <a:ext cx="301752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929384"/>
            <a:ext cx="3017520" cy="813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300" b="1" i="0">
                <a:solidFill>
                  <a:srgbClr val="F2F6FB"/>
                </a:solidFill>
                <a:latin typeface="Segoe UI"/>
              </a:rPr>
              <a:t>ruleId:
cpp/use-after-free</a:t>
            </a:r>
          </a:p>
        </p:txBody>
      </p:sp>
      <p:sp>
        <p:nvSpPr>
          <p:cNvPr id="12" name="Rounded Rectangle 11"/>
          <p:cNvSpPr/>
          <p:nvPr/>
        </p:nvSpPr>
        <p:spPr>
          <a:xfrm>
            <a:off x="4297680" y="1783080"/>
            <a:ext cx="3017520" cy="96012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297680" y="1783080"/>
            <a:ext cx="301752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929384"/>
            <a:ext cx="3017520" cy="813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300" b="1" i="0">
                <a:solidFill>
                  <a:srgbClr val="F2F6FB"/>
                </a:solidFill>
                <a:latin typeface="Segoe UI"/>
              </a:rPr>
              <a:t>exact key
match</a:t>
            </a:r>
          </a:p>
        </p:txBody>
      </p:sp>
      <p:sp>
        <p:nvSpPr>
          <p:cNvPr id="15" name="Rounded Rectangle 14"/>
          <p:cNvSpPr/>
          <p:nvPr/>
        </p:nvSpPr>
        <p:spPr>
          <a:xfrm>
            <a:off x="7955280" y="1783080"/>
            <a:ext cx="3017520" cy="96012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955280" y="1783080"/>
            <a:ext cx="301752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55280" y="1929384"/>
            <a:ext cx="3017520" cy="813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300" b="1" i="0">
                <a:solidFill>
                  <a:srgbClr val="F2F6FB"/>
                </a:solidFill>
                <a:latin typeface="Segoe UI"/>
              </a:rPr>
              <a:t>cpp/use-after-free
questions</a:t>
            </a:r>
          </a:p>
        </p:txBody>
      </p:sp>
      <p:cxnSp>
        <p:nvCxnSpPr>
          <p:cNvPr id="18" name="Connector 17"/>
          <p:cNvCxnSpPr/>
          <p:nvPr/>
        </p:nvCxnSpPr>
        <p:spPr>
          <a:xfrm>
            <a:off x="3657600" y="2263140"/>
            <a:ext cx="640080" cy="0"/>
          </a:xfrm>
          <a:prstGeom prst="line">
            <a:avLst/>
          </a:prstGeom>
          <a:ln w="31750">
            <a:solidFill>
              <a:srgbClr val="8184F7"/>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315200" y="2263140"/>
            <a:ext cx="640080" cy="0"/>
          </a:xfrm>
          <a:prstGeom prst="line">
            <a:avLst/>
          </a:prstGeom>
          <a:ln w="31750">
            <a:solidFill>
              <a:srgbClr val="8184F7"/>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0080" y="3154680"/>
            <a:ext cx="10972800" cy="365760"/>
          </a:xfrm>
          <a:prstGeom prst="rect">
            <a:avLst/>
          </a:prstGeom>
          <a:noFill/>
        </p:spPr>
        <p:txBody>
          <a:bodyPr wrap="square" anchor="t" lIns="0" rIns="0" tIns="0" bIns="0">
            <a:spAutoFit/>
          </a:bodyPr>
          <a:lstStyle/>
          <a:p>
            <a:pPr algn="l">
              <a:spcAft>
                <a:spcPts val="200"/>
              </a:spcAft>
            </a:pPr>
            <a:r>
              <a:rPr sz="1400" b="1" i="0">
                <a:solidFill>
                  <a:srgbClr val="22D3EE"/>
                </a:solidFill>
                <a:latin typeface="Segoe UI"/>
              </a:rPr>
              <a:t>Semgrep finding — dotted id, no key → CWE fallback (Tier 3):</a:t>
            </a:r>
          </a:p>
        </p:txBody>
      </p:sp>
      <p:sp>
        <p:nvSpPr>
          <p:cNvPr id="21" name="Rounded Rectangle 20"/>
          <p:cNvSpPr/>
          <p:nvPr/>
        </p:nvSpPr>
        <p:spPr>
          <a:xfrm>
            <a:off x="640080" y="3611880"/>
            <a:ext cx="2514600" cy="96012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 y="3611880"/>
            <a:ext cx="2514600" cy="109728"/>
          </a:xfrm>
          <a:prstGeom prst="roundRect">
            <a:avLst>
              <a:gd name="adj" fmla="val 45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3758184"/>
            <a:ext cx="2514600" cy="813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200" b="1" i="0">
                <a:solidFill>
                  <a:srgbClr val="F2F6FB"/>
                </a:solidFill>
                <a:latin typeface="Segoe UI"/>
              </a:rPr>
              <a:t>id:
vulnhunterx.cpp.weak-hash</a:t>
            </a:r>
          </a:p>
        </p:txBody>
      </p:sp>
      <p:sp>
        <p:nvSpPr>
          <p:cNvPr id="24" name="Rounded Rectangle 23"/>
          <p:cNvSpPr/>
          <p:nvPr/>
        </p:nvSpPr>
        <p:spPr>
          <a:xfrm>
            <a:off x="3447288" y="3611880"/>
            <a:ext cx="2514600" cy="96012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447288" y="3611880"/>
            <a:ext cx="2514600" cy="109728"/>
          </a:xfrm>
          <a:prstGeom prst="roundRect">
            <a:avLst>
              <a:gd name="adj" fmla="val 45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47288" y="3758184"/>
            <a:ext cx="2514600" cy="813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200" b="1" i="0">
                <a:solidFill>
                  <a:srgbClr val="F2F6FB"/>
                </a:solidFill>
                <a:latin typeface="Segoe UI"/>
              </a:rPr>
              <a:t>no key
(dotted id)</a:t>
            </a:r>
          </a:p>
        </p:txBody>
      </p:sp>
      <p:sp>
        <p:nvSpPr>
          <p:cNvPr id="27" name="Rounded Rectangle 26"/>
          <p:cNvSpPr/>
          <p:nvPr/>
        </p:nvSpPr>
        <p:spPr>
          <a:xfrm>
            <a:off x="6254496" y="3611880"/>
            <a:ext cx="2514600" cy="96012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254496" y="3611880"/>
            <a:ext cx="2514600" cy="109728"/>
          </a:xfrm>
          <a:prstGeom prst="roundRect">
            <a:avLst>
              <a:gd name="adj" fmla="val 45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54496" y="3758184"/>
            <a:ext cx="2514600" cy="813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200" b="1" i="0">
                <a:solidFill>
                  <a:srgbClr val="F2F6FB"/>
                </a:solidFill>
                <a:latin typeface="Segoe UI"/>
              </a:rPr>
              <a:t>metadata.cwe:
CWE-327</a:t>
            </a:r>
          </a:p>
        </p:txBody>
      </p:sp>
      <p:sp>
        <p:nvSpPr>
          <p:cNvPr id="30" name="Rounded Rectangle 29"/>
          <p:cNvSpPr/>
          <p:nvPr/>
        </p:nvSpPr>
        <p:spPr>
          <a:xfrm>
            <a:off x="9061704" y="3611880"/>
            <a:ext cx="2514600" cy="96012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061704" y="3611880"/>
            <a:ext cx="2514600" cy="109728"/>
          </a:xfrm>
          <a:prstGeom prst="roundRect">
            <a:avLst>
              <a:gd name="adj" fmla="val 45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61704" y="3758184"/>
            <a:ext cx="2514600" cy="813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200" b="1" i="0">
                <a:solidFill>
                  <a:srgbClr val="F2F6FB"/>
                </a:solidFill>
                <a:latin typeface="Segoe UI"/>
              </a:rPr>
              <a:t>cwe_question_map
→ weak-hash questions</a:t>
            </a:r>
          </a:p>
        </p:txBody>
      </p:sp>
      <p:cxnSp>
        <p:nvCxnSpPr>
          <p:cNvPr id="33" name="Connector 32"/>
          <p:cNvCxnSpPr/>
          <p:nvPr/>
        </p:nvCxnSpPr>
        <p:spPr>
          <a:xfrm>
            <a:off x="3154680" y="4091940"/>
            <a:ext cx="292608" cy="0"/>
          </a:xfrm>
          <a:prstGeom prst="line">
            <a:avLst/>
          </a:prstGeom>
          <a:ln w="31750">
            <a:solidFill>
              <a:srgbClr val="22D3E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961888" y="4091940"/>
            <a:ext cx="292608" cy="0"/>
          </a:xfrm>
          <a:prstGeom prst="line">
            <a:avLst/>
          </a:prstGeom>
          <a:ln w="31750">
            <a:solidFill>
              <a:srgbClr val="22D3E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769096" y="4091940"/>
            <a:ext cx="292608" cy="0"/>
          </a:xfrm>
          <a:prstGeom prst="line">
            <a:avLst/>
          </a:prstGeom>
          <a:ln w="31750">
            <a:solidFill>
              <a:srgbClr val="22D3E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40080" y="5029200"/>
            <a:ext cx="10972800" cy="914400"/>
          </a:xfrm>
          <a:prstGeom prst="rect">
            <a:avLst/>
          </a:prstGeom>
          <a:noFill/>
        </p:spPr>
        <p:txBody>
          <a:bodyPr wrap="square" anchor="t" lIns="0" rIns="0" tIns="0" bIns="0">
            <a:spAutoFit/>
          </a:bodyPr>
          <a:lstStyle/>
          <a:p>
            <a:pPr algn="l">
              <a:spcAft>
                <a:spcPts val="200"/>
              </a:spcAft>
            </a:pPr>
            <a:r>
              <a:rPr sz="1500" b="0" i="0">
                <a:solidFill>
                  <a:srgbClr val="D4DEEA"/>
                </a:solidFill>
                <a:latin typeface="Segoe UI"/>
              </a:rPr>
              <a:t>Both findings end up with the right evidence-anchored questions — one by name, one by CWE. No finding goes uninterrogated.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Context extraction &amp; the ContextProvider</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47</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F2F6FB"/>
                </a:solidFill>
                <a:latin typeface="Segoe UI"/>
              </a:rPr>
              <a:t>Pre-fetched upfront (keyed on function name):</a:t>
            </a:r>
          </a:p>
          <a:p>
            <a:pPr lvl="1">
              <a:spcAft>
                <a:spcPts val="900"/>
              </a:spcAft>
            </a:pPr>
            <a:r>
              <a:rPr sz="1800" b="1" i="0">
                <a:solidFill>
                  <a:srgbClr val="909CAB"/>
                </a:solidFill>
                <a:latin typeface="Segoe UI"/>
              </a:rPr>
              <a:t>–  </a:t>
            </a:r>
            <a:r>
              <a:rPr sz="1800" b="0" i="0">
                <a:solidFill>
                  <a:srgbClr val="9DB0C6"/>
                </a:solidFill>
                <a:latin typeface="Segoe UI"/>
              </a:rPr>
              <a:t>enclosing function, caller, callees, all_callers</a:t>
            </a:r>
          </a:p>
          <a:p>
            <a:pPr>
              <a:spcAft>
                <a:spcPts val="900"/>
              </a:spcAft>
            </a:pPr>
            <a:r>
              <a:rPr sz="2100" b="1" i="0">
                <a:solidFill>
                  <a:srgbClr val="F97316"/>
                </a:solidFill>
                <a:latin typeface="Segoe UI"/>
              </a:rPr>
              <a:t>▸  </a:t>
            </a:r>
            <a:r>
              <a:rPr sz="2100" b="1" i="0">
                <a:solidFill>
                  <a:srgbClr val="F2F6FB"/>
                </a:solidFill>
                <a:latin typeface="Segoe UI"/>
              </a:rPr>
              <a:t>Reactive — only when context_needed asks:</a:t>
            </a:r>
          </a:p>
          <a:p>
            <a:pPr lvl="1">
              <a:spcAft>
                <a:spcPts val="900"/>
              </a:spcAft>
            </a:pPr>
            <a:r>
              <a:rPr sz="1800" b="1" i="0">
                <a:solidFill>
                  <a:srgbClr val="909CAB"/>
                </a:solidFill>
                <a:latin typeface="Segoe UI"/>
              </a:rPr>
              <a:t>–  </a:t>
            </a:r>
            <a:r>
              <a:rPr sz="1800" b="0" i="0">
                <a:solidFill>
                  <a:srgbClr val="9DB0C6"/>
                </a:solidFill>
                <a:latin typeface="Segoe UI"/>
              </a:rPr>
              <a:t>struct, global, macro, typedef, enum + (C/C++) free_sites, destructor, field_writes</a:t>
            </a:r>
          </a:p>
          <a:p>
            <a:pPr>
              <a:spcAft>
                <a:spcPts val="900"/>
              </a:spcAft>
            </a:pPr>
            <a:r>
              <a:rPr sz="2100" b="1" i="0">
                <a:solidFill>
                  <a:srgbClr val="F97316"/>
                </a:solidFill>
                <a:latin typeface="Segoe UI"/>
              </a:rPr>
              <a:t>▸  </a:t>
            </a:r>
            <a:r>
              <a:rPr sz="2100" b="1" i="0">
                <a:solidFill>
                  <a:srgbClr val="34D399"/>
                </a:solidFill>
                <a:latin typeface="Segoe UI"/>
              </a:rPr>
              <a:t>All reads are cached and path-traversal-safe; CSVs come from Stage 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Multi-turn verification loop</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48</a:t>
            </a:r>
          </a:p>
        </p:txBody>
      </p:sp>
      <p:sp>
        <p:nvSpPr>
          <p:cNvPr id="8" name="Rounded Rectangle 7"/>
          <p:cNvSpPr/>
          <p:nvPr/>
        </p:nvSpPr>
        <p:spPr>
          <a:xfrm>
            <a:off x="777240" y="2286000"/>
            <a:ext cx="2743200" cy="100584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286000"/>
            <a:ext cx="2743200" cy="109728"/>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432304"/>
            <a:ext cx="2743200" cy="8595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500" b="1" i="0">
                <a:solidFill>
                  <a:srgbClr val="F2F6FB"/>
                </a:solidFill>
                <a:latin typeface="Segoe UI"/>
              </a:rPr>
              <a:t>LLM analyzes</a:t>
            </a:r>
          </a:p>
          <a:p>
            <a:pPr algn="ctr">
              <a:spcAft>
                <a:spcPts val="200"/>
              </a:spcAft>
            </a:pPr>
            <a:r>
              <a:rPr sz="1100" b="0" i="0">
                <a:solidFill>
                  <a:srgbClr val="9DB0C6"/>
                </a:solidFill>
                <a:latin typeface="Segoe UI"/>
              </a:rPr>
              <a:t>finding + context</a:t>
            </a:r>
          </a:p>
        </p:txBody>
      </p:sp>
      <p:sp>
        <p:nvSpPr>
          <p:cNvPr id="11" name="Diamond 10"/>
          <p:cNvSpPr/>
          <p:nvPr/>
        </p:nvSpPr>
        <p:spPr>
          <a:xfrm>
            <a:off x="4160520" y="2057400"/>
            <a:ext cx="2468880" cy="1463040"/>
          </a:xfrm>
          <a:prstGeom prst="diamond">
            <a:avLst/>
          </a:prstGeom>
          <a:solidFill>
            <a:srgbClr val="18233D"/>
          </a:solidFill>
          <a:ln w="2032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400" b="1" i="0">
                <a:solidFill>
                  <a:srgbClr val="F2F6FB"/>
                </a:solidFill>
                <a:latin typeface="Segoe UI"/>
              </a:rPr>
              <a:t>verdict?</a:t>
            </a:r>
          </a:p>
        </p:txBody>
      </p:sp>
      <p:sp>
        <p:nvSpPr>
          <p:cNvPr id="12" name="Rounded Rectangle 11"/>
          <p:cNvSpPr/>
          <p:nvPr/>
        </p:nvSpPr>
        <p:spPr>
          <a:xfrm>
            <a:off x="7772400" y="2286000"/>
            <a:ext cx="3108960" cy="100584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72400" y="2286000"/>
            <a:ext cx="3108960" cy="109728"/>
          </a:xfrm>
          <a:prstGeom prst="roundRect">
            <a:avLst>
              <a:gd name="adj" fmla="val 45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72400" y="2432304"/>
            <a:ext cx="3108960" cy="85953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500" b="1" i="0">
                <a:solidFill>
                  <a:srgbClr val="F2F6FB"/>
                </a:solidFill>
                <a:latin typeface="Segoe UI"/>
              </a:rPr>
              <a:t>Return Verdict</a:t>
            </a:r>
          </a:p>
          <a:p>
            <a:pPr algn="ctr">
              <a:spcAft>
                <a:spcPts val="200"/>
              </a:spcAft>
            </a:pPr>
            <a:r>
              <a:rPr sz="1100" b="0" i="0">
                <a:solidFill>
                  <a:srgbClr val="9DB0C6"/>
                </a:solidFill>
                <a:latin typeface="Segoe UI"/>
              </a:rPr>
              <a:t>TP / FP + confidence</a:t>
            </a:r>
          </a:p>
        </p:txBody>
      </p:sp>
      <p:sp>
        <p:nvSpPr>
          <p:cNvPr id="15" name="Rounded Rectangle 14"/>
          <p:cNvSpPr/>
          <p:nvPr/>
        </p:nvSpPr>
        <p:spPr>
          <a:xfrm>
            <a:off x="4114800" y="4434840"/>
            <a:ext cx="2560320" cy="105156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0" y="4434840"/>
            <a:ext cx="2560320" cy="109728"/>
          </a:xfrm>
          <a:prstGeom prst="roundRect">
            <a:avLst>
              <a:gd name="adj" fmla="val 45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0" y="4581144"/>
            <a:ext cx="2560320" cy="90525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a:lstStyle/>
          <a:p>
            <a:pPr algn="ctr">
              <a:spcAft>
                <a:spcPts val="200"/>
              </a:spcAft>
            </a:pPr>
            <a:r>
              <a:rPr sz="1400" b="1" i="0">
                <a:solidFill>
                  <a:srgbClr val="F2F6FB"/>
                </a:solidFill>
                <a:latin typeface="Segoe UI"/>
              </a:rPr>
              <a:t>Fetch context</a:t>
            </a:r>
          </a:p>
          <a:p>
            <a:pPr algn="ctr">
              <a:spcAft>
                <a:spcPts val="200"/>
              </a:spcAft>
            </a:pPr>
            <a:r>
              <a:rPr sz="1050" b="0" i="0">
                <a:solidFill>
                  <a:srgbClr val="9DB0C6"/>
                </a:solidFill>
                <a:latin typeface="Segoe UI"/>
              </a:rPr>
              <a:t>free_sites · caller ·</a:t>
            </a:r>
          </a:p>
          <a:p>
            <a:pPr algn="ctr">
              <a:spcAft>
                <a:spcPts val="200"/>
              </a:spcAft>
            </a:pPr>
            <a:r>
              <a:rPr sz="1050" b="0" i="0">
                <a:solidFill>
                  <a:srgbClr val="9DB0C6"/>
                </a:solidFill>
                <a:latin typeface="Segoe UI"/>
              </a:rPr>
              <a:t>struct …</a:t>
            </a:r>
          </a:p>
        </p:txBody>
      </p:sp>
      <p:cxnSp>
        <p:nvCxnSpPr>
          <p:cNvPr id="18" name="Connector 17"/>
          <p:cNvCxnSpPr/>
          <p:nvPr/>
        </p:nvCxnSpPr>
        <p:spPr>
          <a:xfrm>
            <a:off x="3520440" y="2788920"/>
            <a:ext cx="640080" cy="0"/>
          </a:xfrm>
          <a:prstGeom prst="line">
            <a:avLst/>
          </a:prstGeom>
          <a:ln w="31750">
            <a:solidFill>
              <a:srgbClr val="7C8BA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629400" y="2788920"/>
            <a:ext cx="1143000" cy="0"/>
          </a:xfrm>
          <a:prstGeom prst="line">
            <a:avLst/>
          </a:prstGeom>
          <a:ln w="35560">
            <a:solidFill>
              <a:srgbClr val="34D39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0" y="2331720"/>
            <a:ext cx="1280160" cy="457200"/>
          </a:xfrm>
          <a:prstGeom prst="rect">
            <a:avLst/>
          </a:prstGeom>
          <a:noFill/>
        </p:spPr>
        <p:txBody>
          <a:bodyPr wrap="square" anchor="t" lIns="0" rIns="0" tIns="0" bIns="0">
            <a:spAutoFit/>
          </a:bodyPr>
          <a:lstStyle/>
          <a:p>
            <a:pPr algn="ctr">
              <a:spcAft>
                <a:spcPts val="200"/>
              </a:spcAft>
            </a:pPr>
            <a:r>
              <a:rPr sz="1150" b="1" i="1">
                <a:solidFill>
                  <a:srgbClr val="34D399"/>
                </a:solidFill>
                <a:latin typeface="Segoe UI"/>
              </a:rPr>
              <a:t>TP / FP</a:t>
            </a:r>
          </a:p>
          <a:p>
            <a:pPr algn="ctr">
              <a:spcAft>
                <a:spcPts val="200"/>
              </a:spcAft>
            </a:pPr>
            <a:r>
              <a:rPr sz="950" b="0" i="1">
                <a:solidFill>
                  <a:srgbClr val="909CAB"/>
                </a:solidFill>
                <a:latin typeface="Segoe UI"/>
              </a:rPr>
              <a:t>(min_iters met)</a:t>
            </a:r>
          </a:p>
        </p:txBody>
      </p:sp>
      <p:cxnSp>
        <p:nvCxnSpPr>
          <p:cNvPr id="21" name="Connector 20"/>
          <p:cNvCxnSpPr/>
          <p:nvPr/>
        </p:nvCxnSpPr>
        <p:spPr>
          <a:xfrm>
            <a:off x="5394960" y="3520440"/>
            <a:ext cx="0" cy="914400"/>
          </a:xfrm>
          <a:prstGeom prst="line">
            <a:avLst/>
          </a:prstGeom>
          <a:ln w="31750">
            <a:solidFill>
              <a:srgbClr val="F59E0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0" y="3657600"/>
            <a:ext cx="2377440" cy="365760"/>
          </a:xfrm>
          <a:prstGeom prst="rect">
            <a:avLst/>
          </a:prstGeom>
          <a:noFill/>
        </p:spPr>
        <p:txBody>
          <a:bodyPr wrap="square" anchor="t" lIns="0" rIns="0" tIns="0" bIns="0">
            <a:spAutoFit/>
          </a:bodyPr>
          <a:lstStyle/>
          <a:p>
            <a:pPr algn="l">
              <a:spcAft>
                <a:spcPts val="200"/>
              </a:spcAft>
            </a:pPr>
            <a:r>
              <a:rPr sz="1100" b="1" i="1">
                <a:solidFill>
                  <a:srgbClr val="F59E0B"/>
                </a:solidFill>
                <a:latin typeface="Segoe UI"/>
              </a:rPr>
              <a:t>NEEDS_MORE_DATA</a:t>
            </a:r>
          </a:p>
        </p:txBody>
      </p:sp>
      <p:cxnSp>
        <p:nvCxnSpPr>
          <p:cNvPr id="23" name="Connector 22"/>
          <p:cNvCxnSpPr/>
          <p:nvPr/>
        </p:nvCxnSpPr>
        <p:spPr>
          <a:xfrm flipH="1">
            <a:off x="2148840" y="4937760"/>
            <a:ext cx="1965960" cy="0"/>
          </a:xfrm>
          <a:prstGeom prst="line">
            <a:avLst/>
          </a:prstGeom>
          <a:ln w="31750">
            <a:solidFill>
              <a:srgbClr val="7C8BA5"/>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148840" y="3291840"/>
            <a:ext cx="0" cy="1645920"/>
          </a:xfrm>
          <a:prstGeom prst="line">
            <a:avLst/>
          </a:prstGeom>
          <a:ln w="31750">
            <a:solidFill>
              <a:srgbClr val="7C8BA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286000" y="4480560"/>
            <a:ext cx="1828800" cy="365760"/>
          </a:xfrm>
          <a:prstGeom prst="rect">
            <a:avLst/>
          </a:prstGeom>
          <a:noFill/>
        </p:spPr>
        <p:txBody>
          <a:bodyPr wrap="square" anchor="t" lIns="0" rIns="0" tIns="0" bIns="0">
            <a:spAutoFit/>
          </a:bodyPr>
          <a:lstStyle/>
          <a:p>
            <a:pPr algn="l">
              <a:spcAft>
                <a:spcPts val="200"/>
              </a:spcAft>
            </a:pPr>
            <a:r>
              <a:rPr sz="1100" b="1" i="1">
                <a:solidFill>
                  <a:srgbClr val="9DB0C6"/>
                </a:solidFill>
                <a:latin typeface="Segoe UI"/>
              </a:rPr>
              <a:t>re-ask (dedup)</a:t>
            </a:r>
          </a:p>
        </p:txBody>
      </p:sp>
      <p:sp>
        <p:nvSpPr>
          <p:cNvPr id="26" name="TextBox 25"/>
          <p:cNvSpPr txBox="1"/>
          <p:nvPr/>
        </p:nvSpPr>
        <p:spPr>
          <a:xfrm>
            <a:off x="640080" y="5897880"/>
            <a:ext cx="10972800" cy="640080"/>
          </a:xfrm>
          <a:prstGeom prst="rect">
            <a:avLst/>
          </a:prstGeom>
          <a:noFill/>
        </p:spPr>
        <p:txBody>
          <a:bodyPr wrap="square" anchor="t" lIns="0" rIns="0" tIns="0" bIns="0">
            <a:spAutoFit/>
          </a:bodyPr>
          <a:lstStyle/>
          <a:p>
            <a:pPr algn="l">
              <a:spcAft>
                <a:spcPts val="200"/>
              </a:spcAft>
            </a:pPr>
            <a:r>
              <a:rPr sz="1400" b="1" i="0">
                <a:solidFill>
                  <a:srgbClr val="F2F6FB"/>
                </a:solidFill>
                <a:latin typeface="Segoe UI"/>
              </a:rPr>
              <a:t>Guards: </a:t>
            </a:r>
            <a:r>
              <a:rPr sz="1400" b="0" i="0">
                <a:solidFill>
                  <a:srgbClr val="D4DEEA"/>
                </a:solidFill>
                <a:latin typeface="Segoe UI"/>
              </a:rPr>
              <a:t>dedup against already-fetched context · capped at max_iterations (10) · min_iterations floor on high-stakes CWEs · force-decision if it stalls.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Output: the report</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49</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verification_results/ — one verdict_*.json per finding + summary.json.</a:t>
            </a:r>
          </a:p>
          <a:p>
            <a:pPr>
              <a:spcAft>
                <a:spcPts val="900"/>
              </a:spcAft>
            </a:pPr>
            <a:r>
              <a:rPr sz="2100" b="1" i="0">
                <a:solidFill>
                  <a:srgbClr val="F97316"/>
                </a:solidFill>
                <a:latin typeface="Segoe UI"/>
              </a:rPr>
              <a:t>▸  </a:t>
            </a:r>
            <a:r>
              <a:rPr sz="2100" b="1" i="0">
                <a:solidFill>
                  <a:srgbClr val="D4DEEA"/>
                </a:solidFill>
                <a:latin typeface="Segoe UI"/>
              </a:rPr>
              <a:t>report.md (English) and report_vi.md (Vietnamese).</a:t>
            </a:r>
          </a:p>
          <a:p>
            <a:pPr lvl="1">
              <a:spcAft>
                <a:spcPts val="900"/>
              </a:spcAft>
            </a:pPr>
            <a:r>
              <a:rPr sz="1800" b="1" i="0">
                <a:solidFill>
                  <a:srgbClr val="909CAB"/>
                </a:solidFill>
                <a:latin typeface="Segoe UI"/>
              </a:rPr>
              <a:t>–  </a:t>
            </a:r>
            <a:r>
              <a:rPr sz="1800" b="0" i="0">
                <a:solidFill>
                  <a:srgbClr val="9DB0C6"/>
                </a:solidFill>
                <a:latin typeface="Segoe UI"/>
              </a:rPr>
              <a:t>Executive summary + per-finding verdict, confidence, reasoning, location.</a:t>
            </a:r>
          </a:p>
          <a:p>
            <a:pPr>
              <a:spcAft>
                <a:spcPts val="900"/>
              </a:spcAft>
            </a:pPr>
            <a:r>
              <a:rPr sz="2100" b="1" i="0">
                <a:solidFill>
                  <a:srgbClr val="F97316"/>
                </a:solidFill>
                <a:latin typeface="Segoe UI"/>
              </a:rPr>
              <a:t>▸  </a:t>
            </a:r>
            <a:r>
              <a:rPr sz="2100" b="1" i="0">
                <a:solidFill>
                  <a:srgbClr val="D4DEEA"/>
                </a:solidFill>
                <a:latin typeface="Segoe UI"/>
              </a:rPr>
              <a:t>A Coverage-Limitations caveat documents what SAST can't reach.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0" y="960120"/>
            <a:ext cx="5074920" cy="4480560"/>
          </a:xfrm>
          <a:prstGeom prst="rect">
            <a:avLst/>
          </a:prstGeom>
          <a:noFill/>
        </p:spPr>
        <p:txBody>
          <a:bodyPr wrap="none" anchor="ctr" lIns="0" rIns="0" tIns="0" bIns="0">
            <a:spAutoFit/>
          </a:bodyPr>
          <a:lstStyle/>
          <a:p>
            <a:pPr algn="r">
              <a:spcAft>
                <a:spcPts val="200"/>
              </a:spcAft>
            </a:pPr>
            <a:r>
              <a:rPr sz="25000" b="1" i="0">
                <a:solidFill>
                  <a:srgbClr val="1C2C4A"/>
                </a:solidFill>
                <a:latin typeface="Segoe UI"/>
              </a:rPr>
              <a:t>06</a:t>
            </a:r>
          </a:p>
        </p:txBody>
      </p:sp>
      <p:sp>
        <p:nvSpPr>
          <p:cNvPr id="4" name="Rectangle 3"/>
          <p:cNvSpPr/>
          <p:nvPr/>
        </p:nvSpPr>
        <p:spPr>
          <a:xfrm>
            <a:off x="868680" y="2670048"/>
            <a:ext cx="50292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2450592"/>
            <a:ext cx="8229600" cy="502920"/>
          </a:xfrm>
          <a:prstGeom prst="rect">
            <a:avLst/>
          </a:prstGeom>
          <a:noFill/>
        </p:spPr>
        <p:txBody>
          <a:bodyPr wrap="square" anchor="t" lIns="0" rIns="0" tIns="0" bIns="0">
            <a:spAutoFit/>
          </a:bodyPr>
          <a:lstStyle/>
          <a:p>
            <a:pPr algn="l">
              <a:spcAft>
                <a:spcPts val="200"/>
              </a:spcAft>
            </a:pPr>
            <a:r>
              <a:rPr sz="1800" b="1" i="0">
                <a:solidFill>
                  <a:srgbClr val="F59E0B"/>
                </a:solidFill>
                <a:latin typeface="Segoe UI"/>
              </a:rPr>
              <a:t>PART 6</a:t>
            </a:r>
          </a:p>
        </p:txBody>
      </p:sp>
      <p:sp>
        <p:nvSpPr>
          <p:cNvPr id="6" name="TextBox 5"/>
          <p:cNvSpPr txBox="1"/>
          <p:nvPr/>
        </p:nvSpPr>
        <p:spPr>
          <a:xfrm>
            <a:off x="822960" y="2944368"/>
            <a:ext cx="10058400" cy="1645920"/>
          </a:xfrm>
          <a:prstGeom prst="rect">
            <a:avLst/>
          </a:prstGeom>
          <a:noFill/>
        </p:spPr>
        <p:txBody>
          <a:bodyPr wrap="square" anchor="t" lIns="0" rIns="0" tIns="0" bIns="0">
            <a:spAutoFit/>
          </a:bodyPr>
          <a:lstStyle/>
          <a:p>
            <a:pPr algn="l">
              <a:spcAft>
                <a:spcPts val="200"/>
              </a:spcAft>
            </a:pPr>
            <a:r>
              <a:rPr sz="4000" b="1" i="0">
                <a:solidFill>
                  <a:srgbClr val="FFFFFF"/>
                </a:solidFill>
                <a:latin typeface="Segoe UI"/>
              </a:rPr>
              <a:t>How to use it: CLI + a worked example</a:t>
            </a:r>
          </a:p>
        </p:txBody>
      </p:sp>
      <p:sp>
        <p:nvSpPr>
          <p:cNvPr id="7" name="Rectangle 6"/>
          <p:cNvSpPr/>
          <p:nvPr/>
        </p:nvSpPr>
        <p:spPr>
          <a:xfrm>
            <a:off x="868680" y="4343400"/>
            <a:ext cx="292608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16152"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63624"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911096"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258568"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606040" y="6126480"/>
            <a:ext cx="457200" cy="146304"/>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09544"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The command map</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51</a:t>
            </a:r>
          </a:p>
        </p:txBody>
      </p:sp>
      <p:graphicFrame>
        <p:nvGraphicFramePr>
          <p:cNvPr id="8" name="Table 7"/>
          <p:cNvGraphicFramePr>
            <a:graphicFrameLocks noGrp="1"/>
          </p:cNvGraphicFramePr>
          <p:nvPr/>
        </p:nvGraphicFramePr>
        <p:xfrm>
          <a:off x="640080" y="1417320"/>
          <a:ext cx="10927080" cy="3072384"/>
        </p:xfrm>
        <a:graphic>
          <a:graphicData uri="http://schemas.openxmlformats.org/drawingml/2006/table">
            <a:tbl>
              <a:tblPr>
                <a:tableStyleId>{5C22544A-7EE6-4342-B048-85BDC9FD1C3A}</a:tableStyleId>
              </a:tblPr>
              <a:tblGrid>
                <a:gridCol w="2194560"/>
                <a:gridCol w="8732520"/>
              </a:tblGrid>
              <a:tr h="384048">
                <a:tc>
                  <a:txBody>
                    <a:bodyPr wrap="square"/>
                    <a:lstStyle/>
                    <a:p>
                      <a:pPr algn="l"/>
                      <a:r>
                        <a:rPr sz="1300" b="1" i="0">
                          <a:solidFill>
                            <a:srgbClr val="FFFFFF"/>
                          </a:solidFill>
                          <a:latin typeface="Segoe UI"/>
                        </a:rPr>
                        <a:t>Command</a:t>
                      </a:r>
                    </a:p>
                  </a:txBody>
                  <a:tcPr marL="73152" marR="54864" marT="27432" marB="27432" anchor="ctr">
                    <a:solidFill>
                      <a:srgbClr val="263552"/>
                    </a:solidFill>
                  </a:tcPr>
                </a:tc>
                <a:tc>
                  <a:txBody>
                    <a:bodyPr wrap="square"/>
                    <a:lstStyle/>
                    <a:p>
                      <a:pPr algn="l"/>
                      <a:r>
                        <a:rPr sz="1300" b="1" i="0">
                          <a:solidFill>
                            <a:srgbClr val="FFFFFF"/>
                          </a:solidFill>
                          <a:latin typeface="Segoe UI"/>
                        </a:rPr>
                        <a:t>What it does</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check-env</a:t>
                      </a:r>
                    </a:p>
                  </a:txBody>
                  <a:tcPr marL="73152" marR="54864" marT="27432" marB="27432" anchor="ctr">
                    <a:solidFill>
                      <a:srgbClr val="18233D"/>
                    </a:solidFill>
                  </a:tcPr>
                </a:tc>
                <a:tc>
                  <a:txBody>
                    <a:bodyPr wrap="square"/>
                    <a:lstStyle/>
                    <a:p>
                      <a:pPr algn="l"/>
                      <a:r>
                        <a:rPr sz="1250" b="0" i="0">
                          <a:solidFill>
                            <a:srgbClr val="D4DEEA"/>
                          </a:solidFill>
                          <a:latin typeface="Segoe UI"/>
                        </a:rPr>
                        <a:t>Verify CodeQL / Semgrep / LLM provider</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prepare</a:t>
                      </a:r>
                    </a:p>
                  </a:txBody>
                  <a:tcPr marL="73152" marR="54864" marT="27432" marB="27432" anchor="ctr">
                    <a:solidFill>
                      <a:srgbClr val="131D33"/>
                    </a:solidFill>
                  </a:tcPr>
                </a:tc>
                <a:tc>
                  <a:txBody>
                    <a:bodyPr wrap="square"/>
                    <a:lstStyle/>
                    <a:p>
                      <a:pPr algn="l"/>
                      <a:r>
                        <a:rPr sz="1250" b="0" i="0">
                          <a:solidFill>
                            <a:srgbClr val="D4DEEA"/>
                          </a:solidFill>
                          <a:latin typeface="Segoe UI"/>
                        </a:rPr>
                        <a:t>Clone + CodeQL DB + context CSVs (Stage 1)</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analyze</a:t>
                      </a:r>
                    </a:p>
                  </a:txBody>
                  <a:tcPr marL="73152" marR="54864" marT="27432" marB="27432" anchor="ctr">
                    <a:solidFill>
                      <a:srgbClr val="18233D"/>
                    </a:solidFill>
                  </a:tcPr>
                </a:tc>
                <a:tc>
                  <a:txBody>
                    <a:bodyPr wrap="square"/>
                    <a:lstStyle/>
                    <a:p>
                      <a:pPr algn="l"/>
                      <a:r>
                        <a:rPr sz="1250" b="0" i="0">
                          <a:solidFill>
                            <a:srgbClr val="D4DEEA"/>
                          </a:solidFill>
                          <a:latin typeface="Segoe UI"/>
                        </a:rPr>
                        <a:t>Run CodeQL / Semgrep → SARIF (Stage 2)</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verify</a:t>
                      </a:r>
                    </a:p>
                  </a:txBody>
                  <a:tcPr marL="73152" marR="54864" marT="27432" marB="27432" anchor="ctr">
                    <a:solidFill>
                      <a:srgbClr val="131D33"/>
                    </a:solidFill>
                  </a:tcPr>
                </a:tc>
                <a:tc>
                  <a:txBody>
                    <a:bodyPr wrap="square"/>
                    <a:lstStyle/>
                    <a:p>
                      <a:pPr algn="l"/>
                      <a:r>
                        <a:rPr sz="1250" b="0" i="0">
                          <a:solidFill>
                            <a:srgbClr val="D4DEEA"/>
                          </a:solidFill>
                          <a:latin typeface="Segoe UI"/>
                        </a:rPr>
                        <a:t>LLM triage of SARIF → verdicts (Stage 3)</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report</a:t>
                      </a:r>
                    </a:p>
                  </a:txBody>
                  <a:tcPr marL="73152" marR="54864" marT="27432" marB="27432" anchor="ctr">
                    <a:solidFill>
                      <a:srgbClr val="18233D"/>
                    </a:solidFill>
                  </a:tcPr>
                </a:tc>
                <a:tc>
                  <a:txBody>
                    <a:bodyPr wrap="square"/>
                    <a:lstStyle/>
                    <a:p>
                      <a:pPr algn="l"/>
                      <a:r>
                        <a:rPr sz="1250" b="0" i="0">
                          <a:solidFill>
                            <a:srgbClr val="D4DEEA"/>
                          </a:solidFill>
                          <a:latin typeface="Segoe UI"/>
                        </a:rPr>
                        <a:t>(Re)generate the Markdown report (Stage 4)</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scan</a:t>
                      </a:r>
                    </a:p>
                  </a:txBody>
                  <a:tcPr marL="73152" marR="54864" marT="27432" marB="27432" anchor="ctr">
                    <a:solidFill>
                      <a:srgbClr val="131D33"/>
                    </a:solidFill>
                  </a:tcPr>
                </a:tc>
                <a:tc>
                  <a:txBody>
                    <a:bodyPr wrap="square"/>
                    <a:lstStyle/>
                    <a:p>
                      <a:pPr algn="l"/>
                      <a:r>
                        <a:rPr sz="1250" b="0" i="0">
                          <a:solidFill>
                            <a:srgbClr val="D4DEEA"/>
                          </a:solidFill>
                          <a:latin typeface="Segoe UI"/>
                        </a:rPr>
                        <a:t>All of the above in one shot</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interactive</a:t>
                      </a:r>
                    </a:p>
                  </a:txBody>
                  <a:tcPr marL="73152" marR="54864" marT="27432" marB="27432" anchor="ctr">
                    <a:solidFill>
                      <a:srgbClr val="18233D"/>
                    </a:solidFill>
                  </a:tcPr>
                </a:tc>
                <a:tc>
                  <a:txBody>
                    <a:bodyPr wrap="square"/>
                    <a:lstStyle/>
                    <a:p>
                      <a:pPr algn="l"/>
                      <a:r>
                        <a:rPr sz="1250" b="0" i="0">
                          <a:solidFill>
                            <a:srgbClr val="D4DEEA"/>
                          </a:solidFill>
                          <a:latin typeface="Segoe UI"/>
                        </a:rPr>
                        <a:t>Guided wizard — friendliest entry point</a:t>
                      </a:r>
                    </a:p>
                  </a:txBody>
                  <a:tcPr marL="73152" marR="54864" marT="27432" marB="27432" anchor="ctr">
                    <a:solidFill>
                      <a:srgbClr val="18233D"/>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Key flags</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52</a:t>
            </a:r>
          </a:p>
        </p:txBody>
      </p:sp>
      <p:sp>
        <p:nvSpPr>
          <p:cNvPr id="8" name="Rounded Rectangle 7"/>
          <p:cNvSpPr/>
          <p:nvPr/>
        </p:nvSpPr>
        <p:spPr>
          <a:xfrm>
            <a:off x="640080" y="1371600"/>
            <a:ext cx="10927080" cy="4983480"/>
          </a:xfrm>
          <a:prstGeom prst="roundRect">
            <a:avLst>
              <a:gd name="adj" fmla="val 4500"/>
            </a:avLst>
          </a:prstGeom>
          <a:solidFill>
            <a:srgbClr val="0F1A2E"/>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74320" tIns="566928"/>
          <a:lstStyle/>
          <a:p>
            <a:pPr algn="ctr">
              <a:spcAft>
                <a:spcPts val="300"/>
              </a:spcAft>
            </a:pPr>
            <a:r>
              <a:rPr sz="1550" b="0" i="0">
                <a:solidFill>
                  <a:srgbClr val="F59E0B"/>
                </a:solidFill>
                <a:latin typeface="Consolas"/>
              </a:rPr>
              <a:t>--tool</a:t>
            </a:r>
            <a:r>
              <a:rPr sz="1550" b="0" i="0">
                <a:solidFill>
                  <a:srgbClr val="CCD8E6"/>
                </a:solidFill>
                <a:latin typeface="Consolas"/>
              </a:rPr>
              <a:t>      </a:t>
            </a:r>
            <a:r>
              <a:rPr sz="1550" b="0" i="0">
                <a:solidFill>
                  <a:srgbClr val="CCD8E6"/>
                </a:solidFill>
                <a:latin typeface="Consolas"/>
              </a:rPr>
              <a:t>{codeql,</a:t>
            </a:r>
            <a:r>
              <a:rPr sz="1550" b="0" i="0">
                <a:solidFill>
                  <a:srgbClr val="CCD8E6"/>
                </a:solidFill>
                <a:latin typeface="Consolas"/>
              </a:rPr>
              <a:t> </a:t>
            </a:r>
            <a:r>
              <a:rPr sz="1550" b="0" i="0">
                <a:solidFill>
                  <a:srgbClr val="CCD8E6"/>
                </a:solidFill>
                <a:latin typeface="Consolas"/>
              </a:rPr>
              <a:t>semgrep,</a:t>
            </a:r>
            <a:r>
              <a:rPr sz="1550" b="0" i="0">
                <a:solidFill>
                  <a:srgbClr val="CCD8E6"/>
                </a:solidFill>
                <a:latin typeface="Consolas"/>
              </a:rPr>
              <a:t> </a:t>
            </a:r>
            <a:r>
              <a:rPr sz="1550" b="0" i="0">
                <a:solidFill>
                  <a:srgbClr val="CCD8E6"/>
                </a:solidFill>
                <a:latin typeface="Consolas"/>
              </a:rPr>
              <a:t>both}</a:t>
            </a:r>
            <a:r>
              <a:rPr sz="1550" b="0" i="0">
                <a:solidFill>
                  <a:srgbClr val="CCD8E6"/>
                </a:solidFill>
                <a:latin typeface="Consolas"/>
              </a:rPr>
              <a:t>            </a:t>
            </a:r>
            <a:r>
              <a:rPr sz="1550" b="0" i="1">
                <a:solidFill>
                  <a:srgbClr val="6E8BA3"/>
                </a:solidFill>
                <a:latin typeface="Consolas"/>
              </a:rPr>
              <a:t>  # which scanners</a:t>
            </a:r>
          </a:p>
          <a:p>
            <a:pPr>
              <a:spcAft>
                <a:spcPts val="300"/>
              </a:spcAft>
            </a:pPr>
            <a:r>
              <a:rPr sz="1550" b="0" i="0">
                <a:solidFill>
                  <a:srgbClr val="F59E0B"/>
                </a:solidFill>
                <a:latin typeface="Consolas"/>
              </a:rPr>
              <a:t>--profile</a:t>
            </a:r>
            <a:r>
              <a:rPr sz="1550" b="0" i="0">
                <a:solidFill>
                  <a:srgbClr val="CCD8E6"/>
                </a:solidFill>
                <a:latin typeface="Consolas"/>
              </a:rPr>
              <a:t>   </a:t>
            </a:r>
            <a:r>
              <a:rPr sz="1550" b="0" i="0">
                <a:solidFill>
                  <a:srgbClr val="CCD8E6"/>
                </a:solidFill>
                <a:latin typeface="Consolas"/>
              </a:rPr>
              <a:t>{standard,</a:t>
            </a:r>
            <a:r>
              <a:rPr sz="1550" b="0" i="0">
                <a:solidFill>
                  <a:srgbClr val="CCD8E6"/>
                </a:solidFill>
                <a:latin typeface="Consolas"/>
              </a:rPr>
              <a:t> </a:t>
            </a:r>
            <a:r>
              <a:rPr sz="1550" b="0" i="0">
                <a:solidFill>
                  <a:srgbClr val="CCD8E6"/>
                </a:solidFill>
                <a:latin typeface="Consolas"/>
              </a:rPr>
              <a:t>extended,</a:t>
            </a:r>
            <a:r>
              <a:rPr sz="1550" b="0" i="0">
                <a:solidFill>
                  <a:srgbClr val="CCD8E6"/>
                </a:solidFill>
                <a:latin typeface="Consolas"/>
              </a:rPr>
              <a:t> </a:t>
            </a:r>
            <a:r>
              <a:rPr sz="1550" b="0" i="0">
                <a:solidFill>
                  <a:srgbClr val="CCD8E6"/>
                </a:solidFill>
                <a:latin typeface="Consolas"/>
              </a:rPr>
              <a:t>maximum,</a:t>
            </a:r>
            <a:r>
              <a:rPr sz="1550" b="0" i="0">
                <a:solidFill>
                  <a:srgbClr val="CCD8E6"/>
                </a:solidFill>
                <a:latin typeface="Consolas"/>
              </a:rPr>
              <a:t> </a:t>
            </a:r>
            <a:r>
              <a:rPr sz="1550" b="0" i="0">
                <a:solidFill>
                  <a:srgbClr val="CCD8E6"/>
                </a:solidFill>
                <a:latin typeface="Consolas"/>
              </a:rPr>
              <a:t>extended-registry,</a:t>
            </a:r>
            <a:r>
              <a:rPr sz="1550" b="0" i="0">
                <a:solidFill>
                  <a:srgbClr val="CCD8E6"/>
                </a:solidFill>
                <a:latin typeface="Consolas"/>
              </a:rPr>
              <a:t> </a:t>
            </a:r>
            <a:r>
              <a:rPr sz="1550" b="0" i="0">
                <a:solidFill>
                  <a:srgbClr val="CCD8E6"/>
                </a:solidFill>
                <a:latin typeface="Consolas"/>
              </a:rPr>
              <a:t>full}</a:t>
            </a:r>
          </a:p>
          <a:p>
            <a:pPr>
              <a:spcAft>
                <a:spcPts val="300"/>
              </a:spcAft>
            </a:pPr>
            <a:r>
              <a:rPr sz="1550" b="0" i="0">
                <a:solidFill>
                  <a:srgbClr val="F59E0B"/>
                </a:solidFill>
                <a:latin typeface="Consolas"/>
              </a:rPr>
              <a:t>--provider</a:t>
            </a:r>
            <a:r>
              <a:rPr sz="1550" b="0" i="0">
                <a:solidFill>
                  <a:srgbClr val="CCD8E6"/>
                </a:solidFill>
                <a:latin typeface="Consolas"/>
              </a:rPr>
              <a:t>  </a:t>
            </a:r>
            <a:r>
              <a:rPr sz="1550" b="0" i="0">
                <a:solidFill>
                  <a:srgbClr val="CCD8E6"/>
                </a:solidFill>
                <a:latin typeface="Consolas"/>
              </a:rPr>
              <a:t>{openai,</a:t>
            </a:r>
            <a:r>
              <a:rPr sz="1550" b="0" i="0">
                <a:solidFill>
                  <a:srgbClr val="CCD8E6"/>
                </a:solidFill>
                <a:latin typeface="Consolas"/>
              </a:rPr>
              <a:t> </a:t>
            </a:r>
            <a:r>
              <a:rPr sz="1550" b="0" i="0">
                <a:solidFill>
                  <a:srgbClr val="CCD8E6"/>
                </a:solidFill>
                <a:latin typeface="Consolas"/>
              </a:rPr>
              <a:t>anthropic,</a:t>
            </a:r>
            <a:r>
              <a:rPr sz="1550" b="0" i="0">
                <a:solidFill>
                  <a:srgbClr val="CCD8E6"/>
                </a:solidFill>
                <a:latin typeface="Consolas"/>
              </a:rPr>
              <a:t> </a:t>
            </a:r>
            <a:r>
              <a:rPr sz="1550" b="0" i="0">
                <a:solidFill>
                  <a:srgbClr val="CCD8E6"/>
                </a:solidFill>
                <a:latin typeface="Consolas"/>
              </a:rPr>
              <a:t>ollama,</a:t>
            </a:r>
            <a:r>
              <a:rPr sz="1550" b="0" i="0">
                <a:solidFill>
                  <a:srgbClr val="CCD8E6"/>
                </a:solidFill>
                <a:latin typeface="Consolas"/>
              </a:rPr>
              <a:t> </a:t>
            </a:r>
            <a:r>
              <a:rPr sz="1550" b="0" i="0">
                <a:solidFill>
                  <a:srgbClr val="CCD8E6"/>
                </a:solidFill>
                <a:latin typeface="Consolas"/>
              </a:rPr>
              <a:t>deepseek}</a:t>
            </a:r>
            <a:r>
              <a:rPr sz="1550" b="0" i="0">
                <a:solidFill>
                  <a:srgbClr val="CCD8E6"/>
                </a:solidFill>
                <a:latin typeface="Consolas"/>
              </a:rPr>
              <a:t>    </a:t>
            </a:r>
            <a:r>
              <a:rPr sz="1550" b="0" i="1">
                <a:solidFill>
                  <a:srgbClr val="6E8BA3"/>
                </a:solidFill>
                <a:latin typeface="Consolas"/>
              </a:rPr>
              <a:t>  # LLM backend</a:t>
            </a:r>
          </a:p>
          <a:p>
            <a:pPr>
              <a:spcAft>
                <a:spcPts val="300"/>
              </a:spcAft>
            </a:pPr>
            <a:r>
              <a:rPr sz="1550" b="0" i="0">
                <a:solidFill>
                  <a:srgbClr val="F59E0B"/>
                </a:solidFill>
                <a:latin typeface="Consolas"/>
              </a:rPr>
              <a:t>--model</a:t>
            </a:r>
            <a:r>
              <a:rPr sz="1550" b="0" i="0">
                <a:solidFill>
                  <a:srgbClr val="CCD8E6"/>
                </a:solidFill>
                <a:latin typeface="Consolas"/>
              </a:rPr>
              <a:t>     </a:t>
            </a:r>
            <a:r>
              <a:rPr sz="1550" b="0" i="0">
                <a:solidFill>
                  <a:srgbClr val="CCD8E6"/>
                </a:solidFill>
                <a:latin typeface="Consolas"/>
              </a:rPr>
              <a:t>&lt;name&gt;</a:t>
            </a:r>
            <a:r>
              <a:rPr sz="1550" b="0" i="0">
                <a:solidFill>
                  <a:srgbClr val="CCD8E6"/>
                </a:solidFill>
                <a:latin typeface="Consolas"/>
              </a:rPr>
              <a:t>                </a:t>
            </a:r>
            <a:r>
              <a:rPr sz="1550" b="0" i="1">
                <a:solidFill>
                  <a:srgbClr val="6E8BA3"/>
                </a:solidFill>
                <a:latin typeface="Consolas"/>
              </a:rPr>
              <a:t>  # e.g. gpt-4o, ollama/...:cloud</a:t>
            </a:r>
          </a:p>
          <a:p>
            <a:pPr>
              <a:spcAft>
                <a:spcPts val="300"/>
              </a:spcAft>
            </a:pPr>
            <a:r>
              <a:rPr sz="1550" b="0" i="0">
                <a:solidFill>
                  <a:srgbClr val="F59E0B"/>
                </a:solidFill>
                <a:latin typeface="Consolas"/>
              </a:rPr>
              <a:t>--limit</a:t>
            </a:r>
            <a:r>
              <a:rPr sz="1550" b="0" i="0">
                <a:solidFill>
                  <a:srgbClr val="CCD8E6"/>
                </a:solidFill>
                <a:latin typeface="Consolas"/>
              </a:rPr>
              <a:t>     </a:t>
            </a:r>
            <a:r>
              <a:rPr sz="1550" b="0" i="0">
                <a:solidFill>
                  <a:srgbClr val="CCD8E6"/>
                </a:solidFill>
                <a:latin typeface="Consolas"/>
              </a:rPr>
              <a:t>N</a:t>
            </a:r>
            <a:r>
              <a:rPr sz="1550" b="0" i="0">
                <a:solidFill>
                  <a:srgbClr val="CCD8E6"/>
                </a:solidFill>
                <a:latin typeface="Consolas"/>
              </a:rPr>
              <a:t>         </a:t>
            </a:r>
            <a:r>
              <a:rPr sz="1550" b="0" i="1">
                <a:solidFill>
                  <a:srgbClr val="6E8BA3"/>
                </a:solidFill>
                <a:latin typeface="Consolas"/>
              </a:rPr>
              <a:t>  # cap findings to verify (cost control)</a:t>
            </a:r>
          </a:p>
          <a:p>
            <a:pPr>
              <a:spcAft>
                <a:spcPts val="300"/>
              </a:spcAft>
            </a:pPr>
            <a:r>
              <a:rPr sz="1550" b="0" i="0">
                <a:solidFill>
                  <a:srgbClr val="F59E0B"/>
                </a:solidFill>
                <a:latin typeface="Consolas"/>
              </a:rPr>
              <a:t>--max-iterations</a:t>
            </a:r>
            <a:r>
              <a:rPr sz="1550" b="0" i="0">
                <a:solidFill>
                  <a:srgbClr val="CCD8E6"/>
                </a:solidFill>
                <a:latin typeface="Consolas"/>
              </a:rPr>
              <a:t> </a:t>
            </a:r>
            <a:r>
              <a:rPr sz="1550" b="0" i="0">
                <a:solidFill>
                  <a:srgbClr val="CCD8E6"/>
                </a:solidFill>
                <a:latin typeface="Consolas"/>
              </a:rPr>
              <a:t>N</a:t>
            </a:r>
            <a:r>
              <a:rPr sz="1550" b="0" i="0">
                <a:solidFill>
                  <a:srgbClr val="CCD8E6"/>
                </a:solidFill>
                <a:latin typeface="Consolas"/>
              </a:rPr>
              <a:t>    </a:t>
            </a:r>
            <a:r>
              <a:rPr sz="1550" b="0" i="1">
                <a:solidFill>
                  <a:srgbClr val="6E8BA3"/>
                </a:solidFill>
                <a:latin typeface="Consolas"/>
              </a:rPr>
              <a:t>  # multi-turn rounds (default 10)</a:t>
            </a:r>
          </a:p>
          <a:p>
            <a:pPr>
              <a:spcAft>
                <a:spcPts val="300"/>
              </a:spcAft>
            </a:pPr>
            <a:r>
              <a:rPr sz="1550" b="0" i="0">
                <a:solidFill>
                  <a:srgbClr val="F59E0B"/>
                </a:solidFill>
                <a:latin typeface="Consolas"/>
              </a:rPr>
              <a:t>-j</a:t>
            </a:r>
            <a:r>
              <a:rPr sz="1550" b="0" i="0">
                <a:solidFill>
                  <a:srgbClr val="CCD8E6"/>
                </a:solidFill>
                <a:latin typeface="Consolas"/>
              </a:rPr>
              <a:t> </a:t>
            </a:r>
            <a:r>
              <a:rPr sz="1550" b="0" i="0">
                <a:solidFill>
                  <a:srgbClr val="CCD8E6"/>
                </a:solidFill>
                <a:latin typeface="Consolas"/>
              </a:rPr>
              <a:t>/</a:t>
            </a:r>
            <a:r>
              <a:rPr sz="1550" b="0" i="0">
                <a:solidFill>
                  <a:srgbClr val="CCD8E6"/>
                </a:solidFill>
                <a:latin typeface="Consolas"/>
              </a:rPr>
              <a:t> </a:t>
            </a:r>
            <a:r>
              <a:rPr sz="1550" b="0" i="0">
                <a:solidFill>
                  <a:srgbClr val="F59E0B"/>
                </a:solidFill>
                <a:latin typeface="Consolas"/>
              </a:rPr>
              <a:t>--jobs</a:t>
            </a:r>
            <a:r>
              <a:rPr sz="1550" b="0" i="0">
                <a:solidFill>
                  <a:srgbClr val="CCD8E6"/>
                </a:solidFill>
                <a:latin typeface="Consolas"/>
              </a:rPr>
              <a:t> </a:t>
            </a:r>
            <a:r>
              <a:rPr sz="1550" b="0" i="0">
                <a:solidFill>
                  <a:srgbClr val="CCD8E6"/>
                </a:solidFill>
                <a:latin typeface="Consolas"/>
              </a:rPr>
              <a:t>N</a:t>
            </a:r>
            <a:r>
              <a:rPr sz="1550" b="0" i="0">
                <a:solidFill>
                  <a:srgbClr val="CCD8E6"/>
                </a:solidFill>
                <a:latin typeface="Consolas"/>
              </a:rPr>
              <a:t>         </a:t>
            </a:r>
            <a:r>
              <a:rPr sz="1550" b="0" i="1">
                <a:solidFill>
                  <a:srgbClr val="6E8BA3"/>
                </a:solidFill>
                <a:latin typeface="Consolas"/>
              </a:rPr>
              <a:t>  # parallel findings (default 4)</a:t>
            </a:r>
          </a:p>
          <a:p>
            <a:pPr>
              <a:spcAft>
                <a:spcPts val="300"/>
              </a:spcAft>
            </a:pPr>
            <a:r>
              <a:rPr sz="1550" b="0" i="0">
                <a:solidFill>
                  <a:srgbClr val="F59E0B"/>
                </a:solidFill>
                <a:latin typeface="Consolas"/>
              </a:rPr>
              <a:t>--lang</a:t>
            </a:r>
            <a:r>
              <a:rPr sz="1550" b="0" i="0">
                <a:solidFill>
                  <a:srgbClr val="CCD8E6"/>
                </a:solidFill>
                <a:latin typeface="Consolas"/>
              </a:rPr>
              <a:t>      </a:t>
            </a:r>
            <a:r>
              <a:rPr sz="1550" b="0" i="0">
                <a:solidFill>
                  <a:srgbClr val="CCD8E6"/>
                </a:solidFill>
                <a:latin typeface="Consolas"/>
              </a:rPr>
              <a:t>&lt;lang&gt;</a:t>
            </a:r>
            <a:r>
              <a:rPr sz="1550" b="0" i="0">
                <a:solidFill>
                  <a:srgbClr val="CCD8E6"/>
                </a:solidFill>
                <a:latin typeface="Consolas"/>
              </a:rPr>
              <a:t>    </a:t>
            </a:r>
            <a:r>
              <a:rPr sz="1550" b="0" i="1">
                <a:solidFill>
                  <a:srgbClr val="6E8BA3"/>
                </a:solidFill>
                <a:latin typeface="Consolas"/>
              </a:rPr>
              <a:t>  # required with --url / --local-path</a:t>
            </a:r>
          </a:p>
          <a:p>
            <a:pPr>
              <a:spcAft>
                <a:spcPts val="300"/>
              </a:spcAft>
            </a:pPr>
            <a:r>
              <a:rPr sz="1550" b="0" i="0">
                <a:solidFill>
                  <a:srgbClr val="F59E0B"/>
                </a:solidFill>
                <a:latin typeface="Consolas"/>
              </a:rPr>
              <a:t>--dry-run</a:t>
            </a:r>
            <a:r>
              <a:rPr sz="1550" b="0" i="0">
                <a:solidFill>
                  <a:srgbClr val="CCD8E6"/>
                </a:solidFill>
                <a:latin typeface="Consolas"/>
              </a:rPr>
              <a:t>             </a:t>
            </a:r>
            <a:r>
              <a:rPr sz="1550" b="0" i="1">
                <a:solidFill>
                  <a:srgbClr val="6E8BA3"/>
                </a:solidFill>
                <a:latin typeface="Consolas"/>
              </a:rPr>
              <a:t>  # preview, no LLM calls</a:t>
            </a:r>
          </a:p>
        </p:txBody>
      </p:sp>
      <p:sp>
        <p:nvSpPr>
          <p:cNvPr id="9" name="Oval 8"/>
          <p:cNvSpPr/>
          <p:nvPr/>
        </p:nvSpPr>
        <p:spPr>
          <a:xfrm>
            <a:off x="868680" y="1572768"/>
            <a:ext cx="146304" cy="146304"/>
          </a:xfrm>
          <a:prstGeom prst="ellipse">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4712" y="1572768"/>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80744" y="1572768"/>
            <a:ext cx="146304" cy="14630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Worked example: one repo, end to end</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53</a:t>
            </a:r>
          </a:p>
        </p:txBody>
      </p:sp>
      <p:sp>
        <p:nvSpPr>
          <p:cNvPr id="8" name="Rounded Rectangle 7"/>
          <p:cNvSpPr/>
          <p:nvPr/>
        </p:nvSpPr>
        <p:spPr>
          <a:xfrm>
            <a:off x="640080" y="1371600"/>
            <a:ext cx="10927080" cy="4983480"/>
          </a:xfrm>
          <a:prstGeom prst="roundRect">
            <a:avLst>
              <a:gd name="adj" fmla="val 4500"/>
            </a:avLst>
          </a:prstGeom>
          <a:solidFill>
            <a:srgbClr val="0F1A2E"/>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t" wrap="square" lIns="274320" tIns="566928"/>
          <a:lstStyle/>
          <a:p>
            <a:pPr algn="ctr">
              <a:spcAft>
                <a:spcPts val="300"/>
              </a:spcAft>
            </a:pPr>
            <a:r>
              <a:rPr sz="1550" b="0" i="1">
                <a:solidFill>
                  <a:srgbClr val="6E8BA3"/>
                </a:solidFill>
                <a:latin typeface="Consolas"/>
              </a:rPr>
              <a:t># One command — prepare, analyze (CodeQL + Semgrep), verify, report:</a:t>
            </a:r>
          </a:p>
          <a:p>
            <a:pPr>
              <a:spcAft>
                <a:spcPts val="300"/>
              </a:spcAft>
            </a:pPr>
            <a:r>
              <a:rPr sz="1550" b="1" i="0">
                <a:solidFill>
                  <a:srgbClr val="4FC9A8"/>
                </a:solidFill>
                <a:latin typeface="Consolas"/>
              </a:rPr>
              <a:t>vuln-hunter-x</a:t>
            </a:r>
            <a:r>
              <a:rPr sz="1550" b="0" i="0">
                <a:solidFill>
                  <a:srgbClr val="CCD8E6"/>
                </a:solidFill>
                <a:latin typeface="Consolas"/>
              </a:rPr>
              <a:t> </a:t>
            </a:r>
            <a:r>
              <a:rPr sz="1550" b="0" i="0">
                <a:solidFill>
                  <a:srgbClr val="CCD8E6"/>
                </a:solidFill>
                <a:latin typeface="Consolas"/>
              </a:rPr>
              <a:t>scan</a:t>
            </a:r>
            <a:r>
              <a:rPr sz="1550" b="0" i="0">
                <a:solidFill>
                  <a:srgbClr val="CCD8E6"/>
                </a:solidFill>
                <a:latin typeface="Consolas"/>
              </a:rPr>
              <a:t> </a:t>
            </a:r>
            <a:r>
              <a:rPr sz="1550" b="0" i="0">
                <a:solidFill>
                  <a:srgbClr val="CCD8E6"/>
                </a:solidFill>
                <a:latin typeface="Consolas"/>
              </a:rPr>
              <a:t>\</a:t>
            </a:r>
          </a:p>
          <a:p>
            <a:pPr>
              <a:spcAft>
                <a:spcPts val="300"/>
              </a:spcAft>
            </a:pPr>
            <a:r>
              <a:rPr sz="1550" b="0" i="0">
                <a:solidFill>
                  <a:srgbClr val="CCD8E6"/>
                </a:solidFill>
                <a:latin typeface="Consolas"/>
              </a:rPr>
              <a:t>  </a:t>
            </a:r>
            <a:r>
              <a:rPr sz="1550" b="0" i="0">
                <a:solidFill>
                  <a:srgbClr val="F59E0B"/>
                </a:solidFill>
                <a:latin typeface="Consolas"/>
              </a:rPr>
              <a:t>--url</a:t>
            </a:r>
            <a:r>
              <a:rPr sz="1550" b="0" i="0">
                <a:solidFill>
                  <a:srgbClr val="CCD8E6"/>
                </a:solidFill>
                <a:latin typeface="Consolas"/>
              </a:rPr>
              <a:t> </a:t>
            </a:r>
            <a:r>
              <a:rPr sz="1550" b="0" i="0">
                <a:solidFill>
                  <a:srgbClr val="CCD8E6"/>
                </a:solidFill>
                <a:latin typeface="Consolas"/>
              </a:rPr>
              <a:t>https://github.com/patricia-gallardo/insecure-coding-examples.git</a:t>
            </a:r>
            <a:r>
              <a:rPr sz="1550" b="0" i="0">
                <a:solidFill>
                  <a:srgbClr val="CCD8E6"/>
                </a:solidFill>
                <a:latin typeface="Consolas"/>
              </a:rPr>
              <a:t> </a:t>
            </a:r>
            <a:r>
              <a:rPr sz="1550" b="0" i="0">
                <a:solidFill>
                  <a:srgbClr val="CCD8E6"/>
                </a:solidFill>
                <a:latin typeface="Consolas"/>
              </a:rPr>
              <a:t>\</a:t>
            </a:r>
          </a:p>
          <a:p>
            <a:pPr>
              <a:spcAft>
                <a:spcPts val="300"/>
              </a:spcAft>
            </a:pPr>
            <a:r>
              <a:rPr sz="1550" b="0" i="0">
                <a:solidFill>
                  <a:srgbClr val="CCD8E6"/>
                </a:solidFill>
                <a:latin typeface="Consolas"/>
              </a:rPr>
              <a:t>  </a:t>
            </a:r>
            <a:r>
              <a:rPr sz="1550" b="0" i="0">
                <a:solidFill>
                  <a:srgbClr val="F59E0B"/>
                </a:solidFill>
                <a:latin typeface="Consolas"/>
              </a:rPr>
              <a:t>--lang</a:t>
            </a:r>
            <a:r>
              <a:rPr sz="1550" b="0" i="0">
                <a:solidFill>
                  <a:srgbClr val="CCD8E6"/>
                </a:solidFill>
                <a:latin typeface="Consolas"/>
              </a:rPr>
              <a:t> </a:t>
            </a:r>
            <a:r>
              <a:rPr sz="1550" b="0" i="0">
                <a:solidFill>
                  <a:srgbClr val="CCD8E6"/>
                </a:solidFill>
                <a:latin typeface="Consolas"/>
              </a:rPr>
              <a:t>cpp</a:t>
            </a:r>
            <a:r>
              <a:rPr sz="1550" b="0" i="0">
                <a:solidFill>
                  <a:srgbClr val="CCD8E6"/>
                </a:solidFill>
                <a:latin typeface="Consolas"/>
              </a:rPr>
              <a:t> </a:t>
            </a:r>
            <a:r>
              <a:rPr sz="1550" b="0" i="0">
                <a:solidFill>
                  <a:srgbClr val="F59E0B"/>
                </a:solidFill>
                <a:latin typeface="Consolas"/>
              </a:rPr>
              <a:t>--tool</a:t>
            </a:r>
            <a:r>
              <a:rPr sz="1550" b="0" i="0">
                <a:solidFill>
                  <a:srgbClr val="CCD8E6"/>
                </a:solidFill>
                <a:latin typeface="Consolas"/>
              </a:rPr>
              <a:t> </a:t>
            </a:r>
            <a:r>
              <a:rPr sz="1550" b="0" i="0">
                <a:solidFill>
                  <a:srgbClr val="CCD8E6"/>
                </a:solidFill>
                <a:latin typeface="Consolas"/>
              </a:rPr>
              <a:t>both</a:t>
            </a:r>
            <a:r>
              <a:rPr sz="1550" b="0" i="0">
                <a:solidFill>
                  <a:srgbClr val="CCD8E6"/>
                </a:solidFill>
                <a:latin typeface="Consolas"/>
              </a:rPr>
              <a:t> </a:t>
            </a:r>
            <a:r>
              <a:rPr sz="1550" b="0" i="0">
                <a:solidFill>
                  <a:srgbClr val="F59E0B"/>
                </a:solidFill>
                <a:latin typeface="Consolas"/>
              </a:rPr>
              <a:t>--profile</a:t>
            </a:r>
            <a:r>
              <a:rPr sz="1550" b="0" i="0">
                <a:solidFill>
                  <a:srgbClr val="CCD8E6"/>
                </a:solidFill>
                <a:latin typeface="Consolas"/>
              </a:rPr>
              <a:t> </a:t>
            </a:r>
            <a:r>
              <a:rPr sz="1550" b="0" i="0">
                <a:solidFill>
                  <a:srgbClr val="CCD8E6"/>
                </a:solidFill>
                <a:latin typeface="Consolas"/>
              </a:rPr>
              <a:t>full</a:t>
            </a:r>
            <a:r>
              <a:rPr sz="1550" b="0" i="0">
                <a:solidFill>
                  <a:srgbClr val="CCD8E6"/>
                </a:solidFill>
                <a:latin typeface="Consolas"/>
              </a:rPr>
              <a:t> </a:t>
            </a:r>
            <a:r>
              <a:rPr sz="1550" b="0" i="0">
                <a:solidFill>
                  <a:srgbClr val="F59E0B"/>
                </a:solidFill>
                <a:latin typeface="Consolas"/>
              </a:rPr>
              <a:t>--limit</a:t>
            </a:r>
            <a:r>
              <a:rPr sz="1550" b="0" i="0">
                <a:solidFill>
                  <a:srgbClr val="CCD8E6"/>
                </a:solidFill>
                <a:latin typeface="Consolas"/>
              </a:rPr>
              <a:t> </a:t>
            </a:r>
            <a:r>
              <a:rPr sz="1550" b="0" i="0">
                <a:solidFill>
                  <a:srgbClr val="CCD8E6"/>
                </a:solidFill>
                <a:latin typeface="Consolas"/>
              </a:rPr>
              <a:t>8</a:t>
            </a:r>
          </a:p>
          <a:p>
            <a:pPr>
              <a:spcAft>
                <a:spcPts val="300"/>
              </a:spcAft>
            </a:pPr>
            <a:r>
              <a:rPr sz="1550" b="0" i="0">
                <a:solidFill>
                  <a:srgbClr val="CCD8E6"/>
                </a:solidFill>
                <a:latin typeface="Consolas"/>
              </a:rPr>
              <a:t> </a:t>
            </a:r>
          </a:p>
          <a:p>
            <a:pPr>
              <a:spcAft>
                <a:spcPts val="300"/>
              </a:spcAft>
            </a:pPr>
            <a:r>
              <a:rPr sz="1550" b="0" i="1">
                <a:solidFill>
                  <a:srgbClr val="6E8BA3"/>
                </a:solidFill>
                <a:latin typeface="Consolas"/>
              </a:rPr>
              <a:t># Read the triaged report:</a:t>
            </a:r>
          </a:p>
          <a:p>
            <a:pPr>
              <a:spcAft>
                <a:spcPts val="300"/>
              </a:spcAft>
            </a:pPr>
            <a:r>
              <a:rPr sz="1550" b="1" i="0">
                <a:solidFill>
                  <a:srgbClr val="4FC9A8"/>
                </a:solidFill>
                <a:latin typeface="Consolas"/>
              </a:rPr>
              <a:t>cat</a:t>
            </a:r>
            <a:r>
              <a:rPr sz="1550" b="0" i="0">
                <a:solidFill>
                  <a:srgbClr val="CCD8E6"/>
                </a:solidFill>
                <a:latin typeface="Consolas"/>
              </a:rPr>
              <a:t> </a:t>
            </a:r>
            <a:r>
              <a:rPr sz="1550" b="0" i="0">
                <a:solidFill>
                  <a:srgbClr val="CCD8E6"/>
                </a:solidFill>
                <a:latin typeface="Consolas"/>
              </a:rPr>
              <a:t>output/cpp/insecure-coding-examples/verification_results/report.md</a:t>
            </a:r>
          </a:p>
        </p:txBody>
      </p:sp>
      <p:sp>
        <p:nvSpPr>
          <p:cNvPr id="9" name="Oval 8"/>
          <p:cNvSpPr/>
          <p:nvPr/>
        </p:nvSpPr>
        <p:spPr>
          <a:xfrm>
            <a:off x="868680" y="1572768"/>
            <a:ext cx="146304" cy="146304"/>
          </a:xfrm>
          <a:prstGeom prst="ellipse">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4712" y="1572768"/>
            <a:ext cx="146304" cy="14630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80744" y="1572768"/>
            <a:ext cx="146304" cy="146304"/>
          </a:xfrm>
          <a:prstGeom prst="ellipse">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98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766560" y="960120"/>
            <a:ext cx="5074920" cy="4480560"/>
          </a:xfrm>
          <a:prstGeom prst="rect">
            <a:avLst/>
          </a:prstGeom>
          <a:noFill/>
        </p:spPr>
        <p:txBody>
          <a:bodyPr wrap="none" anchor="ctr" lIns="0" rIns="0" tIns="0" bIns="0">
            <a:spAutoFit/>
          </a:bodyPr>
          <a:lstStyle/>
          <a:p>
            <a:pPr algn="r">
              <a:spcAft>
                <a:spcPts val="200"/>
              </a:spcAft>
            </a:pPr>
            <a:r>
              <a:rPr sz="25000" b="1" i="0">
                <a:solidFill>
                  <a:srgbClr val="1C2C4A"/>
                </a:solidFill>
                <a:latin typeface="Segoe UI"/>
              </a:rPr>
              <a:t>07</a:t>
            </a:r>
          </a:p>
        </p:txBody>
      </p:sp>
      <p:sp>
        <p:nvSpPr>
          <p:cNvPr id="4" name="Rectangle 3"/>
          <p:cNvSpPr/>
          <p:nvPr/>
        </p:nvSpPr>
        <p:spPr>
          <a:xfrm>
            <a:off x="868680" y="2670048"/>
            <a:ext cx="50292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508760" y="2450592"/>
            <a:ext cx="8229600" cy="502920"/>
          </a:xfrm>
          <a:prstGeom prst="rect">
            <a:avLst/>
          </a:prstGeom>
          <a:noFill/>
        </p:spPr>
        <p:txBody>
          <a:bodyPr wrap="square" anchor="t" lIns="0" rIns="0" tIns="0" bIns="0">
            <a:spAutoFit/>
          </a:bodyPr>
          <a:lstStyle/>
          <a:p>
            <a:pPr algn="l">
              <a:spcAft>
                <a:spcPts val="200"/>
              </a:spcAft>
            </a:pPr>
            <a:r>
              <a:rPr sz="1800" b="1" i="0">
                <a:solidFill>
                  <a:srgbClr val="F59E0B"/>
                </a:solidFill>
                <a:latin typeface="Segoe UI"/>
              </a:rPr>
              <a:t>PART 7</a:t>
            </a:r>
          </a:p>
        </p:txBody>
      </p:sp>
      <p:sp>
        <p:nvSpPr>
          <p:cNvPr id="6" name="TextBox 5"/>
          <p:cNvSpPr txBox="1"/>
          <p:nvPr/>
        </p:nvSpPr>
        <p:spPr>
          <a:xfrm>
            <a:off x="822960" y="2944368"/>
            <a:ext cx="10058400" cy="1645920"/>
          </a:xfrm>
          <a:prstGeom prst="rect">
            <a:avLst/>
          </a:prstGeom>
          <a:noFill/>
        </p:spPr>
        <p:txBody>
          <a:bodyPr wrap="square" anchor="t" lIns="0" rIns="0" tIns="0" bIns="0">
            <a:spAutoFit/>
          </a:bodyPr>
          <a:lstStyle/>
          <a:p>
            <a:pPr algn="l">
              <a:spcAft>
                <a:spcPts val="200"/>
              </a:spcAft>
            </a:pPr>
            <a:r>
              <a:rPr sz="4000" b="1" i="0">
                <a:solidFill>
                  <a:srgbClr val="FFFFFF"/>
                </a:solidFill>
                <a:latin typeface="Segoe UI"/>
              </a:rPr>
              <a:t>Results &amp; limitations</a:t>
            </a:r>
          </a:p>
        </p:txBody>
      </p:sp>
      <p:sp>
        <p:nvSpPr>
          <p:cNvPr id="7" name="Rectangle 6"/>
          <p:cNvSpPr/>
          <p:nvPr/>
        </p:nvSpPr>
        <p:spPr>
          <a:xfrm>
            <a:off x="868680" y="4343400"/>
            <a:ext cx="2926080" cy="457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216152"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563624"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911096"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258568"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606040" y="6126480"/>
            <a:ext cx="201168" cy="146304"/>
          </a:xfrm>
          <a:prstGeom prst="roundRect">
            <a:avLst>
              <a:gd name="adj" fmla="val 4500"/>
            </a:avLst>
          </a:prstGeom>
          <a:solidFill>
            <a:srgbClr val="1C2C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953512" y="6126480"/>
            <a:ext cx="457200" cy="146304"/>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Why VulnHunterX — and why it keeps improving</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55</a:t>
            </a:r>
          </a:p>
        </p:txBody>
      </p:sp>
      <p:sp>
        <p:nvSpPr>
          <p:cNvPr id="8" name="Rounded Rectangle 7"/>
          <p:cNvSpPr/>
          <p:nvPr/>
        </p:nvSpPr>
        <p:spPr>
          <a:xfrm>
            <a:off x="548640" y="1691640"/>
            <a:ext cx="3566160" cy="18288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100584" cy="1828800"/>
          </a:xfrm>
          <a:prstGeom prst="roundRect">
            <a:avLst>
              <a:gd name="adj" fmla="val 45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691640"/>
            <a:ext cx="3255264"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Actively maintained</a:t>
            </a:r>
          </a:p>
          <a:p>
            <a:pPr algn="l">
              <a:spcAft>
                <a:spcPts val="200"/>
              </a:spcAft>
            </a:pPr>
            <a:r>
              <a:rPr sz="1250" b="0" i="0">
                <a:solidFill>
                  <a:srgbClr val="9DB0C6"/>
                </a:solidFill>
                <a:latin typeface="Segoe UI"/>
              </a:rPr>
              <a:t>Rules + guided questions are added continuously — coverage grows release over release.</a:t>
            </a:r>
          </a:p>
        </p:txBody>
      </p:sp>
      <p:sp>
        <p:nvSpPr>
          <p:cNvPr id="11" name="Rounded Rectangle 10"/>
          <p:cNvSpPr/>
          <p:nvPr/>
        </p:nvSpPr>
        <p:spPr>
          <a:xfrm>
            <a:off x="4343400" y="1691640"/>
            <a:ext cx="3566160" cy="18288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1691640"/>
            <a:ext cx="100584" cy="1828800"/>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44568" y="1691640"/>
            <a:ext cx="3255264"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173 custom rules</a:t>
            </a:r>
          </a:p>
          <a:p>
            <a:pPr algn="l">
              <a:spcAft>
                <a:spcPts val="200"/>
              </a:spcAft>
            </a:pPr>
            <a:r>
              <a:rPr sz="1250" b="0" i="0">
                <a:solidFill>
                  <a:srgbClr val="9DB0C6"/>
                </a:solidFill>
                <a:latin typeface="Segoe UI"/>
              </a:rPr>
              <a:t>65 CodeQL queries + 108 Semgrep rules, plus 365 guided-question entries (live count).</a:t>
            </a:r>
          </a:p>
        </p:txBody>
      </p:sp>
      <p:sp>
        <p:nvSpPr>
          <p:cNvPr id="14" name="Rounded Rectangle 13"/>
          <p:cNvSpPr/>
          <p:nvPr/>
        </p:nvSpPr>
        <p:spPr>
          <a:xfrm>
            <a:off x="8138160" y="1691640"/>
            <a:ext cx="3566160" cy="18288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38160" y="1691640"/>
            <a:ext cx="100584" cy="1828800"/>
          </a:xfrm>
          <a:prstGeom prst="roundRect">
            <a:avLst>
              <a:gd name="adj" fmla="val 45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1691640"/>
            <a:ext cx="3255264"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Explainable &amp; calibrated</a:t>
            </a:r>
          </a:p>
          <a:p>
            <a:pPr algn="l">
              <a:spcAft>
                <a:spcPts val="200"/>
              </a:spcAft>
            </a:pPr>
            <a:r>
              <a:rPr sz="1250" b="0" i="0">
                <a:solidFill>
                  <a:srgbClr val="9DB0C6"/>
                </a:solidFill>
                <a:latin typeface="Segoe UI"/>
              </a:rPr>
              <a:t>Every verdict cites lines + a confidence that tracks accuracy (see benchmarks).</a:t>
            </a:r>
          </a:p>
        </p:txBody>
      </p:sp>
      <p:sp>
        <p:nvSpPr>
          <p:cNvPr id="17" name="Rounded Rectangle 16"/>
          <p:cNvSpPr/>
          <p:nvPr/>
        </p:nvSpPr>
        <p:spPr>
          <a:xfrm>
            <a:off x="548640" y="3749040"/>
            <a:ext cx="3566160" cy="18288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3749040"/>
            <a:ext cx="100584" cy="1828800"/>
          </a:xfrm>
          <a:prstGeom prst="roundRect">
            <a:avLst>
              <a:gd name="adj" fmla="val 45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3749040"/>
            <a:ext cx="3255264"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8 languages</a:t>
            </a:r>
          </a:p>
          <a:p>
            <a:pPr algn="l">
              <a:spcAft>
                <a:spcPts val="200"/>
              </a:spcAft>
            </a:pPr>
            <a:r>
              <a:rPr sz="1250" b="0" i="0">
                <a:solidFill>
                  <a:srgbClr val="9DB0C6"/>
                </a:solidFill>
                <a:latin typeface="Segoe UI"/>
              </a:rPr>
              <a:t>C, C++, Python, JavaScript, Java, PHP, Go, C#.</a:t>
            </a:r>
          </a:p>
        </p:txBody>
      </p:sp>
      <p:sp>
        <p:nvSpPr>
          <p:cNvPr id="20" name="Rounded Rectangle 19"/>
          <p:cNvSpPr/>
          <p:nvPr/>
        </p:nvSpPr>
        <p:spPr>
          <a:xfrm>
            <a:off x="4343400" y="3749040"/>
            <a:ext cx="3566160" cy="18288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43400" y="3749040"/>
            <a:ext cx="100584" cy="1828800"/>
          </a:xfrm>
          <a:prstGeom prst="roundRect">
            <a:avLst>
              <a:gd name="adj" fmla="val 45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44568" y="3749040"/>
            <a:ext cx="3255264"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Offline-capable</a:t>
            </a:r>
          </a:p>
          <a:p>
            <a:pPr algn="l">
              <a:spcAft>
                <a:spcPts val="200"/>
              </a:spcAft>
            </a:pPr>
            <a:r>
              <a:rPr sz="1250" b="0" i="0">
                <a:solidFill>
                  <a:srgbClr val="9DB0C6"/>
                </a:solidFill>
                <a:latin typeface="Segoe UI"/>
              </a:rPr>
              <a:t>--profile full ships in-repo rules; runs with a local/cloud Ollama model.</a:t>
            </a:r>
          </a:p>
        </p:txBody>
      </p:sp>
      <p:sp>
        <p:nvSpPr>
          <p:cNvPr id="23" name="Rounded Rectangle 22"/>
          <p:cNvSpPr/>
          <p:nvPr/>
        </p:nvSpPr>
        <p:spPr>
          <a:xfrm>
            <a:off x="8138160" y="3749040"/>
            <a:ext cx="3566160" cy="18288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38160" y="3749040"/>
            <a:ext cx="100584" cy="1828800"/>
          </a:xfrm>
          <a:prstGeom prst="roundRect">
            <a:avLst>
              <a:gd name="adj" fmla="val 4500"/>
            </a:avLst>
          </a:prstGeom>
          <a:solidFill>
            <a:srgbClr val="818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39328" y="3749040"/>
            <a:ext cx="3255264"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Provider-flexible</a:t>
            </a:r>
          </a:p>
          <a:p>
            <a:pPr algn="l">
              <a:spcAft>
                <a:spcPts val="200"/>
              </a:spcAft>
            </a:pPr>
            <a:r>
              <a:rPr sz="1250" b="0" i="0">
                <a:solidFill>
                  <a:srgbClr val="9DB0C6"/>
                </a:solidFill>
                <a:latin typeface="Segoe UI"/>
              </a:rPr>
              <a:t>OpenAI · Anthropic · DeepSeek · Ollama — swap with one flag.</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What it does well — and what it misses</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56</a:t>
            </a:r>
          </a:p>
        </p:txBody>
      </p:sp>
      <p:sp>
        <p:nvSpPr>
          <p:cNvPr id="8" name="Rounded Rectangle 7"/>
          <p:cNvSpPr/>
          <p:nvPr/>
        </p:nvSpPr>
        <p:spPr>
          <a:xfrm>
            <a:off x="548640" y="1691640"/>
            <a:ext cx="3566160" cy="18288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100584" cy="1828800"/>
          </a:xfrm>
          <a:prstGeom prst="roundRect">
            <a:avLst>
              <a:gd name="adj" fmla="val 45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49808" y="1691640"/>
            <a:ext cx="3255264"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 Syntactic classes</a:t>
            </a:r>
          </a:p>
          <a:p>
            <a:pPr algn="l">
              <a:spcAft>
                <a:spcPts val="200"/>
              </a:spcAft>
            </a:pPr>
            <a:r>
              <a:rPr sz="1250" b="0" i="0">
                <a:solidFill>
                  <a:srgbClr val="9DB0C6"/>
                </a:solidFill>
                <a:latin typeface="Segoe UI"/>
              </a:rPr>
              <a:t>Unsafe functions, format string, double-free, use-after-free.</a:t>
            </a:r>
          </a:p>
        </p:txBody>
      </p:sp>
      <p:sp>
        <p:nvSpPr>
          <p:cNvPr id="11" name="Rounded Rectangle 10"/>
          <p:cNvSpPr/>
          <p:nvPr/>
        </p:nvSpPr>
        <p:spPr>
          <a:xfrm>
            <a:off x="4343400" y="1691640"/>
            <a:ext cx="3566160" cy="18288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43400" y="1691640"/>
            <a:ext cx="100584" cy="1828800"/>
          </a:xfrm>
          <a:prstGeom prst="roundRect">
            <a:avLst>
              <a:gd name="adj" fmla="val 45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44568" y="1691640"/>
            <a:ext cx="3255264"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 Data-flow injection</a:t>
            </a:r>
          </a:p>
          <a:p>
            <a:pPr algn="l">
              <a:spcAft>
                <a:spcPts val="200"/>
              </a:spcAft>
            </a:pPr>
            <a:r>
              <a:rPr sz="1250" b="0" i="0">
                <a:solidFill>
                  <a:srgbClr val="9DB0C6"/>
                </a:solidFill>
                <a:latin typeface="Segoe UI"/>
              </a:rPr>
              <a:t>Cross-function taint via CodeQL.</a:t>
            </a:r>
          </a:p>
        </p:txBody>
      </p:sp>
      <p:sp>
        <p:nvSpPr>
          <p:cNvPr id="14" name="Rounded Rectangle 13"/>
          <p:cNvSpPr/>
          <p:nvPr/>
        </p:nvSpPr>
        <p:spPr>
          <a:xfrm>
            <a:off x="8138160" y="1691640"/>
            <a:ext cx="3566160" cy="18288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38160" y="1691640"/>
            <a:ext cx="100584" cy="1828800"/>
          </a:xfrm>
          <a:prstGeom prst="roundRect">
            <a:avLst>
              <a:gd name="adj" fmla="val 4500"/>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39328" y="1691640"/>
            <a:ext cx="3255264"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 Less review load</a:t>
            </a:r>
          </a:p>
          <a:p>
            <a:pPr algn="l">
              <a:spcAft>
                <a:spcPts val="200"/>
              </a:spcAft>
            </a:pPr>
            <a:r>
              <a:rPr sz="1250" b="0" i="0">
                <a:solidFill>
                  <a:srgbClr val="9DB0C6"/>
                </a:solidFill>
                <a:latin typeface="Segoe UI"/>
              </a:rPr>
              <a:t>LLM triage + cross-tool reconciliation cut false positives.</a:t>
            </a:r>
          </a:p>
        </p:txBody>
      </p:sp>
      <p:sp>
        <p:nvSpPr>
          <p:cNvPr id="17" name="Rounded Rectangle 16"/>
          <p:cNvSpPr/>
          <p:nvPr/>
        </p:nvSpPr>
        <p:spPr>
          <a:xfrm>
            <a:off x="548640" y="3749040"/>
            <a:ext cx="3566160" cy="18288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48640" y="3749040"/>
            <a:ext cx="100584" cy="1828800"/>
          </a:xfrm>
          <a:prstGeom prst="roundRect">
            <a:avLst>
              <a:gd name="adj" fmla="val 4500"/>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9808" y="3749040"/>
            <a:ext cx="3255264"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 Detection misses</a:t>
            </a:r>
          </a:p>
          <a:p>
            <a:pPr algn="l">
              <a:spcAft>
                <a:spcPts val="200"/>
              </a:spcAft>
            </a:pPr>
            <a:r>
              <a:rPr sz="1250" b="0" i="0">
                <a:solidFill>
                  <a:srgbClr val="9DB0C6"/>
                </a:solidFill>
                <a:latin typeface="Segoe UI"/>
              </a:rPr>
              <a:t>Integer-overflow chains, divide-by-zero, leaks (no rule fires).</a:t>
            </a:r>
          </a:p>
        </p:txBody>
      </p:sp>
      <p:sp>
        <p:nvSpPr>
          <p:cNvPr id="20" name="Rounded Rectangle 19"/>
          <p:cNvSpPr/>
          <p:nvPr/>
        </p:nvSpPr>
        <p:spPr>
          <a:xfrm>
            <a:off x="4343400" y="3749040"/>
            <a:ext cx="3566160" cy="18288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343400" y="3749040"/>
            <a:ext cx="100584" cy="1828800"/>
          </a:xfrm>
          <a:prstGeom prst="roundRect">
            <a:avLst>
              <a:gd name="adj" fmla="val 4500"/>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44568" y="3749040"/>
            <a:ext cx="3255264"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 Hard tier</a:t>
            </a:r>
          </a:p>
          <a:p>
            <a:pPr algn="l">
              <a:spcAft>
                <a:spcPts val="200"/>
              </a:spcAft>
            </a:pPr>
            <a:r>
              <a:rPr sz="1250" b="0" i="0">
                <a:solidFill>
                  <a:srgbClr val="9DB0C6"/>
                </a:solidFill>
                <a:latin typeface="Segoe UI"/>
              </a:rPr>
              <a:t>C++ lifetime/UB: dangling string_view, removed memset, RAII.</a:t>
            </a:r>
          </a:p>
        </p:txBody>
      </p:sp>
      <p:sp>
        <p:nvSpPr>
          <p:cNvPr id="23" name="Rounded Rectangle 22"/>
          <p:cNvSpPr/>
          <p:nvPr/>
        </p:nvSpPr>
        <p:spPr>
          <a:xfrm>
            <a:off x="8138160" y="3749040"/>
            <a:ext cx="3566160" cy="1828800"/>
          </a:xfrm>
          <a:prstGeom prst="roundRect">
            <a:avLst>
              <a:gd name="adj" fmla="val 4500"/>
            </a:avLst>
          </a:prstGeom>
          <a:solidFill>
            <a:srgbClr val="18233D"/>
          </a:solidFill>
          <a:ln w="12700">
            <a:solidFill>
              <a:srgbClr val="2C3E5E"/>
            </a:solidFill>
          </a:ln>
          <a:effectLst>
            <a:outerShdw blurRad="80000" dist="38000" dir="5400000" rotWithShape="0">
              <a:srgbClr val="0F172A">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38160" y="3749040"/>
            <a:ext cx="100584" cy="1828800"/>
          </a:xfrm>
          <a:prstGeom prst="roundRect">
            <a:avLst>
              <a:gd name="adj" fmla="val 4500"/>
            </a:avLst>
          </a:prstGeom>
          <a:solidFill>
            <a:srgbClr val="FB71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39328" y="3749040"/>
            <a:ext cx="3255264" cy="18288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l">
              <a:spcAft>
                <a:spcPts val="200"/>
              </a:spcAft>
            </a:pPr>
            <a:r>
              <a:rPr sz="1550" b="1" i="0">
                <a:solidFill>
                  <a:srgbClr val="F2F6FB"/>
                </a:solidFill>
                <a:latin typeface="Segoe UI"/>
              </a:rPr>
              <a:t>✗ Out of SAST reach</a:t>
            </a:r>
          </a:p>
          <a:p>
            <a:pPr algn="l">
              <a:spcAft>
                <a:spcPts val="200"/>
              </a:spcAft>
            </a:pPr>
            <a:r>
              <a:rPr sz="1250" b="0" i="0">
                <a:solidFill>
                  <a:srgbClr val="9DB0C6"/>
                </a:solidFill>
                <a:latin typeface="Segoe UI"/>
              </a:rPr>
              <a:t>Missing authz, CSRF-disabled (absence-of-control). Failed build → CodeQL recall collapses.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How we benchmark</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57</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A standalone harness scores VulnHunterX vs raw SAST on ground-truth datasets.</a:t>
            </a:r>
          </a:p>
          <a:p>
            <a:pPr>
              <a:spcAft>
                <a:spcPts val="900"/>
              </a:spcAft>
            </a:pPr>
            <a:r>
              <a:rPr sz="2100" b="0" i="0">
                <a:solidFill>
                  <a:srgbClr val="D4DEEA"/>
                </a:solidFill>
                <a:latin typeface="Segoe UI"/>
              </a:rPr>
              <a:t>Datasets: OWASP Benchmark (Java/Python), Juliet C/C++ (64K cases), SecLLMHolmes, RealVuln, OpenVuln/ZeroFalse.</a:t>
            </a:r>
          </a:p>
          <a:p>
            <a:pPr>
              <a:spcAft>
                <a:spcPts val="900"/>
              </a:spcAft>
            </a:pPr>
            <a:r>
              <a:rPr sz="2100" b="0" i="0">
                <a:solidFill>
                  <a:srgbClr val="D4DEEA"/>
                </a:solidFill>
                <a:latin typeface="Segoe UI"/>
              </a:rPr>
              <a:t>Approaches compared: raw-sast (no LLM) vs vulnhunterx (guided questions + multi-turn) + ablations.</a:t>
            </a:r>
          </a:p>
          <a:p>
            <a:pPr>
              <a:spcAft>
                <a:spcPts val="900"/>
              </a:spcAft>
            </a:pPr>
            <a:r>
              <a:rPr sz="2100" b="0" i="0">
                <a:solidFill>
                  <a:srgbClr val="D4DEEA"/>
                </a:solidFill>
                <a:latin typeface="Segoe UI"/>
              </a:rPr>
              <a:t>Metrics: precision · recall · F1 · FP-reduction · NMD rate · tokens/finding · p95 latency · confidence calibration.</a:t>
            </a:r>
          </a:p>
          <a:p>
            <a:pPr>
              <a:spcAft>
                <a:spcPts val="900"/>
              </a:spcAft>
            </a:pPr>
            <a:r>
              <a:rPr sz="2100" b="0" i="0">
                <a:solidFill>
                  <a:srgbClr val="9DB0C6"/>
                </a:solidFill>
                <a:latin typeface="Segoe UI"/>
              </a:rPr>
              <a:t>Reproducible: benchmarks/scripts/run_benchmark.py &amp; run_model_matrix.py.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Benchmark: false-positive reduction (OWASP-Python)</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58</a:t>
            </a:r>
          </a:p>
        </p:txBody>
      </p:sp>
      <p:sp>
        <p:nvSpPr>
          <p:cNvPr id="8" name="TextBox 7"/>
          <p:cNvSpPr txBox="1"/>
          <p:nvPr/>
        </p:nvSpPr>
        <p:spPr>
          <a:xfrm>
            <a:off x="640080" y="1133856"/>
            <a:ext cx="10972800" cy="365760"/>
          </a:xfrm>
          <a:prstGeom prst="rect">
            <a:avLst/>
          </a:prstGeom>
          <a:noFill/>
        </p:spPr>
        <p:txBody>
          <a:bodyPr wrap="square" anchor="t" lIns="0" rIns="0" tIns="0" bIns="0">
            <a:spAutoFit/>
          </a:bodyPr>
          <a:lstStyle/>
          <a:p>
            <a:pPr algn="l">
              <a:spcAft>
                <a:spcPts val="200"/>
              </a:spcAft>
            </a:pPr>
            <a:r>
              <a:rPr sz="1400" b="0" i="1">
                <a:solidFill>
                  <a:srgbClr val="909CAB"/>
                </a:solidFill>
                <a:latin typeface="Segoe UI"/>
              </a:rPr>
              <a:t>Model: qwen3-coder:480b (Ollama Cloud) · 500 Python findings · benchmarks/results/.../REPORT.md</a:t>
            </a:r>
          </a:p>
        </p:txBody>
      </p:sp>
      <p:graphicFrame>
        <p:nvGraphicFramePr>
          <p:cNvPr id="9" name="Table 8"/>
          <p:cNvGraphicFramePr>
            <a:graphicFrameLocks noGrp="1"/>
          </p:cNvGraphicFramePr>
          <p:nvPr/>
        </p:nvGraphicFramePr>
        <p:xfrm>
          <a:off x="640080" y="1627632"/>
          <a:ext cx="10927080" cy="1152144"/>
        </p:xfrm>
        <a:graphic>
          <a:graphicData uri="http://schemas.openxmlformats.org/drawingml/2006/table">
            <a:tbl>
              <a:tblPr>
                <a:tableStyleId>{5C22544A-7EE6-4342-B048-85BDC9FD1C3A}</a:tableStyleId>
              </a:tblPr>
              <a:tblGrid>
                <a:gridCol w="5440680"/>
                <a:gridCol w="1828800"/>
                <a:gridCol w="1828800"/>
                <a:gridCol w="1828800"/>
              </a:tblGrid>
              <a:tr h="384048">
                <a:tc>
                  <a:txBody>
                    <a:bodyPr wrap="square"/>
                    <a:lstStyle/>
                    <a:p>
                      <a:pPr algn="l"/>
                      <a:r>
                        <a:rPr sz="1300" b="1" i="0">
                          <a:solidFill>
                            <a:srgbClr val="FFFFFF"/>
                          </a:solidFill>
                          <a:latin typeface="Segoe UI"/>
                        </a:rPr>
                        <a:t>Approach</a:t>
                      </a:r>
                    </a:p>
                  </a:txBody>
                  <a:tcPr marL="73152" marR="54864" marT="27432" marB="27432" anchor="ctr">
                    <a:solidFill>
                      <a:srgbClr val="263552"/>
                    </a:solidFill>
                  </a:tcPr>
                </a:tc>
                <a:tc>
                  <a:txBody>
                    <a:bodyPr wrap="square"/>
                    <a:lstStyle/>
                    <a:p>
                      <a:pPr algn="l"/>
                      <a:r>
                        <a:rPr sz="1300" b="1" i="0">
                          <a:solidFill>
                            <a:srgbClr val="FFFFFF"/>
                          </a:solidFill>
                          <a:latin typeface="Segoe UI"/>
                        </a:rPr>
                        <a:t>Precision</a:t>
                      </a:r>
                    </a:p>
                  </a:txBody>
                  <a:tcPr marL="73152" marR="54864" marT="27432" marB="27432" anchor="ctr">
                    <a:solidFill>
                      <a:srgbClr val="263552"/>
                    </a:solidFill>
                  </a:tcPr>
                </a:tc>
                <a:tc>
                  <a:txBody>
                    <a:bodyPr wrap="square"/>
                    <a:lstStyle/>
                    <a:p>
                      <a:pPr algn="l"/>
                      <a:r>
                        <a:rPr sz="1300" b="1" i="0">
                          <a:solidFill>
                            <a:srgbClr val="FFFFFF"/>
                          </a:solidFill>
                          <a:latin typeface="Segoe UI"/>
                        </a:rPr>
                        <a:t>Recall</a:t>
                      </a:r>
                    </a:p>
                  </a:txBody>
                  <a:tcPr marL="73152" marR="54864" marT="27432" marB="27432" anchor="ctr">
                    <a:solidFill>
                      <a:srgbClr val="263552"/>
                    </a:solidFill>
                  </a:tcPr>
                </a:tc>
                <a:tc>
                  <a:txBody>
                    <a:bodyPr wrap="square"/>
                    <a:lstStyle/>
                    <a:p>
                      <a:pPr algn="l"/>
                      <a:r>
                        <a:rPr sz="1300" b="1" i="0">
                          <a:solidFill>
                            <a:srgbClr val="FFFFFF"/>
                          </a:solidFill>
                          <a:latin typeface="Segoe UI"/>
                        </a:rPr>
                        <a:t>F1</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raw-sast (baseline, no LLM)</a:t>
                      </a:r>
                    </a:p>
                  </a:txBody>
                  <a:tcPr marL="73152" marR="54864" marT="27432" marB="27432" anchor="ctr">
                    <a:solidFill>
                      <a:srgbClr val="18233D"/>
                    </a:solidFill>
                  </a:tcPr>
                </a:tc>
                <a:tc>
                  <a:txBody>
                    <a:bodyPr wrap="square"/>
                    <a:lstStyle/>
                    <a:p>
                      <a:pPr algn="l"/>
                      <a:r>
                        <a:rPr sz="1250" b="0" i="0">
                          <a:solidFill>
                            <a:srgbClr val="D4DEEA"/>
                          </a:solidFill>
                          <a:latin typeface="Segoe UI"/>
                        </a:rPr>
                        <a:t>38.6%</a:t>
                      </a:r>
                    </a:p>
                  </a:txBody>
                  <a:tcPr marL="73152" marR="54864" marT="27432" marB="27432" anchor="ctr">
                    <a:solidFill>
                      <a:srgbClr val="18233D"/>
                    </a:solidFill>
                  </a:tcPr>
                </a:tc>
                <a:tc>
                  <a:txBody>
                    <a:bodyPr wrap="square"/>
                    <a:lstStyle/>
                    <a:p>
                      <a:pPr algn="l"/>
                      <a:r>
                        <a:rPr sz="1250" b="0" i="0">
                          <a:solidFill>
                            <a:srgbClr val="D4DEEA"/>
                          </a:solidFill>
                          <a:latin typeface="Segoe UI"/>
                        </a:rPr>
                        <a:t>100.0%</a:t>
                      </a:r>
                    </a:p>
                  </a:txBody>
                  <a:tcPr marL="73152" marR="54864" marT="27432" marB="27432" anchor="ctr">
                    <a:solidFill>
                      <a:srgbClr val="18233D"/>
                    </a:solidFill>
                  </a:tcPr>
                </a:tc>
                <a:tc>
                  <a:txBody>
                    <a:bodyPr wrap="square"/>
                    <a:lstStyle/>
                    <a:p>
                      <a:pPr algn="l"/>
                      <a:r>
                        <a:rPr sz="1250" b="0" i="0">
                          <a:solidFill>
                            <a:srgbClr val="D4DEEA"/>
                          </a:solidFill>
                          <a:latin typeface="Segoe UI"/>
                        </a:rPr>
                        <a:t>55.7%</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vulnhunterx (guided + multi-turn)</a:t>
                      </a:r>
                    </a:p>
                  </a:txBody>
                  <a:tcPr marL="73152" marR="54864" marT="27432" marB="27432" anchor="ctr">
                    <a:solidFill>
                      <a:srgbClr val="131D33"/>
                    </a:solidFill>
                  </a:tcPr>
                </a:tc>
                <a:tc>
                  <a:txBody>
                    <a:bodyPr wrap="square"/>
                    <a:lstStyle/>
                    <a:p>
                      <a:pPr algn="l"/>
                      <a:r>
                        <a:rPr sz="1250" b="0" i="0">
                          <a:solidFill>
                            <a:srgbClr val="D4DEEA"/>
                          </a:solidFill>
                          <a:latin typeface="Segoe UI"/>
                        </a:rPr>
                        <a:t>65.9%</a:t>
                      </a:r>
                    </a:p>
                  </a:txBody>
                  <a:tcPr marL="73152" marR="54864" marT="27432" marB="27432" anchor="ctr">
                    <a:solidFill>
                      <a:srgbClr val="131D33"/>
                    </a:solidFill>
                  </a:tcPr>
                </a:tc>
                <a:tc>
                  <a:txBody>
                    <a:bodyPr wrap="square"/>
                    <a:lstStyle/>
                    <a:p>
                      <a:pPr algn="l"/>
                      <a:r>
                        <a:rPr sz="1250" b="0" i="0">
                          <a:solidFill>
                            <a:srgbClr val="D4DEEA"/>
                          </a:solidFill>
                          <a:latin typeface="Segoe UI"/>
                        </a:rPr>
                        <a:t>98.0%</a:t>
                      </a:r>
                    </a:p>
                  </a:txBody>
                  <a:tcPr marL="73152" marR="54864" marT="27432" marB="27432" anchor="ctr">
                    <a:solidFill>
                      <a:srgbClr val="131D33"/>
                    </a:solidFill>
                  </a:tcPr>
                </a:tc>
                <a:tc>
                  <a:txBody>
                    <a:bodyPr wrap="square"/>
                    <a:lstStyle/>
                    <a:p>
                      <a:pPr algn="l"/>
                      <a:r>
                        <a:rPr sz="1250" b="0" i="0">
                          <a:solidFill>
                            <a:srgbClr val="D4DEEA"/>
                          </a:solidFill>
                          <a:latin typeface="Segoe UI"/>
                        </a:rPr>
                        <a:t>78.8%</a:t>
                      </a:r>
                    </a:p>
                  </a:txBody>
                  <a:tcPr marL="73152" marR="54864" marT="27432" marB="27432" anchor="ctr">
                    <a:solidFill>
                      <a:srgbClr val="131D33"/>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Benchmark: model matrix (Juliet C/C++)</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59</a:t>
            </a:r>
          </a:p>
        </p:txBody>
      </p:sp>
      <p:sp>
        <p:nvSpPr>
          <p:cNvPr id="8" name="TextBox 7"/>
          <p:cNvSpPr txBox="1"/>
          <p:nvPr/>
        </p:nvSpPr>
        <p:spPr>
          <a:xfrm>
            <a:off x="640080" y="1133856"/>
            <a:ext cx="10972800" cy="365760"/>
          </a:xfrm>
          <a:prstGeom prst="rect">
            <a:avLst/>
          </a:prstGeom>
          <a:noFill/>
        </p:spPr>
        <p:txBody>
          <a:bodyPr wrap="square" anchor="t" lIns="0" rIns="0" tIns="0" bIns="0">
            <a:spAutoFit/>
          </a:bodyPr>
          <a:lstStyle/>
          <a:p>
            <a:pPr algn="l">
              <a:spcAft>
                <a:spcPts val="200"/>
              </a:spcAft>
            </a:pPr>
            <a:r>
              <a:rPr sz="1400" b="0" i="1">
                <a:solidFill>
                  <a:srgbClr val="909CAB"/>
                </a:solidFill>
                <a:latin typeface="Segoe UI"/>
              </a:rPr>
              <a:t>vulnhunterx approach on Juliet C/C++ · benchmarks/results/matrix_.../COMPARISON.md</a:t>
            </a:r>
          </a:p>
        </p:txBody>
      </p:sp>
      <p:graphicFrame>
        <p:nvGraphicFramePr>
          <p:cNvPr id="9" name="Table 8"/>
          <p:cNvGraphicFramePr>
            <a:graphicFrameLocks noGrp="1"/>
          </p:cNvGraphicFramePr>
          <p:nvPr/>
        </p:nvGraphicFramePr>
        <p:xfrm>
          <a:off x="640080" y="1627632"/>
          <a:ext cx="10927080" cy="1536192"/>
        </p:xfrm>
        <a:graphic>
          <a:graphicData uri="http://schemas.openxmlformats.org/drawingml/2006/table">
            <a:tbl>
              <a:tblPr>
                <a:tableStyleId>{5C22544A-7EE6-4342-B048-85BDC9FD1C3A}</a:tableStyleId>
              </a:tblPr>
              <a:tblGrid>
                <a:gridCol w="3154680"/>
                <a:gridCol w="1691640"/>
                <a:gridCol w="1508760"/>
                <a:gridCol w="1280160"/>
                <a:gridCol w="1645920"/>
                <a:gridCol w="1645920"/>
              </a:tblGrid>
              <a:tr h="384048">
                <a:tc>
                  <a:txBody>
                    <a:bodyPr wrap="square"/>
                    <a:lstStyle/>
                    <a:p>
                      <a:pPr algn="l"/>
                      <a:r>
                        <a:rPr sz="1300" b="1" i="0">
                          <a:solidFill>
                            <a:srgbClr val="FFFFFF"/>
                          </a:solidFill>
                          <a:latin typeface="Segoe UI"/>
                        </a:rPr>
                        <a:t>Model</a:t>
                      </a:r>
                    </a:p>
                  </a:txBody>
                  <a:tcPr marL="73152" marR="54864" marT="27432" marB="27432" anchor="ctr">
                    <a:solidFill>
                      <a:srgbClr val="263552"/>
                    </a:solidFill>
                  </a:tcPr>
                </a:tc>
                <a:tc>
                  <a:txBody>
                    <a:bodyPr wrap="square"/>
                    <a:lstStyle/>
                    <a:p>
                      <a:pPr algn="l"/>
                      <a:r>
                        <a:rPr sz="1300" b="1" i="0">
                          <a:solidFill>
                            <a:srgbClr val="FFFFFF"/>
                          </a:solidFill>
                          <a:latin typeface="Segoe UI"/>
                        </a:rPr>
                        <a:t>Precision</a:t>
                      </a:r>
                    </a:p>
                  </a:txBody>
                  <a:tcPr marL="73152" marR="54864" marT="27432" marB="27432" anchor="ctr">
                    <a:solidFill>
                      <a:srgbClr val="263552"/>
                    </a:solidFill>
                  </a:tcPr>
                </a:tc>
                <a:tc>
                  <a:txBody>
                    <a:bodyPr wrap="square"/>
                    <a:lstStyle/>
                    <a:p>
                      <a:pPr algn="l"/>
                      <a:r>
                        <a:rPr sz="1300" b="1" i="0">
                          <a:solidFill>
                            <a:srgbClr val="FFFFFF"/>
                          </a:solidFill>
                          <a:latin typeface="Segoe UI"/>
                        </a:rPr>
                        <a:t>Recall</a:t>
                      </a:r>
                    </a:p>
                  </a:txBody>
                  <a:tcPr marL="73152" marR="54864" marT="27432" marB="27432" anchor="ctr">
                    <a:solidFill>
                      <a:srgbClr val="263552"/>
                    </a:solidFill>
                  </a:tcPr>
                </a:tc>
                <a:tc>
                  <a:txBody>
                    <a:bodyPr wrap="square"/>
                    <a:lstStyle/>
                    <a:p>
                      <a:pPr algn="l"/>
                      <a:r>
                        <a:rPr sz="1300" b="1" i="0">
                          <a:solidFill>
                            <a:srgbClr val="FFFFFF"/>
                          </a:solidFill>
                          <a:latin typeface="Segoe UI"/>
                        </a:rPr>
                        <a:t>F1</a:t>
                      </a:r>
                    </a:p>
                  </a:txBody>
                  <a:tcPr marL="73152" marR="54864" marT="27432" marB="27432" anchor="ctr">
                    <a:solidFill>
                      <a:srgbClr val="263552"/>
                    </a:solidFill>
                  </a:tcPr>
                </a:tc>
                <a:tc>
                  <a:txBody>
                    <a:bodyPr wrap="square"/>
                    <a:lstStyle/>
                    <a:p>
                      <a:pPr algn="l"/>
                      <a:r>
                        <a:rPr sz="1300" b="1" i="0">
                          <a:solidFill>
                            <a:srgbClr val="FFFFFF"/>
                          </a:solidFill>
                          <a:latin typeface="Segoe UI"/>
                        </a:rPr>
                        <a:t>FP-reduc.</a:t>
                      </a:r>
                    </a:p>
                  </a:txBody>
                  <a:tcPr marL="73152" marR="54864" marT="27432" marB="27432" anchor="ctr">
                    <a:solidFill>
                      <a:srgbClr val="263552"/>
                    </a:solidFill>
                  </a:tcPr>
                </a:tc>
                <a:tc>
                  <a:txBody>
                    <a:bodyPr wrap="square"/>
                    <a:lstStyle/>
                    <a:p>
                      <a:pPr algn="l"/>
                      <a:r>
                        <a:rPr sz="1300" b="1" i="0">
                          <a:solidFill>
                            <a:srgbClr val="FFFFFF"/>
                          </a:solidFill>
                          <a:latin typeface="Segoe UI"/>
                        </a:rPr>
                        <a:t>Cost</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raw-sast (baseline)</a:t>
                      </a:r>
                    </a:p>
                  </a:txBody>
                  <a:tcPr marL="73152" marR="54864" marT="27432" marB="27432" anchor="ctr">
                    <a:solidFill>
                      <a:srgbClr val="18233D"/>
                    </a:solidFill>
                  </a:tcPr>
                </a:tc>
                <a:tc>
                  <a:txBody>
                    <a:bodyPr wrap="square"/>
                    <a:lstStyle/>
                    <a:p>
                      <a:pPr algn="l"/>
                      <a:r>
                        <a:rPr sz="1250" b="0" i="0">
                          <a:solidFill>
                            <a:srgbClr val="D4DEEA"/>
                          </a:solidFill>
                          <a:latin typeface="Segoe UI"/>
                        </a:rPr>
                        <a:t>50.0%</a:t>
                      </a:r>
                    </a:p>
                  </a:txBody>
                  <a:tcPr marL="73152" marR="54864" marT="27432" marB="27432" anchor="ctr">
                    <a:solidFill>
                      <a:srgbClr val="18233D"/>
                    </a:solidFill>
                  </a:tcPr>
                </a:tc>
                <a:tc>
                  <a:txBody>
                    <a:bodyPr wrap="square"/>
                    <a:lstStyle/>
                    <a:p>
                      <a:pPr algn="l"/>
                      <a:r>
                        <a:rPr sz="1250" b="0" i="0">
                          <a:solidFill>
                            <a:srgbClr val="D4DEEA"/>
                          </a:solidFill>
                          <a:latin typeface="Segoe UI"/>
                        </a:rPr>
                        <a:t>100.0%</a:t>
                      </a:r>
                    </a:p>
                  </a:txBody>
                  <a:tcPr marL="73152" marR="54864" marT="27432" marB="27432" anchor="ctr">
                    <a:solidFill>
                      <a:srgbClr val="18233D"/>
                    </a:solidFill>
                  </a:tcPr>
                </a:tc>
                <a:tc>
                  <a:txBody>
                    <a:bodyPr wrap="square"/>
                    <a:lstStyle/>
                    <a:p>
                      <a:pPr algn="l"/>
                      <a:r>
                        <a:rPr sz="1250" b="0" i="0">
                          <a:solidFill>
                            <a:srgbClr val="D4DEEA"/>
                          </a:solidFill>
                          <a:latin typeface="Segoe UI"/>
                        </a:rPr>
                        <a:t>66.7%</a:t>
                      </a:r>
                    </a:p>
                  </a:txBody>
                  <a:tcPr marL="73152" marR="54864" marT="27432" marB="27432" anchor="ctr">
                    <a:solidFill>
                      <a:srgbClr val="18233D"/>
                    </a:solidFill>
                  </a:tcPr>
                </a:tc>
                <a:tc>
                  <a:txBody>
                    <a:bodyPr wrap="square"/>
                    <a:lstStyle/>
                    <a:p>
                      <a:pPr algn="l"/>
                      <a:r>
                        <a:rPr sz="1250" b="0" i="0">
                          <a:solidFill>
                            <a:srgbClr val="D4DEEA"/>
                          </a:solidFill>
                          <a:latin typeface="Segoe UI"/>
                        </a:rPr>
                        <a:t>0%</a:t>
                      </a:r>
                    </a:p>
                  </a:txBody>
                  <a:tcPr marL="73152" marR="54864" marT="27432" marB="27432" anchor="ctr">
                    <a:solidFill>
                      <a:srgbClr val="18233D"/>
                    </a:solidFill>
                  </a:tcPr>
                </a:tc>
                <a:tc>
                  <a:txBody>
                    <a:bodyPr wrap="square"/>
                    <a:lstStyle/>
                    <a:p>
                      <a:pPr algn="l"/>
                      <a:r>
                        <a:rPr sz="1250" b="0" i="0">
                          <a:solidFill>
                            <a:srgbClr val="D4DEEA"/>
                          </a:solidFill>
                          <a:latin typeface="Segoe UI"/>
                        </a:rPr>
                        <a:t>$0</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DeepSeek</a:t>
                      </a:r>
                    </a:p>
                  </a:txBody>
                  <a:tcPr marL="73152" marR="54864" marT="27432" marB="27432" anchor="ctr">
                    <a:solidFill>
                      <a:srgbClr val="131D33"/>
                    </a:solidFill>
                  </a:tcPr>
                </a:tc>
                <a:tc>
                  <a:txBody>
                    <a:bodyPr wrap="square"/>
                    <a:lstStyle/>
                    <a:p>
                      <a:pPr algn="l"/>
                      <a:r>
                        <a:rPr sz="1250" b="0" i="0">
                          <a:solidFill>
                            <a:srgbClr val="D4DEEA"/>
                          </a:solidFill>
                          <a:latin typeface="Segoe UI"/>
                        </a:rPr>
                        <a:t>83.8%</a:t>
                      </a:r>
                    </a:p>
                  </a:txBody>
                  <a:tcPr marL="73152" marR="54864" marT="27432" marB="27432" anchor="ctr">
                    <a:solidFill>
                      <a:srgbClr val="131D33"/>
                    </a:solidFill>
                  </a:tcPr>
                </a:tc>
                <a:tc>
                  <a:txBody>
                    <a:bodyPr wrap="square"/>
                    <a:lstStyle/>
                    <a:p>
                      <a:pPr algn="l"/>
                      <a:r>
                        <a:rPr sz="1250" b="0" i="0">
                          <a:solidFill>
                            <a:srgbClr val="D4DEEA"/>
                          </a:solidFill>
                          <a:latin typeface="Segoe UI"/>
                        </a:rPr>
                        <a:t>93.8%</a:t>
                      </a:r>
                    </a:p>
                  </a:txBody>
                  <a:tcPr marL="73152" marR="54864" marT="27432" marB="27432" anchor="ctr">
                    <a:solidFill>
                      <a:srgbClr val="131D33"/>
                    </a:solidFill>
                  </a:tcPr>
                </a:tc>
                <a:tc>
                  <a:txBody>
                    <a:bodyPr wrap="square"/>
                    <a:lstStyle/>
                    <a:p>
                      <a:pPr algn="l"/>
                      <a:r>
                        <a:rPr sz="1250" b="0" i="0">
                          <a:solidFill>
                            <a:srgbClr val="D4DEEA"/>
                          </a:solidFill>
                          <a:latin typeface="Segoe UI"/>
                        </a:rPr>
                        <a:t>88.5%</a:t>
                      </a:r>
                    </a:p>
                  </a:txBody>
                  <a:tcPr marL="73152" marR="54864" marT="27432" marB="27432" anchor="ctr">
                    <a:solidFill>
                      <a:srgbClr val="131D33"/>
                    </a:solidFill>
                  </a:tcPr>
                </a:tc>
                <a:tc>
                  <a:txBody>
                    <a:bodyPr wrap="square"/>
                    <a:lstStyle/>
                    <a:p>
                      <a:pPr algn="l"/>
                      <a:r>
                        <a:rPr sz="1250" b="0" i="0">
                          <a:solidFill>
                            <a:srgbClr val="D4DEEA"/>
                          </a:solidFill>
                          <a:latin typeface="Segoe UI"/>
                        </a:rPr>
                        <a:t>82.2%</a:t>
                      </a:r>
                    </a:p>
                  </a:txBody>
                  <a:tcPr marL="73152" marR="54864" marT="27432" marB="27432" anchor="ctr">
                    <a:solidFill>
                      <a:srgbClr val="131D33"/>
                    </a:solidFill>
                  </a:tcPr>
                </a:tc>
                <a:tc>
                  <a:txBody>
                    <a:bodyPr wrap="square"/>
                    <a:lstStyle/>
                    <a:p>
                      <a:pPr algn="l"/>
                      <a:r>
                        <a:rPr sz="1250" b="0" i="0">
                          <a:solidFill>
                            <a:srgbClr val="D4DEEA"/>
                          </a:solidFill>
                          <a:latin typeface="Segoe UI"/>
                        </a:rPr>
                        <a:t>$0.43</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GPT-4.1-mini</a:t>
                      </a:r>
                    </a:p>
                  </a:txBody>
                  <a:tcPr marL="73152" marR="54864" marT="27432" marB="27432" anchor="ctr">
                    <a:solidFill>
                      <a:srgbClr val="18233D"/>
                    </a:solidFill>
                  </a:tcPr>
                </a:tc>
                <a:tc>
                  <a:txBody>
                    <a:bodyPr wrap="square"/>
                    <a:lstStyle/>
                    <a:p>
                      <a:pPr algn="l"/>
                      <a:r>
                        <a:rPr sz="1250" b="0" i="0">
                          <a:solidFill>
                            <a:srgbClr val="D4DEEA"/>
                          </a:solidFill>
                          <a:latin typeface="Segoe UI"/>
                        </a:rPr>
                        <a:t>56.8%</a:t>
                      </a:r>
                    </a:p>
                  </a:txBody>
                  <a:tcPr marL="73152" marR="54864" marT="27432" marB="27432" anchor="ctr">
                    <a:solidFill>
                      <a:srgbClr val="18233D"/>
                    </a:solidFill>
                  </a:tcPr>
                </a:tc>
                <a:tc>
                  <a:txBody>
                    <a:bodyPr wrap="square"/>
                    <a:lstStyle/>
                    <a:p>
                      <a:pPr algn="l"/>
                      <a:r>
                        <a:rPr sz="1250" b="0" i="0">
                          <a:solidFill>
                            <a:srgbClr val="D4DEEA"/>
                          </a:solidFill>
                          <a:latin typeface="Segoe UI"/>
                        </a:rPr>
                        <a:t>100.0%</a:t>
                      </a:r>
                    </a:p>
                  </a:txBody>
                  <a:tcPr marL="73152" marR="54864" marT="27432" marB="27432" anchor="ctr">
                    <a:solidFill>
                      <a:srgbClr val="18233D"/>
                    </a:solidFill>
                  </a:tcPr>
                </a:tc>
                <a:tc>
                  <a:txBody>
                    <a:bodyPr wrap="square"/>
                    <a:lstStyle/>
                    <a:p>
                      <a:pPr algn="l"/>
                      <a:r>
                        <a:rPr sz="1250" b="0" i="0">
                          <a:solidFill>
                            <a:srgbClr val="D4DEEA"/>
                          </a:solidFill>
                          <a:latin typeface="Segoe UI"/>
                        </a:rPr>
                        <a:t>72.4%</a:t>
                      </a:r>
                    </a:p>
                  </a:txBody>
                  <a:tcPr marL="73152" marR="54864" marT="27432" marB="27432" anchor="ctr">
                    <a:solidFill>
                      <a:srgbClr val="18233D"/>
                    </a:solidFill>
                  </a:tcPr>
                </a:tc>
                <a:tc>
                  <a:txBody>
                    <a:bodyPr wrap="square"/>
                    <a:lstStyle/>
                    <a:p>
                      <a:pPr algn="l"/>
                      <a:r>
                        <a:rPr sz="1250" b="0" i="0">
                          <a:solidFill>
                            <a:srgbClr val="D4DEEA"/>
                          </a:solidFill>
                          <a:latin typeface="Segoe UI"/>
                        </a:rPr>
                        <a:t>23.9%</a:t>
                      </a:r>
                    </a:p>
                  </a:txBody>
                  <a:tcPr marL="73152" marR="54864" marT="27432" marB="27432" anchor="ctr">
                    <a:solidFill>
                      <a:srgbClr val="18233D"/>
                    </a:solidFill>
                  </a:tcPr>
                </a:tc>
                <a:tc>
                  <a:txBody>
                    <a:bodyPr wrap="square"/>
                    <a:lstStyle/>
                    <a:p>
                      <a:pPr algn="l"/>
                      <a:r>
                        <a:rPr sz="1250" b="0" i="0">
                          <a:solidFill>
                            <a:srgbClr val="D4DEEA"/>
                          </a:solidFill>
                          <a:latin typeface="Segoe UI"/>
                        </a:rPr>
                        <a:t>$1.02</a:t>
                      </a:r>
                    </a:p>
                  </a:txBody>
                  <a:tcPr marL="73152" marR="54864" marT="27432" marB="27432" anchor="ctr">
                    <a:solidFill>
                      <a:srgbClr val="18233D"/>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Two kinds of miss — know which you're fighting</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60</a:t>
            </a:r>
          </a:p>
        </p:txBody>
      </p:sp>
      <p:graphicFrame>
        <p:nvGraphicFramePr>
          <p:cNvPr id="8" name="Table 7"/>
          <p:cNvGraphicFramePr>
            <a:graphicFrameLocks noGrp="1"/>
          </p:cNvGraphicFramePr>
          <p:nvPr/>
        </p:nvGraphicFramePr>
        <p:xfrm>
          <a:off x="640080" y="1417320"/>
          <a:ext cx="10927080" cy="2304288"/>
        </p:xfrm>
        <a:graphic>
          <a:graphicData uri="http://schemas.openxmlformats.org/drawingml/2006/table">
            <a:tbl>
              <a:tblPr>
                <a:tableStyleId>{5C22544A-7EE6-4342-B048-85BDC9FD1C3A}</a:tableStyleId>
              </a:tblPr>
              <a:tblGrid>
                <a:gridCol w="1463040"/>
                <a:gridCol w="4709160"/>
                <a:gridCol w="4754880"/>
              </a:tblGrid>
              <a:tr h="384048">
                <a:tc>
                  <a:txBody>
                    <a:bodyPr wrap="square"/>
                    <a:lstStyle/>
                    <a:p>
                      <a:pPr algn="l"/>
                      <a:r>
                        <a:rPr sz="1300" b="1" i="0">
                          <a:solidFill>
                            <a:srgbClr val="FFFFFF"/>
                          </a:solidFill>
                          <a:latin typeface="Segoe UI"/>
                        </a:rPr>
                        <a:t/>
                      </a:r>
                    </a:p>
                  </a:txBody>
                  <a:tcPr marL="73152" marR="54864" marT="27432" marB="27432" anchor="ctr">
                    <a:solidFill>
                      <a:srgbClr val="263552"/>
                    </a:solidFill>
                  </a:tcPr>
                </a:tc>
                <a:tc>
                  <a:txBody>
                    <a:bodyPr wrap="square"/>
                    <a:lstStyle/>
                    <a:p>
                      <a:pPr algn="l"/>
                      <a:r>
                        <a:rPr sz="1300" b="1" i="0">
                          <a:solidFill>
                            <a:srgbClr val="FFFFFF"/>
                          </a:solidFill>
                          <a:latin typeface="Segoe UI"/>
                        </a:rPr>
                        <a:t>Detection miss</a:t>
                      </a:r>
                    </a:p>
                  </a:txBody>
                  <a:tcPr marL="73152" marR="54864" marT="27432" marB="27432" anchor="ctr">
                    <a:solidFill>
                      <a:srgbClr val="263552"/>
                    </a:solidFill>
                  </a:tcPr>
                </a:tc>
                <a:tc>
                  <a:txBody>
                    <a:bodyPr wrap="square"/>
                    <a:lstStyle/>
                    <a:p>
                      <a:pPr algn="l"/>
                      <a:r>
                        <a:rPr sz="1300" b="1" i="0">
                          <a:solidFill>
                            <a:srgbClr val="FFFFFF"/>
                          </a:solidFill>
                          <a:latin typeface="Segoe UI"/>
                        </a:rPr>
                        <a:t>Triage miss</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What</a:t>
                      </a:r>
                    </a:p>
                  </a:txBody>
                  <a:tcPr marL="73152" marR="54864" marT="27432" marB="27432" anchor="ctr">
                    <a:solidFill>
                      <a:srgbClr val="18233D"/>
                    </a:solidFill>
                  </a:tcPr>
                </a:tc>
                <a:tc>
                  <a:txBody>
                    <a:bodyPr wrap="square"/>
                    <a:lstStyle/>
                    <a:p>
                      <a:pPr algn="l"/>
                      <a:r>
                        <a:rPr sz="1250" b="0" i="0">
                          <a:solidFill>
                            <a:srgbClr val="D4DEEA"/>
                          </a:solidFill>
                          <a:latin typeface="Segoe UI"/>
                        </a:rPr>
                        <a:t>No rule fired at all</a:t>
                      </a:r>
                    </a:p>
                  </a:txBody>
                  <a:tcPr marL="73152" marR="54864" marT="27432" marB="27432" anchor="ctr">
                    <a:solidFill>
                      <a:srgbClr val="18233D"/>
                    </a:solidFill>
                  </a:tcPr>
                </a:tc>
                <a:tc>
                  <a:txBody>
                    <a:bodyPr wrap="square"/>
                    <a:lstStyle/>
                    <a:p>
                      <a:pPr algn="l"/>
                      <a:r>
                        <a:rPr sz="1250" b="0" i="0">
                          <a:solidFill>
                            <a:srgbClr val="D4DEEA"/>
                          </a:solidFill>
                          <a:latin typeface="Segoe UI"/>
                        </a:rPr>
                        <a:t>Rule fired, but verified FP / NMD</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Cause</a:t>
                      </a:r>
                    </a:p>
                  </a:txBody>
                  <a:tcPr marL="73152" marR="54864" marT="27432" marB="27432" anchor="ctr">
                    <a:solidFill>
                      <a:srgbClr val="131D33"/>
                    </a:solidFill>
                  </a:tcPr>
                </a:tc>
                <a:tc>
                  <a:txBody>
                    <a:bodyPr wrap="square"/>
                    <a:lstStyle/>
                    <a:p>
                      <a:pPr algn="l"/>
                      <a:r>
                        <a:rPr sz="1250" b="0" i="0">
                          <a:solidFill>
                            <a:srgbClr val="D4DEEA"/>
                          </a:solidFill>
                          <a:latin typeface="Segoe UI"/>
                        </a:rPr>
                        <a:t>Coverage gap (no query/pattern)</a:t>
                      </a:r>
                    </a:p>
                  </a:txBody>
                  <a:tcPr marL="73152" marR="54864" marT="27432" marB="27432" anchor="ctr">
                    <a:solidFill>
                      <a:srgbClr val="131D33"/>
                    </a:solidFill>
                  </a:tcPr>
                </a:tc>
                <a:tc>
                  <a:txBody>
                    <a:bodyPr wrap="square"/>
                    <a:lstStyle/>
                    <a:p>
                      <a:pPr algn="l"/>
                      <a:r>
                        <a:rPr sz="1250" b="0" i="0">
                          <a:solidFill>
                            <a:srgbClr val="D4DEEA"/>
                          </a:solidFill>
                          <a:latin typeface="Segoe UI"/>
                        </a:rPr>
                        <a:t>Weak context or LLM error</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Example</a:t>
                      </a:r>
                    </a:p>
                  </a:txBody>
                  <a:tcPr marL="73152" marR="54864" marT="27432" marB="27432" anchor="ctr">
                    <a:solidFill>
                      <a:srgbClr val="18233D"/>
                    </a:solidFill>
                  </a:tcPr>
                </a:tc>
                <a:tc>
                  <a:txBody>
                    <a:bodyPr wrap="square"/>
                    <a:lstStyle/>
                    <a:p>
                      <a:pPr algn="l"/>
                      <a:r>
                        <a:rPr sz="1250" b="0" i="0">
                          <a:solidFill>
                            <a:srgbClr val="D4DEEA"/>
                          </a:solidFill>
                          <a:latin typeface="Segoe UI"/>
                        </a:rPr>
                        <a:t>dvcp integer-overflow chain, div-by-zero</a:t>
                      </a:r>
                    </a:p>
                  </a:txBody>
                  <a:tcPr marL="73152" marR="54864" marT="27432" marB="27432" anchor="ctr">
                    <a:solidFill>
                      <a:srgbClr val="18233D"/>
                    </a:solidFill>
                  </a:tcPr>
                </a:tc>
                <a:tc>
                  <a:txBody>
                    <a:bodyPr wrap="square"/>
                    <a:lstStyle/>
                    <a:p>
                      <a:pPr algn="l"/>
                      <a:r>
                        <a:rPr sz="1250" b="0" i="0">
                          <a:solidFill>
                            <a:srgbClr val="D4DEEA"/>
                          </a:solidFill>
                          <a:latin typeface="Segoe UI"/>
                        </a:rPr>
                        <a:t>Real bug downgraded to Needs-More-Data</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Remedy</a:t>
                      </a:r>
                    </a:p>
                  </a:txBody>
                  <a:tcPr marL="73152" marR="54864" marT="27432" marB="27432" anchor="ctr">
                    <a:solidFill>
                      <a:srgbClr val="131D33"/>
                    </a:solidFill>
                  </a:tcPr>
                </a:tc>
                <a:tc>
                  <a:txBody>
                    <a:bodyPr wrap="square"/>
                    <a:lstStyle/>
                    <a:p>
                      <a:pPr algn="l"/>
                      <a:r>
                        <a:rPr sz="1250" b="0" i="0">
                          <a:solidFill>
                            <a:srgbClr val="D4DEEA"/>
                          </a:solidFill>
                          <a:latin typeface="Segoe UI"/>
                        </a:rPr>
                        <a:t>Add custom rule (--profile full)</a:t>
                      </a:r>
                    </a:p>
                  </a:txBody>
                  <a:tcPr marL="73152" marR="54864" marT="27432" marB="27432" anchor="ctr">
                    <a:solidFill>
                      <a:srgbClr val="131D33"/>
                    </a:solidFill>
                  </a:tcPr>
                </a:tc>
                <a:tc>
                  <a:txBody>
                    <a:bodyPr wrap="square"/>
                    <a:lstStyle/>
                    <a:p>
                      <a:pPr algn="l"/>
                      <a:r>
                        <a:rPr sz="1250" b="0" i="0">
                          <a:solidFill>
                            <a:srgbClr val="D4DEEA"/>
                          </a:solidFill>
                          <a:latin typeface="Segoe UI"/>
                        </a:rPr>
                        <a:t>More context, more iterations, better model</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Measure</a:t>
                      </a:r>
                    </a:p>
                  </a:txBody>
                  <a:tcPr marL="73152" marR="54864" marT="27432" marB="27432" anchor="ctr">
                    <a:solidFill>
                      <a:srgbClr val="18233D"/>
                    </a:solidFill>
                  </a:tcPr>
                </a:tc>
                <a:tc>
                  <a:txBody>
                    <a:bodyPr wrap="square"/>
                    <a:lstStyle/>
                    <a:p>
                      <a:pPr algn="l"/>
                      <a:r>
                        <a:rPr sz="1250" b="0" i="0">
                          <a:solidFill>
                            <a:srgbClr val="D4DEEA"/>
                          </a:solidFill>
                          <a:latin typeface="Segoe UI"/>
                        </a:rPr>
                        <a:t>Recall vs ground truth</a:t>
                      </a:r>
                    </a:p>
                  </a:txBody>
                  <a:tcPr marL="73152" marR="54864" marT="27432" marB="27432" anchor="ctr">
                    <a:solidFill>
                      <a:srgbClr val="18233D"/>
                    </a:solidFill>
                  </a:tcPr>
                </a:tc>
                <a:tc>
                  <a:txBody>
                    <a:bodyPr wrap="square"/>
                    <a:lstStyle/>
                    <a:p>
                      <a:pPr algn="l"/>
                      <a:r>
                        <a:rPr sz="1250" b="0" i="0">
                          <a:solidFill>
                            <a:srgbClr val="D4DEEA"/>
                          </a:solidFill>
                          <a:latin typeface="Segoe UI"/>
                        </a:rPr>
                        <a:t>Precision of verified verdicts</a:t>
                      </a:r>
                    </a:p>
                  </a:txBody>
                  <a:tcPr marL="73152" marR="54864" marT="27432" marB="27432" anchor="ctr">
                    <a:solidFill>
                      <a:srgbClr val="18233D"/>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Observed coverage on the benchmark repos</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61</a:t>
            </a:r>
          </a:p>
        </p:txBody>
      </p:sp>
      <p:sp>
        <p:nvSpPr>
          <p:cNvPr id="8" name="TextBox 7"/>
          <p:cNvSpPr txBox="1"/>
          <p:nvPr/>
        </p:nvSpPr>
        <p:spPr>
          <a:xfrm>
            <a:off x="640080" y="1133856"/>
            <a:ext cx="10972800" cy="365760"/>
          </a:xfrm>
          <a:prstGeom prst="rect">
            <a:avLst/>
          </a:prstGeom>
          <a:noFill/>
        </p:spPr>
        <p:txBody>
          <a:bodyPr wrap="square" anchor="t" lIns="0" rIns="0" tIns="0" bIns="0">
            <a:spAutoFit/>
          </a:bodyPr>
          <a:lstStyle/>
          <a:p>
            <a:pPr algn="l">
              <a:spcAft>
                <a:spcPts val="200"/>
              </a:spcAft>
            </a:pPr>
            <a:r>
              <a:rPr sz="1400" b="0" i="1">
                <a:solidFill>
                  <a:srgbClr val="909CAB"/>
                </a:solidFill>
                <a:latin typeface="Segoe UI"/>
              </a:rPr>
              <a:t>Source: docs/benchmarks/ground-truth-baselines.md (observed-coverage notes).</a:t>
            </a:r>
          </a:p>
        </p:txBody>
      </p:sp>
      <p:graphicFrame>
        <p:nvGraphicFramePr>
          <p:cNvPr id="9" name="Table 8"/>
          <p:cNvGraphicFramePr>
            <a:graphicFrameLocks noGrp="1"/>
          </p:cNvGraphicFramePr>
          <p:nvPr/>
        </p:nvGraphicFramePr>
        <p:xfrm>
          <a:off x="640080" y="1627632"/>
          <a:ext cx="10927079" cy="1536192"/>
        </p:xfrm>
        <a:graphic>
          <a:graphicData uri="http://schemas.openxmlformats.org/drawingml/2006/table">
            <a:tbl>
              <a:tblPr>
                <a:tableStyleId>{5C22544A-7EE6-4342-B048-85BDC9FD1C3A}</a:tableStyleId>
              </a:tblPr>
              <a:tblGrid>
                <a:gridCol w="2743200"/>
                <a:gridCol w="4206240"/>
                <a:gridCol w="3977639"/>
              </a:tblGrid>
              <a:tr h="384048">
                <a:tc>
                  <a:txBody>
                    <a:bodyPr wrap="square"/>
                    <a:lstStyle/>
                    <a:p>
                      <a:pPr algn="l"/>
                      <a:r>
                        <a:rPr sz="1300" b="1" i="0">
                          <a:solidFill>
                            <a:srgbClr val="FFFFFF"/>
                          </a:solidFill>
                          <a:latin typeface="Segoe UI"/>
                        </a:rPr>
                        <a:t>Repo (lang)</a:t>
                      </a:r>
                    </a:p>
                  </a:txBody>
                  <a:tcPr marL="73152" marR="54864" marT="27432" marB="27432" anchor="ctr">
                    <a:solidFill>
                      <a:srgbClr val="263552"/>
                    </a:solidFill>
                  </a:tcPr>
                </a:tc>
                <a:tc>
                  <a:txBody>
                    <a:bodyPr wrap="square"/>
                    <a:lstStyle/>
                    <a:p>
                      <a:pPr algn="l"/>
                      <a:r>
                        <a:rPr sz="1300" b="1" i="0">
                          <a:solidFill>
                            <a:srgbClr val="FFFFFF"/>
                          </a:solidFill>
                          <a:latin typeface="Segoe UI"/>
                        </a:rPr>
                        <a:t>Detected well</a:t>
                      </a:r>
                    </a:p>
                  </a:txBody>
                  <a:tcPr marL="73152" marR="54864" marT="27432" marB="27432" anchor="ctr">
                    <a:solidFill>
                      <a:srgbClr val="263552"/>
                    </a:solidFill>
                  </a:tcPr>
                </a:tc>
                <a:tc>
                  <a:txBody>
                    <a:bodyPr wrap="square"/>
                    <a:lstStyle/>
                    <a:p>
                      <a:pPr algn="l"/>
                      <a:r>
                        <a:rPr sz="1300" b="1" i="0">
                          <a:solidFill>
                            <a:srgbClr val="FFFFFF"/>
                          </a:solidFill>
                          <a:latin typeface="Segoe UI"/>
                        </a:rPr>
                        <a:t>Missed (expected)</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dvcp (C)</a:t>
                      </a:r>
                    </a:p>
                  </a:txBody>
                  <a:tcPr marL="73152" marR="54864" marT="27432" marB="27432" anchor="ctr">
                    <a:solidFill>
                      <a:srgbClr val="18233D"/>
                    </a:solidFill>
                  </a:tcPr>
                </a:tc>
                <a:tc>
                  <a:txBody>
                    <a:bodyPr wrap="square"/>
                    <a:lstStyle/>
                    <a:p>
                      <a:pPr algn="l"/>
                      <a:r>
                        <a:rPr sz="1250" b="0" i="0">
                          <a:solidFill>
                            <a:srgbClr val="D4DEEA"/>
                          </a:solidFill>
                          <a:latin typeface="Segoe UI"/>
                        </a:rPr>
                        <a:t>double-free, UAF, OOB read/write</a:t>
                      </a:r>
                    </a:p>
                  </a:txBody>
                  <a:tcPr marL="73152" marR="54864" marT="27432" marB="27432" anchor="ctr">
                    <a:solidFill>
                      <a:srgbClr val="18233D"/>
                    </a:solidFill>
                  </a:tcPr>
                </a:tc>
                <a:tc>
                  <a:txBody>
                    <a:bodyPr wrap="square"/>
                    <a:lstStyle/>
                    <a:p>
                      <a:pPr algn="l"/>
                      <a:r>
                        <a:rPr sz="1250" b="0" i="0">
                          <a:solidFill>
                            <a:srgbClr val="D4DEEA"/>
                          </a:solidFill>
                          <a:latin typeface="Segoe UI"/>
                        </a:rPr>
                        <a:t>int-overflow chain, div-by-zero, leak, exhaustion</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insecure-coding-examples (C++)</a:t>
                      </a:r>
                    </a:p>
                  </a:txBody>
                  <a:tcPr marL="73152" marR="54864" marT="27432" marB="27432" anchor="ctr">
                    <a:solidFill>
                      <a:srgbClr val="131D33"/>
                    </a:solidFill>
                  </a:tcPr>
                </a:tc>
                <a:tc>
                  <a:txBody>
                    <a:bodyPr wrap="square"/>
                    <a:lstStyle/>
                    <a:p>
                      <a:pPr algn="l"/>
                      <a:r>
                        <a:rPr sz="1250" b="0" i="0">
                          <a:solidFill>
                            <a:srgbClr val="D4DEEA"/>
                          </a:solidFill>
                          <a:latin typeface="Segoe UI"/>
                        </a:rPr>
                        <a:t>unsafe fns, format string, UAF, double-free, type-confusion</a:t>
                      </a:r>
                    </a:p>
                  </a:txBody>
                  <a:tcPr marL="73152" marR="54864" marT="27432" marB="27432" anchor="ctr">
                    <a:solidFill>
                      <a:srgbClr val="131D33"/>
                    </a:solidFill>
                  </a:tcPr>
                </a:tc>
                <a:tc>
                  <a:txBody>
                    <a:bodyPr wrap="square"/>
                    <a:lstStyle/>
                    <a:p>
                      <a:pPr algn="l"/>
                      <a:r>
                        <a:rPr sz="1250" b="0" i="0">
                          <a:solidFill>
                            <a:srgbClr val="D4DEEA"/>
                          </a:solidFill>
                          <a:latin typeface="Segoe UI"/>
                        </a:rPr>
                        <a:t>C++ lifetime/UB: dangling string_view, removed memset, RAII</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insecure-cpp-dojo (C++)</a:t>
                      </a:r>
                    </a:p>
                  </a:txBody>
                  <a:tcPr marL="73152" marR="54864" marT="27432" marB="27432" anchor="ctr">
                    <a:solidFill>
                      <a:srgbClr val="18233D"/>
                    </a:solidFill>
                  </a:tcPr>
                </a:tc>
                <a:tc>
                  <a:txBody>
                    <a:bodyPr wrap="square"/>
                    <a:lstStyle/>
                    <a:p>
                      <a:pPr algn="l"/>
                      <a:r>
                        <a:rPr sz="1250" b="0" i="0">
                          <a:solidFill>
                            <a:srgbClr val="D4DEEA"/>
                          </a:solidFill>
                          <a:latin typeface="Segoe UI"/>
                        </a:rPr>
                        <a:t>≈1/14 (Semgrep only)</a:t>
                      </a:r>
                    </a:p>
                  </a:txBody>
                  <a:tcPr marL="73152" marR="54864" marT="27432" marB="27432" anchor="ctr">
                    <a:solidFill>
                      <a:srgbClr val="18233D"/>
                    </a:solidFill>
                  </a:tcPr>
                </a:tc>
                <a:tc>
                  <a:txBody>
                    <a:bodyPr wrap="square"/>
                    <a:lstStyle/>
                    <a:p>
                      <a:pPr algn="l"/>
                      <a:r>
                        <a:rPr sz="1250" b="0" i="0">
                          <a:solidFill>
                            <a:srgbClr val="D4DEEA"/>
                          </a:solidFill>
                          <a:latin typeface="Segoe UI"/>
                        </a:rPr>
                        <a:t>most — CodeQL build failed → recall collapsed</a:t>
                      </a:r>
                    </a:p>
                  </a:txBody>
                  <a:tcPr marL="73152" marR="54864" marT="27432" marB="27432" anchor="ctr">
                    <a:solidFill>
                      <a:srgbClr val="18233D"/>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Build health drives memory-safety recall</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62</a:t>
            </a:r>
          </a:p>
        </p:txBody>
      </p:sp>
      <p:sp>
        <p:nvSpPr>
          <p:cNvPr id="8" name="TextBox 7"/>
          <p:cNvSpPr txBox="1"/>
          <p:nvPr/>
        </p:nvSpPr>
        <p:spPr>
          <a:xfrm>
            <a:off x="640080" y="1371600"/>
            <a:ext cx="10972800" cy="4937760"/>
          </a:xfrm>
          <a:prstGeom prst="rect">
            <a:avLst/>
          </a:prstGeom>
          <a:noFill/>
        </p:spPr>
        <p:txBody>
          <a:bodyPr wrap="square">
            <a:spAutoFit/>
          </a:bodyPr>
          <a:lstStyle/>
          <a:p>
            <a:pPr>
              <a:spcAft>
                <a:spcPts val="900"/>
              </a:spcAft>
            </a:pPr>
            <a:r>
              <a:rPr sz="2100" b="1" i="0">
                <a:solidFill>
                  <a:srgbClr val="F97316"/>
                </a:solidFill>
                <a:latin typeface="Segoe UI"/>
              </a:rPr>
              <a:t>▸  </a:t>
            </a:r>
            <a:r>
              <a:rPr sz="2100" b="1" i="0">
                <a:solidFill>
                  <a:srgbClr val="D4DEEA"/>
                </a:solidFill>
                <a:latin typeface="Segoe UI"/>
              </a:rPr>
              <a:t>CodeQL needs to OBSERVE the build for C/C++/Java/Go/C#.</a:t>
            </a:r>
          </a:p>
          <a:p>
            <a:pPr>
              <a:spcAft>
                <a:spcPts val="900"/>
              </a:spcAft>
            </a:pPr>
            <a:r>
              <a:rPr sz="2100" b="1" i="0">
                <a:solidFill>
                  <a:srgbClr val="F97316"/>
                </a:solidFill>
                <a:latin typeface="Segoe UI"/>
              </a:rPr>
              <a:t>▸  </a:t>
            </a:r>
            <a:r>
              <a:rPr sz="2100" b="1" i="0">
                <a:solidFill>
                  <a:srgbClr val="FB7185"/>
                </a:solidFill>
                <a:latin typeface="Segoe UI"/>
              </a:rPr>
              <a:t>Build fails → database incomplete → semantic queries find little.</a:t>
            </a:r>
          </a:p>
          <a:p>
            <a:pPr>
              <a:spcAft>
                <a:spcPts val="900"/>
              </a:spcAft>
            </a:pPr>
            <a:r>
              <a:rPr sz="2100" b="1" i="0">
                <a:solidFill>
                  <a:srgbClr val="F97316"/>
                </a:solidFill>
                <a:latin typeface="Segoe UI"/>
              </a:rPr>
              <a:t>▸  </a:t>
            </a:r>
            <a:r>
              <a:rPr sz="2100" b="1" i="0">
                <a:solidFill>
                  <a:srgbClr val="D4DEEA"/>
                </a:solidFill>
                <a:latin typeface="Segoe UI"/>
              </a:rPr>
              <a:t>Semgrep still runs (no build) — but only syntactic coverage.</a:t>
            </a:r>
          </a:p>
          <a:p>
            <a:pPr>
              <a:spcAft>
                <a:spcPts val="900"/>
              </a:spcAft>
            </a:pPr>
            <a:r>
              <a:rPr sz="2100" b="1" i="0">
                <a:solidFill>
                  <a:srgbClr val="F97316"/>
                </a:solidFill>
                <a:latin typeface="Segoe UI"/>
              </a:rPr>
              <a:t>▸  </a:t>
            </a:r>
            <a:r>
              <a:rPr sz="2100" b="1" i="0">
                <a:solidFill>
                  <a:srgbClr val="34D399"/>
                </a:solidFill>
                <a:latin typeface="Segoe UI"/>
              </a:rPr>
              <a:t>Practical: get a clean build first; use --tool both so something always runs.</a:t>
            </a:r>
          </a:p>
          <a:p>
            <a:pPr lvl="1">
              <a:spcAft>
                <a:spcPts val="900"/>
              </a:spcAft>
            </a:pPr>
            <a:r>
              <a:rPr sz="1800" b="1" i="0">
                <a:solidFill>
                  <a:srgbClr val="909CAB"/>
                </a:solidFill>
                <a:latin typeface="Segoe UI"/>
              </a:rPr>
              <a:t>–  </a:t>
            </a:r>
            <a:r>
              <a:rPr sz="1800" b="0" i="0">
                <a:solidFill>
                  <a:srgbClr val="9DB0C6"/>
                </a:solidFill>
                <a:latin typeface="Segoe UI"/>
              </a:rPr>
              <a:t>Verify the DB step in prepare logs before trusting low finding counts.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Cost, latency &amp; best practice</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63</a:t>
            </a:r>
          </a:p>
        </p:txBody>
      </p:sp>
      <p:graphicFrame>
        <p:nvGraphicFramePr>
          <p:cNvPr id="8" name="Table 7"/>
          <p:cNvGraphicFramePr>
            <a:graphicFrameLocks noGrp="1"/>
          </p:cNvGraphicFramePr>
          <p:nvPr/>
        </p:nvGraphicFramePr>
        <p:xfrm>
          <a:off x="640080" y="1417320"/>
          <a:ext cx="10927080" cy="2304288"/>
        </p:xfrm>
        <a:graphic>
          <a:graphicData uri="http://schemas.openxmlformats.org/drawingml/2006/table">
            <a:tbl>
              <a:tblPr>
                <a:tableStyleId>{5C22544A-7EE6-4342-B048-85BDC9FD1C3A}</a:tableStyleId>
              </a:tblPr>
              <a:tblGrid>
                <a:gridCol w="2468880"/>
                <a:gridCol w="4206240"/>
                <a:gridCol w="4251960"/>
              </a:tblGrid>
              <a:tr h="384048">
                <a:tc>
                  <a:txBody>
                    <a:bodyPr wrap="square"/>
                    <a:lstStyle/>
                    <a:p>
                      <a:pPr algn="l"/>
                      <a:r>
                        <a:rPr sz="1300" b="1" i="0">
                          <a:solidFill>
                            <a:srgbClr val="FFFFFF"/>
                          </a:solidFill>
                          <a:latin typeface="Segoe UI"/>
                        </a:rPr>
                        <a:t>Lever</a:t>
                      </a:r>
                    </a:p>
                  </a:txBody>
                  <a:tcPr marL="73152" marR="54864" marT="27432" marB="27432" anchor="ctr">
                    <a:solidFill>
                      <a:srgbClr val="263552"/>
                    </a:solidFill>
                  </a:tcPr>
                </a:tc>
                <a:tc>
                  <a:txBody>
                    <a:bodyPr wrap="square"/>
                    <a:lstStyle/>
                    <a:p>
                      <a:pPr algn="l"/>
                      <a:r>
                        <a:rPr sz="1300" b="1" i="0">
                          <a:solidFill>
                            <a:srgbClr val="FFFFFF"/>
                          </a:solidFill>
                          <a:latin typeface="Segoe UI"/>
                        </a:rPr>
                        <a:t>Why it matters</a:t>
                      </a:r>
                    </a:p>
                  </a:txBody>
                  <a:tcPr marL="73152" marR="54864" marT="27432" marB="27432" anchor="ctr">
                    <a:solidFill>
                      <a:srgbClr val="263552"/>
                    </a:solidFill>
                  </a:tcPr>
                </a:tc>
                <a:tc>
                  <a:txBody>
                    <a:bodyPr wrap="square"/>
                    <a:lstStyle/>
                    <a:p>
                      <a:pPr algn="l"/>
                      <a:r>
                        <a:rPr sz="1300" b="1" i="0">
                          <a:solidFill>
                            <a:srgbClr val="FFFFFF"/>
                          </a:solidFill>
                          <a:latin typeface="Segoe UI"/>
                        </a:rPr>
                        <a:t>Recommendation</a:t>
                      </a:r>
                    </a:p>
                  </a:txBody>
                  <a:tcPr marL="73152" marR="54864" marT="27432" marB="27432" anchor="ctr">
                    <a:solidFill>
                      <a:srgbClr val="263552"/>
                    </a:solidFill>
                  </a:tcPr>
                </a:tc>
              </a:tr>
              <a:tr h="384048">
                <a:tc>
                  <a:txBody>
                    <a:bodyPr wrap="square"/>
                    <a:lstStyle/>
                    <a:p>
                      <a:pPr algn="l"/>
                      <a:r>
                        <a:rPr sz="1250" b="1" i="0">
                          <a:solidFill>
                            <a:srgbClr val="F2F6FB"/>
                          </a:solidFill>
                          <a:latin typeface="Segoe UI"/>
                        </a:rPr>
                        <a:t>--limit N</a:t>
                      </a:r>
                    </a:p>
                  </a:txBody>
                  <a:tcPr marL="73152" marR="54864" marT="27432" marB="27432" anchor="ctr">
                    <a:solidFill>
                      <a:srgbClr val="18233D"/>
                    </a:solidFill>
                  </a:tcPr>
                </a:tc>
                <a:tc>
                  <a:txBody>
                    <a:bodyPr wrap="square"/>
                    <a:lstStyle/>
                    <a:p>
                      <a:pPr algn="l"/>
                      <a:r>
                        <a:rPr sz="1250" b="0" i="0">
                          <a:solidFill>
                            <a:srgbClr val="D4DEEA"/>
                          </a:solidFill>
                          <a:latin typeface="Segoe UI"/>
                        </a:rPr>
                        <a:t>Tokens + time scale with findings</a:t>
                      </a:r>
                    </a:p>
                  </a:txBody>
                  <a:tcPr marL="73152" marR="54864" marT="27432" marB="27432" anchor="ctr">
                    <a:solidFill>
                      <a:srgbClr val="18233D"/>
                    </a:solidFill>
                  </a:tcPr>
                </a:tc>
                <a:tc>
                  <a:txBody>
                    <a:bodyPr wrap="square"/>
                    <a:lstStyle/>
                    <a:p>
                      <a:pPr algn="l"/>
                      <a:r>
                        <a:rPr sz="1250" b="0" i="0">
                          <a:solidFill>
                            <a:srgbClr val="D4DEEA"/>
                          </a:solidFill>
                          <a:latin typeface="Segoe UI"/>
                        </a:rPr>
                        <a:t>Start with 5–10 while learning</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model choice</a:t>
                      </a:r>
                    </a:p>
                  </a:txBody>
                  <a:tcPr marL="73152" marR="54864" marT="27432" marB="27432" anchor="ctr">
                    <a:solidFill>
                      <a:srgbClr val="131D33"/>
                    </a:solidFill>
                  </a:tcPr>
                </a:tc>
                <a:tc>
                  <a:txBody>
                    <a:bodyPr wrap="square"/>
                    <a:lstStyle/>
                    <a:p>
                      <a:pPr algn="l"/>
                      <a:r>
                        <a:rPr sz="1250" b="0" i="0">
                          <a:solidFill>
                            <a:srgbClr val="D4DEEA"/>
                          </a:solidFill>
                          <a:latin typeface="Segoe UI"/>
                        </a:rPr>
                        <a:t>Big models cost more per finding</a:t>
                      </a:r>
                    </a:p>
                  </a:txBody>
                  <a:tcPr marL="73152" marR="54864" marT="27432" marB="27432" anchor="ctr">
                    <a:solidFill>
                      <a:srgbClr val="131D33"/>
                    </a:solidFill>
                  </a:tcPr>
                </a:tc>
                <a:tc>
                  <a:txBody>
                    <a:bodyPr wrap="square"/>
                    <a:lstStyle/>
                    <a:p>
                      <a:pPr algn="l"/>
                      <a:r>
                        <a:rPr sz="1250" b="0" i="0">
                          <a:solidFill>
                            <a:srgbClr val="D4DEEA"/>
                          </a:solidFill>
                          <a:latin typeface="Segoe UI"/>
                        </a:rPr>
                        <a:t>Cheap/local first, escalate on hard cases</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--max-iterations</a:t>
                      </a:r>
                    </a:p>
                  </a:txBody>
                  <a:tcPr marL="73152" marR="54864" marT="27432" marB="27432" anchor="ctr">
                    <a:solidFill>
                      <a:srgbClr val="18233D"/>
                    </a:solidFill>
                  </a:tcPr>
                </a:tc>
                <a:tc>
                  <a:txBody>
                    <a:bodyPr wrap="square"/>
                    <a:lstStyle/>
                    <a:p>
                      <a:pPr algn="l"/>
                      <a:r>
                        <a:rPr sz="1250" b="0" i="0">
                          <a:solidFill>
                            <a:srgbClr val="D4DEEA"/>
                          </a:solidFill>
                          <a:latin typeface="Segoe UI"/>
                        </a:rPr>
                        <a:t>Multi-turn = more calls</a:t>
                      </a:r>
                    </a:p>
                  </a:txBody>
                  <a:tcPr marL="73152" marR="54864" marT="27432" marB="27432" anchor="ctr">
                    <a:solidFill>
                      <a:srgbClr val="18233D"/>
                    </a:solidFill>
                  </a:tcPr>
                </a:tc>
                <a:tc>
                  <a:txBody>
                    <a:bodyPr wrap="square"/>
                    <a:lstStyle/>
                    <a:p>
                      <a:pPr algn="l"/>
                      <a:r>
                        <a:rPr sz="1250" b="0" i="0">
                          <a:solidFill>
                            <a:srgbClr val="D4DEEA"/>
                          </a:solidFill>
                          <a:latin typeface="Segoe UI"/>
                        </a:rPr>
                        <a:t>Default 10; lower for quick passes</a:t>
                      </a:r>
                    </a:p>
                  </a:txBody>
                  <a:tcPr marL="73152" marR="54864" marT="27432" marB="27432" anchor="ctr">
                    <a:solidFill>
                      <a:srgbClr val="18233D"/>
                    </a:solidFill>
                  </a:tcPr>
                </a:tc>
              </a:tr>
              <a:tr h="384048">
                <a:tc>
                  <a:txBody>
                    <a:bodyPr wrap="square"/>
                    <a:lstStyle/>
                    <a:p>
                      <a:pPr algn="l"/>
                      <a:r>
                        <a:rPr sz="1250" b="1" i="0">
                          <a:solidFill>
                            <a:srgbClr val="F2F6FB"/>
                          </a:solidFill>
                          <a:latin typeface="Segoe UI"/>
                        </a:rPr>
                        <a:t>-j / --jobs</a:t>
                      </a:r>
                    </a:p>
                  </a:txBody>
                  <a:tcPr marL="73152" marR="54864" marT="27432" marB="27432" anchor="ctr">
                    <a:solidFill>
                      <a:srgbClr val="131D33"/>
                    </a:solidFill>
                  </a:tcPr>
                </a:tc>
                <a:tc>
                  <a:txBody>
                    <a:bodyPr wrap="square"/>
                    <a:lstStyle/>
                    <a:p>
                      <a:pPr algn="l"/>
                      <a:r>
                        <a:rPr sz="1250" b="0" i="0">
                          <a:solidFill>
                            <a:srgbClr val="D4DEEA"/>
                          </a:solidFill>
                          <a:latin typeface="Segoe UI"/>
                        </a:rPr>
                        <a:t>Parallelism vs rate limits</a:t>
                      </a:r>
                    </a:p>
                  </a:txBody>
                  <a:tcPr marL="73152" marR="54864" marT="27432" marB="27432" anchor="ctr">
                    <a:solidFill>
                      <a:srgbClr val="131D33"/>
                    </a:solidFill>
                  </a:tcPr>
                </a:tc>
                <a:tc>
                  <a:txBody>
                    <a:bodyPr wrap="square"/>
                    <a:lstStyle/>
                    <a:p>
                      <a:pPr algn="l"/>
                      <a:r>
                        <a:rPr sz="1250" b="0" i="0">
                          <a:solidFill>
                            <a:srgbClr val="D4DEEA"/>
                          </a:solidFill>
                          <a:latin typeface="Segoe UI"/>
                        </a:rPr>
                        <a:t>Raise to speed up; back off on 429s</a:t>
                      </a:r>
                    </a:p>
                  </a:txBody>
                  <a:tcPr marL="73152" marR="54864" marT="27432" marB="27432" anchor="ctr">
                    <a:solidFill>
                      <a:srgbClr val="131D33"/>
                    </a:solidFill>
                  </a:tcPr>
                </a:tc>
              </a:tr>
              <a:tr h="384048">
                <a:tc>
                  <a:txBody>
                    <a:bodyPr wrap="square"/>
                    <a:lstStyle/>
                    <a:p>
                      <a:pPr algn="l"/>
                      <a:r>
                        <a:rPr sz="1250" b="1" i="0">
                          <a:solidFill>
                            <a:srgbClr val="F2F6FB"/>
                          </a:solidFill>
                          <a:latin typeface="Segoe UI"/>
                        </a:rPr>
                        <a:t>re-run verify only</a:t>
                      </a:r>
                    </a:p>
                  </a:txBody>
                  <a:tcPr marL="73152" marR="54864" marT="27432" marB="27432" anchor="ctr">
                    <a:solidFill>
                      <a:srgbClr val="18233D"/>
                    </a:solidFill>
                  </a:tcPr>
                </a:tc>
                <a:tc>
                  <a:txBody>
                    <a:bodyPr wrap="square"/>
                    <a:lstStyle/>
                    <a:p>
                      <a:pPr algn="l"/>
                      <a:r>
                        <a:rPr sz="1250" b="0" i="0">
                          <a:solidFill>
                            <a:srgbClr val="D4DEEA"/>
                          </a:solidFill>
                          <a:latin typeface="Segoe UI"/>
                        </a:rPr>
                        <a:t>Don't rebuild the DB</a:t>
                      </a:r>
                    </a:p>
                  </a:txBody>
                  <a:tcPr marL="73152" marR="54864" marT="27432" marB="27432" anchor="ctr">
                    <a:solidFill>
                      <a:srgbClr val="18233D"/>
                    </a:solidFill>
                  </a:tcPr>
                </a:tc>
                <a:tc>
                  <a:txBody>
                    <a:bodyPr wrap="square"/>
                    <a:lstStyle/>
                    <a:p>
                      <a:pPr algn="l"/>
                      <a:r>
                        <a:rPr sz="1250" b="0" i="0">
                          <a:solidFill>
                            <a:srgbClr val="D4DEEA"/>
                          </a:solidFill>
                          <a:latin typeface="Segoe UI"/>
                        </a:rPr>
                        <a:t>Iterate on triage cheaply</a:t>
                      </a:r>
                    </a:p>
                  </a:txBody>
                  <a:tcPr marL="73152" marR="54864" marT="27432" marB="27432" anchor="ctr">
                    <a:solidFill>
                      <a:srgbClr val="18233D"/>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A0F1C"/>
        </a:solidFill>
        <a:effectLst/>
      </p:bgPr>
    </p:bg>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A0F1C"/>
              </a:gs>
              <a:gs pos="100000">
                <a:srgbClr val="0E1A30"/>
              </a:gs>
            </a:gsLst>
            <a:lin scaled="0" ang="17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10896"/>
            <a:ext cx="10058400" cy="777240"/>
          </a:xfrm>
          <a:prstGeom prst="rect">
            <a:avLst/>
          </a:prstGeom>
          <a:noFill/>
        </p:spPr>
        <p:txBody>
          <a:bodyPr wrap="square" anchor="t" lIns="0" rIns="0" tIns="0" bIns="0">
            <a:spAutoFit/>
          </a:bodyPr>
          <a:lstStyle/>
          <a:p>
            <a:pPr algn="l">
              <a:spcAft>
                <a:spcPts val="200"/>
              </a:spcAft>
            </a:pPr>
            <a:r>
              <a:rPr sz="2600" b="1" i="0">
                <a:solidFill>
                  <a:srgbClr val="F2F6FB"/>
                </a:solidFill>
                <a:latin typeface="Segoe UI"/>
              </a:rPr>
              <a:t>Key takeaway</a:t>
            </a:r>
          </a:p>
        </p:txBody>
      </p:sp>
      <p:sp>
        <p:nvSpPr>
          <p:cNvPr id="5" name="Rectangle 4"/>
          <p:cNvSpPr/>
          <p:nvPr/>
        </p:nvSpPr>
        <p:spPr>
          <a:xfrm>
            <a:off x="548640" y="1042415"/>
            <a:ext cx="1371600" cy="4114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869680" y="384048"/>
            <a:ext cx="2788920" cy="365760"/>
          </a:xfrm>
          <a:prstGeom prst="rect">
            <a:avLst/>
          </a:prstGeom>
          <a:noFill/>
        </p:spPr>
        <p:txBody>
          <a:bodyPr wrap="square" anchor="t" lIns="0" rIns="0" tIns="0" bIns="0">
            <a:spAutoFit/>
          </a:bodyPr>
          <a:lstStyle/>
          <a:p>
            <a:pPr algn="r">
              <a:spcAft>
                <a:spcPts val="200"/>
              </a:spcAft>
            </a:pPr>
            <a:r>
              <a:rPr sz="1200" b="1" i="0">
                <a:solidFill>
                  <a:srgbClr val="909CAB"/>
                </a:solidFill>
                <a:latin typeface="Segoe UI"/>
              </a:rPr>
              <a:t>VulnHunterX</a:t>
            </a:r>
          </a:p>
        </p:txBody>
      </p:sp>
      <p:sp>
        <p:nvSpPr>
          <p:cNvPr id="7" name="TextBox 6"/>
          <p:cNvSpPr txBox="1"/>
          <p:nvPr/>
        </p:nvSpPr>
        <p:spPr>
          <a:xfrm>
            <a:off x="10972800" y="6419088"/>
            <a:ext cx="914400" cy="365760"/>
          </a:xfrm>
          <a:prstGeom prst="rect">
            <a:avLst/>
          </a:prstGeom>
          <a:noFill/>
        </p:spPr>
        <p:txBody>
          <a:bodyPr wrap="square" anchor="t" lIns="0" rIns="0" tIns="0" bIns="0">
            <a:spAutoFit/>
          </a:bodyPr>
          <a:lstStyle/>
          <a:p>
            <a:pPr algn="r">
              <a:spcAft>
                <a:spcPts val="200"/>
              </a:spcAft>
            </a:pPr>
            <a:r>
              <a:rPr sz="1100" b="0" i="0">
                <a:solidFill>
                  <a:srgbClr val="909CAB"/>
                </a:solidFill>
                <a:latin typeface="Segoe UI"/>
              </a:rPr>
              <a:t>64</a:t>
            </a:r>
          </a:p>
        </p:txBody>
      </p:sp>
      <p:sp>
        <p:nvSpPr>
          <p:cNvPr id="8" name="TextBox 7"/>
          <p:cNvSpPr txBox="1"/>
          <p:nvPr/>
        </p:nvSpPr>
        <p:spPr>
          <a:xfrm>
            <a:off x="822960" y="2011680"/>
            <a:ext cx="10515600" cy="2011680"/>
          </a:xfrm>
          <a:prstGeom prst="rect">
            <a:avLst/>
          </a:prstGeom>
          <a:noFill/>
        </p:spPr>
        <p:txBody>
          <a:bodyPr wrap="square" anchor="t" lIns="0" rIns="0" tIns="0" bIns="0">
            <a:spAutoFit/>
          </a:bodyPr>
          <a:lstStyle/>
          <a:p>
            <a:pPr algn="l">
              <a:spcAft>
                <a:spcPts val="200"/>
              </a:spcAft>
            </a:pPr>
            <a:r>
              <a:rPr sz="3200" b="1" i="0">
                <a:solidFill>
                  <a:srgbClr val="F2F6FB"/>
                </a:solidFill>
                <a:latin typeface="Segoe UI"/>
              </a:rPr>
              <a:t>VulnHunterX is an assistant, not an oracle.</a:t>
            </a:r>
          </a:p>
          <a:p>
            <a:pPr algn="l">
              <a:spcAft>
                <a:spcPts val="200"/>
              </a:spcAft>
            </a:pPr>
            <a:r>
              <a:rPr sz="1000" b="0" i="0">
                <a:solidFill>
                  <a:srgbClr val="D4DEEA"/>
                </a:solidFill>
                <a:latin typeface="Segoe UI"/>
              </a:rPr>
              <a:t/>
            </a:r>
          </a:p>
          <a:p>
            <a:pPr algn="l">
              <a:spcAft>
                <a:spcPts val="200"/>
              </a:spcAft>
            </a:pPr>
            <a:r>
              <a:rPr sz="2200" b="0" i="0">
                <a:solidFill>
                  <a:srgbClr val="9DB0C6"/>
                </a:solidFill>
                <a:latin typeface="Segoe UI"/>
              </a:rPr>
              <a:t>It makes a human reviewer dramatically faster.</a:t>
            </a:r>
          </a:p>
          <a:p>
            <a:pPr algn="l">
              <a:spcAft>
                <a:spcPts val="200"/>
              </a:spcAft>
            </a:pPr>
            <a:r>
              <a:rPr sz="2200" b="0" i="0">
                <a:solidFill>
                  <a:srgbClr val="9DB0C6"/>
                </a:solidFill>
                <a:latin typeface="Segoe UI"/>
              </a:rPr>
              <a:t>It does not replace one. Now — let's run it.</a:t>
            </a:r>
          </a:p>
        </p:txBody>
      </p:sp>
      <p:sp>
        <p:nvSpPr>
          <p:cNvPr id="9" name="Rounded Rectangle 8"/>
          <p:cNvSpPr/>
          <p:nvPr/>
        </p:nvSpPr>
        <p:spPr>
          <a:xfrm>
            <a:off x="822960" y="4663440"/>
            <a:ext cx="4206240" cy="640080"/>
          </a:xfrm>
          <a:prstGeom prst="roundRect">
            <a:avLst>
              <a:gd name="adj" fmla="val 4500"/>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200"/>
              </a:spcAft>
            </a:pPr>
            <a:r>
              <a:rPr sz="1500" b="1" i="0">
                <a:solidFill>
                  <a:srgbClr val="FFFFFF"/>
                </a:solidFill>
                <a:latin typeface="Segoe UI"/>
              </a:rPr>
              <a:t>→  Hands-on workshop (30 min)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