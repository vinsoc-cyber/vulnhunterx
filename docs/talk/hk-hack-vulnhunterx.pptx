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cost of triage, not detection. Security teams don't drown in MISSED bugs — they</a:t>
            </a:r>
          </a:p>
          <a:p>
            <a:r>
              <a:t>drown in triaging the ones the scanner flagged, most of which are safe. FP rates run 30–80%.</a:t>
            </a:r>
          </a:p>
          <a:p>
            <a:r>
              <a:t>The question for this talk: what if a model that costs zero dollars could do the first triage pass,</a:t>
            </a:r>
          </a:p>
          <a:p>
            <a:r>
              <a:t>and do it well? This builds on CyberArk's Vulnhalla methodology — name it up front for credibility.</a:t>
            </a:r>
          </a:p>
          <a:p>
            <a:r>
              <a:t>State the thesis now and again at the end: reasoning STRUCTURE beats model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the funnel. The failure isn't a missed detection — it's that humans can't keep up with the</a:t>
            </a:r>
          </a:p>
          <a:p>
            <a:r>
              <a:t>volume, so they tune out, and a genuine vulnerability gets ignored alongside the noise. Frame the</a:t>
            </a:r>
          </a:p>
          <a:p>
            <a:r>
              <a:t>dual-use angle for a DefCon room: the same triage speed-up helps defenders clear a backlog and</a:t>
            </a:r>
          </a:p>
          <a:p>
            <a:r>
              <a:t>helps offense prioritize attacker-relevant findings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snippet. The sink genuinely looks dangerous, but secure_filename() upstream neutralizes</a:t>
            </a:r>
          </a:p>
          <a:p>
            <a:r>
              <a:t>the traversal — so it's a false positive. Get a show of hands. This is exactly the judgment we're</a:t>
            </a:r>
          </a:p>
          <a:p>
            <a:r>
              <a:t>automating, and this is the case the LIVE DEMO will resolve later. Plant the hook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naive approach is confidently wrong because it matches a textual pattern instead of reasoning</a:t>
            </a:r>
          </a:p>
          <a:p>
            <a:r>
              <a:t>about reachability and guards. SecLLMHolmes measured frontier models capping around 40% accuracy</a:t>
            </a:r>
          </a:p>
          <a:p>
            <a:r>
              <a:t>on hand-crafted scenarios for precisely this reason. Land the line: the gap is method, not</a:t>
            </a:r>
          </a:p>
          <a:p>
            <a:r>
              <a:t>intelligence — which is what the rest of the talk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diagram for the whole system. SARIF is the contract that ties it together — remember that for</a:t>
            </a:r>
          </a:p>
          <a:p>
            <a:r>
              <a:t>the extensibility slide. Stages 1–2 are ordinary static analysis; stage 3 is the LLM verification</a:t>
            </a:r>
          </a:p>
          <a:p>
            <a:r>
              <a:t>that is the heart of the talk; stages 5–8 optionally confirm a true positive with an actual crash.</a:t>
            </a:r>
          </a:p>
          <a:p>
            <a:r>
              <a:t>Everything routes through one SARIF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real pipeline figure from the paper. Repo in, triaged findings out. Stage 1 prepares the</a:t>
            </a:r>
          </a:p>
          <a:p>
            <a:r>
              <a:t>CodeQL DB and extracts context CSVs (tree-sitter fallback when the DB build fails); Stage 2 runs</a:t>
            </a:r>
          </a:p>
          <a:p>
            <a:r>
              <a:t>the SAST engines to SARIF; Stage 3 is the multi-turn LLM verification; Stage 4 aggregates a</a:t>
            </a:r>
          </a:p>
          <a:p>
            <a:r>
              <a:t>bilingual report. Point at the dotted line: those pre-extracted context CSVs are what the LLM</a:t>
            </a:r>
          </a:p>
          <a:p>
            <a:r>
              <a:t>draws on in Stage 3 WITHOUT re-running analysis — that's why multi-turn is cheap.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"is this a bug?", ask the model the same ordered questions a senior reviewer asks.</a:t>
            </a:r>
          </a:p>
          <a:p>
            <a:r>
              <a:t>Three design rules: P1 every question must be answerable only by citing concrete line numbers;</a:t>
            </a:r>
          </a:p>
          <a:p>
            <a:r>
              <a:t>P2 one fact per question, compound questions get split; P3 "not visible in the provided context"</a:t>
            </a:r>
          </a:p>
          <a:p>
            <a:r>
              <a:t>is a legal answer — that's what triggers fetching more context. The repo ships 348 of these banks</a:t>
            </a:r>
          </a:p>
          <a:p>
            <a:r>
              <a:t>across six languages, routed by rule ID and CWE.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deliberately different CWE class to show the method generalizes. SQL injection is a taint /</a:t>
            </a:r>
          </a:p>
          <a:p>
            <a:r>
              <a:t>data-flow question — does attacker input reach a sink unsanitized? Use-after-free is a lifetime /</a:t>
            </a:r>
          </a:p>
          <a:p>
            <a:r>
              <a:t>ownership question — these are the real questions from the cpp/use-after-free bank. Note the moves:</a:t>
            </a:r>
          </a:p>
          <a:p>
            <a:r>
              <a:t>anchor and CLASSIFY the flagged line first (many UAF false positives are just declarations); then</a:t>
            </a:r>
          </a:p>
          <a:p>
            <a:r>
              <a:t>enumerate every free site (it requests free_sites: context); then trace the shortest free→use path</a:t>
            </a:r>
          </a:p>
          <a:p>
            <a:r>
              <a:t>and check for a NULL-set or reallocation defense. min_iterations is 3 — memory-safety needs the</a:t>
            </a:r>
          </a:p>
          <a:p>
            <a:r>
              <a:t>turns. The free_sites / destructor / field_writes context it asks for is exactly what the next</a:t>
            </a:r>
          </a:p>
          <a:p>
            <a:r>
              <a:t>slide shows being extracted.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important slide. The response schema forces the model to write its cited</a:t>
            </a:r>
          </a:p>
          <a:p>
            <a:r>
              <a:t>answers and the data-flow trace FIRST; the verdict field is generated last, conditioned on that</a:t>
            </a:r>
          </a:p>
          <a:p>
            <a:r>
              <a:t>evidence. Because generation is left-to-right, autoregression now works FOR us. A post-processor</a:t>
            </a:r>
          </a:p>
          <a:p>
            <a:r>
              <a:t>downgrades any High/Medium verdict whose reasoning is pure pattern-language with no file:line</a:t>
            </a:r>
          </a:p>
          <a:p>
            <a:r>
              <a:t>citation. Evidence first, conclusion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the model says "not visible here," it asks for more context from a fixed vocabulary — caller,</a:t>
            </a:r>
          </a:p>
          <a:p>
            <a:r>
              <a:t>struct, free_sites, and so on. We resolve those from pre-extracted CSVs (or a tree-sitter fallback)</a:t>
            </a:r>
          </a:p>
          <a:p>
            <a:r>
              <a:t>and re-prompt. Crucially we never re-run the SAST engine, so a multi-turn conversation costs a few</a:t>
            </a:r>
          </a:p>
          <a:p>
            <a:r>
              <a:t>thousand extra tokens, not another full analysis. In practice the mean conversation is 2.74 turns</a:t>
            </a:r>
          </a:p>
          <a:p>
            <a:r>
              <a:t>and only 0.8% of findings ever hit a forced decision — source: the 366-entry OWASP-Python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back the curtain on the context broker. context_extractor.py runs small CodeQL queries</a:t>
            </a:r>
          </a:p>
          <a:p>
            <a:r>
              <a:t>against the database — query run, then bqrs decode — and writes one CSV per context type. C and C++</a:t>
            </a:r>
          </a:p>
          <a:p>
            <a:r>
              <a:t>get eight types, including the memory-safety-specific free_sites, destructors, and field_writes</a:t>
            </a:r>
          </a:p>
          <a:p>
            <a:r>
              <a:t>that the use-after-free questions ask for. The other five languages get three (functions, callers,</a:t>
            </a:r>
          </a:p>
          <a:p>
            <a:r>
              <a:t>classes). When no CodeQL DB exists, a tree-sitter fallback emits the same CSV layout, so the rest</a:t>
            </a:r>
          </a:p>
          <a:p>
            <a:r>
              <a:t>of the pipeline is identical. This is the cheap, pre-computed knowledge the LLM pulls from across</a:t>
            </a:r>
          </a:p>
          <a:p>
            <a:r>
              <a:t>multi-turn — no re-analysis.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headline. Precision roughly doubles and we delete 80–91% of false positives while keeping</a:t>
            </a:r>
          </a:p>
          <a:p>
            <a:r>
              <a:t>&gt;90% of real bugs (TP-preservation stays ~90–96%). Point at the repo: every number here is in a</a:t>
            </a:r>
          </a:p>
          <a:p>
            <a:r>
              <a:t>committed benchmark result file, reproducible with the harness. Numbers are percentages, P/F1.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surprising result. The zero-dollar pass-through model has the best F1, and GPT-5 — at roughly</a:t>
            </a:r>
          </a:p>
          <a:p>
            <a:r>
              <a:t>seventeen dollars for 228 findings — doesn't lead. The lever is the protocol, not the parameter</a:t>
            </a:r>
          </a:p>
          <a:p>
            <a:r>
              <a:t>count. Be honest about latency: this is batch-speed, tens of seconds per finding, not inline on</a:t>
            </a:r>
          </a:p>
          <a:p>
            <a:r>
              <a:t>keystroke.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oversell. The largest single jump is from raw-SAST to any multi-turn LLM — about 20 F1</a:t>
            </a:r>
          </a:p>
          <a:p>
            <a:r>
              <a:t>points. Zero-shot is strong; the guided questions mainly add the hard-case tail, a few points of</a:t>
            </a:r>
          </a:p>
          <a:p>
            <a:r>
              <a:t>recall, and on synthetic Juliet generic questions even nudge ahead. Telling a DefCon audience the</a:t>
            </a:r>
          </a:p>
          <a:p>
            <a:r>
              <a:t>limits of your own method buys credibility for the numbers that ARE strong.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before touching the keyboard. Two terminals: a benign upstream library and a</a:t>
            </a:r>
          </a:p>
          <a:p>
            <a:r>
              <a:t>deliberately vulnerable app. Say the success criteria aloud so the audience knows what "working"</a:t>
            </a:r>
          </a:p>
          <a:p>
            <a:r>
              <a:t>looks like — the real bug survives, the false positive from slide 3 dies, both with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verify on the pre-staged findings and narrate four moments in order: the false positive dies</a:t>
            </a:r>
          </a:p>
          <a:p>
            <a:r>
              <a:t>with its cited guard; a real bug survives with a data-flow trace; a live multi-turn context</a:t>
            </a:r>
          </a:p>
          <a:p>
            <a:r>
              <a:t>request and the revised verdict; and the confidence downgrade catching a thin verdict. REHEARSE</a:t>
            </a:r>
          </a:p>
          <a:p>
            <a:r>
              <a:t>the fallback: a pre-recorded screencast plus cached verdict JSON. Conference-floor network failure</a:t>
            </a:r>
          </a:p>
          <a:p>
            <a:r>
              <a:t>is a when, not an if. If running long, the fuzz-payoff slide is the safe 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loop. For a memory-unsafe true positive, the fuzz stages generate a harness, build it</a:t>
            </a:r>
          </a:p>
          <a:p>
            <a:r>
              <a:t>with sanitizers, and produce an actual crashing input. That converts an LLM opinion into a filed,</a:t>
            </a:r>
          </a:p>
          <a:p>
            <a:r>
              <a:t>reproducible bug. Use the recording — fuzzing in real time on stage is too slow. This is the bridge</a:t>
            </a:r>
          </a:p>
          <a:p>
            <a:r>
              <a:t>into the real-world results: the next segment shows five such bugs we actually found and confirmed.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segment is the proof: VulnHunterX wasn't just benchmarked on synthetic data — it surfaced and</a:t>
            </a:r>
          </a:p>
          <a:p>
            <a:r>
              <a:t>helped confirm five real vulnerabilities in widely-used open-source libraries, every one of them</a:t>
            </a:r>
          </a:p>
          <a:p>
            <a:r>
              <a:t>reported to and engaged by the vendor. The triage that found them ran on a low-cost model</a:t>
            </a:r>
          </a:p>
          <a:p>
            <a:r>
              <a:t>(GLM-5.1) at zero marginal cost. Each bug here has a manual confirmation write-up and a working PoC</a:t>
            </a:r>
          </a:p>
          <a:p>
            <a:r>
              <a:t>in the public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money slide. Five distinct vulnerability classes — a TOCTOU race, a compiler dead-store that</a:t>
            </a:r>
          </a:p>
          <a:p>
            <a:r>
              <a:t>defeats secret-wiping, an unbounded stack allocation, a server-side request forgery, and a</a:t>
            </a:r>
          </a:p>
          <a:p>
            <a:r>
              <a:t>credential leak from a sloppy URL check — across two languages and five mature, widely-deployed</a:t>
            </a:r>
          </a:p>
          <a:p>
            <a:r>
              <a:t>projects. Every row has a public PoC and a vendor touchpoint. Walk the table, then the next slide</a:t>
            </a:r>
          </a:p>
          <a:p>
            <a:r>
              <a:t>shows the funnel these came out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the triage layer matters in the real world. 175 raw findings across the five libraries;</a:t>
            </a:r>
          </a:p>
          <a:p>
            <a:r>
              <a:t>the LLM verdicts narrowed those to a manageable set and, on flac alone, filtered 82 false positives</a:t>
            </a:r>
          </a:p>
          <a:p>
            <a:r>
              <a:t>to leave 12 true positives — one of which was the TOCTOU bug. Note gradio's 12 errors (harness/parse</a:t>
            </a:r>
          </a:p>
          <a:p>
            <a:r>
              <a:t>issues) — be honest about that. The whole campaign ran on GLM-5.1 at zero marginal cost, a few</a:t>
            </a:r>
          </a:p>
          <a:p>
            <a:r>
              <a:t>thousand tokens per finding. Cheap triage, real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stat() at line 100 and chmod() at line 116 use the same path string with no file descriptor held</a:t>
            </a:r>
          </a:p>
          <a:p>
            <a:r>
              <a:t>between them — the classic check-then-use TOCTOU window. An attacker who controls the parent</a:t>
            </a:r>
          </a:p>
          <a:p>
            <a:r>
              <a:t>directory swaps the file for a symlink in that window, so chmod lands on the symlink target. When</a:t>
            </a:r>
          </a:p>
          <a:p>
            <a:r>
              <a:t>flac/metaflac runs elevated, that's permission changes on arbitrary files. Note the verdict: Medium</a:t>
            </a:r>
          </a:p>
          <a:p>
            <a:r>
              <a:t>confidence, and it took THREE multi-turn iterations — the engine asked for more context before</a:t>
            </a:r>
          </a:p>
          <a:p>
            <a:r>
              <a:t>committing, exactly the behavior the methodology is built for. Vendor issue xiph/flac #902.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ov_crosslap allocates with alloca() inside a loop bounded by the channel count, which is parsed</a:t>
            </a:r>
          </a:p>
          <a:p>
            <a:r>
              <a:t>straight from the Ogg header and only checked to be &gt;= 1 — no upper bound. A crafted file with 255</a:t>
            </a:r>
          </a:p>
          <a:p>
            <a:r>
              <a:t>channels and max blocksize forces ~4 MB of stack, overflowing the small worker-thread stacks that</a:t>
            </a:r>
          </a:p>
          <a:p>
            <a:r>
              <a:t>media players and game engines use for audio decode. High-confidence true positive in a single turn.</a:t>
            </a:r>
          </a:p>
          <a:p>
            <a:r>
              <a:t>Vendor merge request !43 on the xiph vorbis GitLab.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memset() calls meant to wipe sensitive SHA1 data are silently removed by the compiler's</a:t>
            </a:r>
          </a:p>
          <a:p>
            <a:r>
              <a:t>dead-store elimination at -O1 and above, because the buffers are never read after the wipe. Raw</a:t>
            </a:r>
          </a:p>
          <a:p>
            <a:r>
              <a:t>input, hash state, and counters survive on the stack. The PoC proves it: objdump shows no memset in</a:t>
            </a:r>
          </a:p>
          <a:p>
            <a:r>
              <a:t>the optimized binary, and the secret block is recovered from the stack. Reachable through the public</a:t>
            </a:r>
          </a:p>
          <a:p>
            <a:r>
              <a:t>SHA1Update API; risk is highest in long-lived servers built on libevent. Triaged by advance-security.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extract_svg_content fetches a user-controlled URL with httpx.get and no SSRF protection — no scheme</a:t>
            </a:r>
          </a:p>
          <a:p>
            <a:r>
              <a:t>restriction, no host allowlist. The telling detail the LLM surfaced: the sibling processing_utils.py</a:t>
            </a:r>
          </a:p>
          <a:p>
            <a:r>
              <a:t>already routes through safehttpx, so this is an overlooked path, not a missing capability. Impact is</a:t>
            </a:r>
          </a:p>
          <a:p>
            <a:r>
              <a:t>classic SSRF — internal services and cloud metadata. Highest-confidence verdict in the set, single</a:t>
            </a:r>
          </a:p>
          <a:p>
            <a:r>
              <a:t>turn. Triaged privately via GitHub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--index-url is validated with startswith() on a domain prefix — which a subdomain like</a:t>
            </a:r>
          </a:p>
          <a:p>
            <a:r>
              <a:t>pkgs.safetycli.com.attacker.com trivially passes. The CLI then embeds the user's JWT into the URL,</a:t>
            </a:r>
          </a:p>
          <a:p>
            <a:r>
              <a:t>and uv ships it in an Authorization header to the attacker's host. The vector is CI/CD argument</a:t>
            </a:r>
          </a:p>
          <a:p>
            <a:r>
              <a:t>injection; tokens are valid ~24 hours. The fix is exact-hostname validation via urlsplit. Medium</a:t>
            </a:r>
          </a:p>
          <a:p>
            <a:r>
              <a:t>confidence — honest about the truncated context. Triaged with the vendor over email.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it back to the method. These bugs are exactly the cases raw SAST buries: a single real finding</a:t>
            </a:r>
          </a:p>
          <a:p>
            <a:r>
              <a:t>inside dozens of false positives. What surfaced them was the LLM's reasoning — noticing that a</a:t>
            </a:r>
          </a:p>
          <a:p>
            <a:r>
              <a:t>sibling module already had the safe path, that an attacker-controlled count had no upper bound — and</a:t>
            </a:r>
          </a:p>
          <a:p>
            <a:r>
              <a:t>the multi-turn context expansion (flac took three turns). The confidence scores are calibrated:</a:t>
            </a:r>
          </a:p>
          <a:p>
            <a:r>
              <a:t>Medium where the snippet was truncated, High where the data flow was fully visible. And every</a:t>
            </a:r>
          </a:p>
          <a:p>
            <a:r>
              <a:t>verdict carried a data-flow trace the researcher turned into a PoC.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Candor is a feature for this audience. Call out the real failure modes: classes that can't be</a:t>
            </a:r>
          </a:p>
          <a:p>
            <a:r>
              <a:t>judged from a snippet (weak-hash recall drops), context-heavy classes like XXE, the Needs-More-Data</a:t>
            </a:r>
          </a:p>
          <a:p>
            <a:r>
              <a:t>outcome when context is missing, batch latency rather than real-time, and prompt-injection risk</a:t>
            </a:r>
          </a:p>
          <a:p>
            <a:r>
              <a:t>because the analyzed source is untrusted input. Naming these makes the strong numbers believable.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the audience to attack it. Yes, an attacker could try to poison triage via crafted code or</a:t>
            </a:r>
          </a:p>
          <a:p>
            <a:r>
              <a:t>comments. The defenses are structural: verdicts must cite real file:line locations, unsupported</a:t>
            </a:r>
          </a:p>
          <a:p>
            <a:r>
              <a:t>reasoning is downgraded, and suspicious high-confidence false positives get a second-opinion</a:t>
            </a:r>
          </a:p>
          <a:p>
            <a:r>
              <a:t>re-audit. But the honest framing is: triage assistance, not an oracle — this is the research</a:t>
            </a:r>
          </a:p>
          <a:p>
            <a:r>
              <a:t>frontier, come break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Because SARIF is the only contract, you bring your own rules, engine, or language. The repo ships</a:t>
            </a:r>
          </a:p>
          <a:p>
            <a:r>
              <a:t>59 custom CodeQL queries and 89 custom Semgrep rules; a new rule just tags a CWE and routes through</a:t>
            </a:r>
          </a:p>
          <a:p>
            <a:r>
              <a:t>the same verification core, and an audit script fails CI when a rule isn't wired to a guided</a:t>
            </a:r>
          </a:p>
          <a:p>
            <a:r>
              <a:t>question. No core code changes required.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takeaways and restate the thesis: structure beats size; FP-reduction is the metric teams</a:t>
            </a:r>
          </a:p>
          <a:p>
            <a:r>
              <a:t>feel; it's open source with a full benchmark harness so every number on the evidence slides is</a:t>
            </a:r>
          </a:p>
          <a:p>
            <a:r>
              <a:t>reproducible; and it holds OUTSIDE the lab — five real, vendor-engaged bugs surfaced on a $0 model.</a:t>
            </a:r>
          </a:p>
          <a:p>
            <a:r>
              <a:t>Two repos on screen: the tool, and the public real-bug confirmations + PoCs. Invite contributions,</a:t>
            </a:r>
          </a:p>
          <a:p>
            <a:r>
              <a:t>then take questions — people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slides for Q&amp;A only — don't present linearly. Pull these up on demand: per-CWE tables, the</a:t>
            </a:r>
          </a:p>
          <a:p>
            <a:r>
              <a:t>token/cost math, the context-extraction architecture, the exact reproduction commands, the</a:t>
            </a:r>
          </a:p>
          <a:p>
            <a:r>
              <a:t>confidence-calibration data, and the public repo with the full real-bug confirmation write-ups and</a:t>
            </a:r>
          </a:p>
          <a:p>
            <a:r>
              <a:t>PoCs.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6B35"/>
                </a:solidFill>
                <a:latin typeface="Calibri"/>
              </a:rPr>
              <a:t>DEF CON  ·  </a:t>
            </a:r>
            <a:r>
              <a:rPr sz="1600" b="0">
                <a:solidFill>
                  <a:srgbClr val="8B949E"/>
                </a:solidFill>
                <a:latin typeface="Calibri"/>
              </a:rPr>
              <a:t>Main Track / Demo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6070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E6EDF3"/>
                </a:solidFill>
                <a:latin typeface="Calibri"/>
              </a:rPr>
              <a:t>Picking True Bugs from the </a:t>
            </a:r>
            <a:r>
              <a:rPr sz="4400" b="1">
                <a:solidFill>
                  <a:srgbClr val="FF6B35"/>
                </a:solidFill>
                <a:latin typeface="Calibri"/>
              </a:rPr>
              <a:t>CodeQL Haystack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0">
                <a:solidFill>
                  <a:srgbClr val="2DD4BF"/>
                </a:solidFill>
                <a:latin typeface="Calibri"/>
              </a:rPr>
              <a:t>Teaching small LLMs to triage like a senior analyst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6766560" cy="105156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315968"/>
            <a:ext cx="6400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FF6B35"/>
                </a:solidFill>
                <a:latin typeface="Calibri"/>
              </a:rPr>
              <a:t>30–80%</a:t>
            </a:r>
            <a:r>
              <a:rPr sz="2000" b="0">
                <a:solidFill>
                  <a:srgbClr val="E6EDF3"/>
                </a:solidFill>
                <a:latin typeface="Calibri"/>
              </a:rPr>
              <a:t>  of SAST findings are false positives.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8B949E"/>
                </a:solidFill>
                <a:latin typeface="Calibri"/>
              </a:rPr>
              <a:t>What if a $0 model could do the first pass — well?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E6EDF3"/>
                </a:solidFill>
                <a:latin typeface="Calibri"/>
              </a:rPr>
              <a:t>VinSOC Cyber</a:t>
            </a:r>
            <a:r>
              <a:rPr sz="1500" b="0">
                <a:solidFill>
                  <a:srgbClr val="8B949E"/>
                </a:solidFill>
                <a:latin typeface="Calibri"/>
              </a:rPr>
              <a:t>     github.com/vinsoc-cyber/VulnHunterX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2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PROBLEM   ·   1.5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FP fatigue is a security failure mode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Thousands of SAST findings  →  analyst hours  →  a handful of real bugs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When ~70% of alerts are noise, analysts stop reading the queue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…and the real bug rides in with the noise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Dual-use: defender triage tooling AND an offense recon accelerator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3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PROBLEM   ·   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Anatomy of a false positive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07040" cy="24688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10149840" cy="21396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8B949E"/>
                </a:solidFill>
                <a:latin typeface="Consolas"/>
              </a:rPr>
              <a:t># SAST flags this as path-traversal (CWE-22)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E6EDF3"/>
                </a:solidFill>
                <a:latin typeface="Consolas"/>
              </a:rPr>
              <a:t>def download(req):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E6EDF3"/>
                </a:solidFill>
                <a:latin typeface="Consolas"/>
              </a:rPr>
              <a:t>    name = req.args['file']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3FB950"/>
                </a:solidFill>
                <a:latin typeface="Consolas"/>
              </a:rPr>
              <a:t>    safe = secure_filename(name)        # &lt;-- guard upstream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E6EDF3"/>
                </a:solidFill>
                <a:latin typeface="Consolas"/>
              </a:rPr>
              <a:t>    path = os.path.join(BASE, safe)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FF6B35"/>
                </a:solidFill>
                <a:latin typeface="Consolas"/>
              </a:rPr>
              <a:t>    return open(path).read()            # &lt;-- flagged sink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E6EDF3"/>
                </a:solidFill>
                <a:latin typeface="Calibri"/>
              </a:rPr>
              <a:t>Vote: </a:t>
            </a:r>
            <a:r>
              <a:rPr sz="2200" b="1">
                <a:solidFill>
                  <a:srgbClr val="F85149"/>
                </a:solidFill>
                <a:latin typeface="Calibri"/>
              </a:rPr>
              <a:t>True Positive</a:t>
            </a:r>
            <a:r>
              <a:rPr sz="2200" b="0">
                <a:solidFill>
                  <a:srgbClr val="E6EDF3"/>
                </a:solidFill>
                <a:latin typeface="Calibri"/>
              </a:rPr>
              <a:t>  or  </a:t>
            </a:r>
            <a:r>
              <a:rPr sz="2200" b="1">
                <a:solidFill>
                  <a:srgbClr val="3FB950"/>
                </a:solidFill>
                <a:latin typeface="Calibri"/>
              </a:rPr>
              <a:t>False Positive</a:t>
            </a:r>
            <a:r>
              <a:rPr sz="2200" b="0">
                <a:solidFill>
                  <a:srgbClr val="E6EDF3"/>
                </a:solidFill>
                <a:latin typeface="Calibri"/>
              </a:rPr>
              <a:t>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4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PROBLEM   ·   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Why "just ask GPT if it's a bug" fails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Free-form prompting pattern-matches the shape, not the data flow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free(p) … *p  →  "use-after-free!"  — without checking paths overlap or a guard exists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SecLLMHolmes (IEEE S&amp;P 2024): frontier models cap ~40% on hand-crafted cases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The gap isn't model IQ — it's METHOD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5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METHOD   ·   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The pipeline — SARIF is the spine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68880"/>
            <a:ext cx="205740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1 prepare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99232" y="2468880"/>
            <a:ext cx="205740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269748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2 analyze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1224" y="2468880"/>
            <a:ext cx="205740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1224" y="269748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6B35"/>
                </a:solidFill>
                <a:latin typeface="Calibri"/>
              </a:rPr>
              <a:t>3 verify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2468880"/>
            <a:ext cx="205740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3216" y="269748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4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65208" y="2468880"/>
            <a:ext cx="2057400" cy="10972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65208" y="269748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FB950"/>
                </a:solidFill>
                <a:latin typeface="Calibri"/>
              </a:rPr>
              <a:t>5–8 fuzz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900" b="1">
                <a:solidFill>
                  <a:srgbClr val="2DD4BF"/>
                </a:solidFill>
                <a:latin typeface="Calibri"/>
              </a:rPr>
              <a:t>Stages 1–2</a:t>
            </a:r>
            <a:r>
              <a:rPr sz="1900" b="0">
                <a:solidFill>
                  <a:srgbClr val="E6EDF3"/>
                </a:solidFill>
                <a:latin typeface="Calibri"/>
              </a:rPr>
              <a:t>  ordinary SAST (CodeQL / Semgrep / OpenGrep)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900" b="1">
                <a:solidFill>
                  <a:srgbClr val="FF6B35"/>
                </a:solidFill>
                <a:latin typeface="Calibri"/>
              </a:rPr>
              <a:t>Stage 3</a:t>
            </a:r>
            <a:r>
              <a:rPr sz="1900" b="0">
                <a:solidFill>
                  <a:srgbClr val="E6EDF3"/>
                </a:solidFill>
                <a:latin typeface="Calibri"/>
              </a:rPr>
              <a:t>  the LLM verification this talk is about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900" b="1">
                <a:solidFill>
                  <a:srgbClr val="3FB950"/>
                </a:solidFill>
                <a:latin typeface="Calibri"/>
              </a:rPr>
              <a:t>Stages 5–8</a:t>
            </a:r>
            <a:r>
              <a:rPr sz="1900" b="0">
                <a:solidFill>
                  <a:srgbClr val="E6EDF3"/>
                </a:solidFill>
                <a:latin typeface="Calibri"/>
              </a:rPr>
              <a:t>  optional: PROVE the bug with a crash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6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METHOD   ·   1.5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Stages 1–4 · detection → verified triage</a:t>
            </a:r>
          </a:p>
        </p:txBody>
      </p:sp>
      <p:pic>
        <p:nvPicPr>
          <p:cNvPr id="7" name="Picture 6" descr="pipeline-2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77965"/>
            <a:ext cx="10881360" cy="14164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8978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Dotted line = pre-extracted context CSVs feeding multi-turn verification (Stage 1 → Stage 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7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METHOD   ·   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Guided questions = encoded analyst expertise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10607040" cy="27432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76272"/>
            <a:ext cx="10149840" cy="2414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2DD4BF"/>
                </a:solidFill>
                <a:latin typeface="Consolas"/>
              </a:rPr>
              <a:t>py/sql-injection: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Consolas"/>
              </a:rPr>
              <a:t>  questions: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Consolas"/>
              </a:rPr>
              <a:t>    - "Quote the EXACT sink statement and name the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Consolas"/>
              </a:rPr>
              <a:t>       variable passed to it."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Consolas"/>
              </a:rPr>
              <a:t>    - "List EVERY assignment to that variable on each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Consolas"/>
              </a:rPr>
              <a:t>       path to the sink, with line numbers."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Consolas"/>
              </a:rPr>
              <a:t>    - "Does each value derive from user input or a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Consolas"/>
              </a:rPr>
              <a:t>       constant/safe source? Cite the chain."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3776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P1</a:t>
            </a:r>
            <a:r>
              <a:rPr sz="1700" b="0">
                <a:solidFill>
                  <a:srgbClr val="E6EDF3"/>
                </a:solidFill>
                <a:latin typeface="Calibri"/>
              </a:rPr>
              <a:t> evidence-bound (cite lines)   </a:t>
            </a:r>
            <a:r>
              <a:rPr sz="1700" b="1">
                <a:solidFill>
                  <a:srgbClr val="FF6B35"/>
                </a:solidFill>
                <a:latin typeface="Calibri"/>
              </a:rPr>
              <a:t>P2</a:t>
            </a:r>
            <a:r>
              <a:rPr sz="1700" b="0">
                <a:solidFill>
                  <a:srgbClr val="E6EDF3"/>
                </a:solidFill>
                <a:latin typeface="Calibri"/>
              </a:rPr>
              <a:t> atomic (one fact)   </a:t>
            </a:r>
            <a:r>
              <a:rPr sz="1700" b="1">
                <a:solidFill>
                  <a:srgbClr val="FF6B35"/>
                </a:solidFill>
                <a:latin typeface="Calibri"/>
              </a:rPr>
              <a:t>P3</a:t>
            </a:r>
            <a:r>
              <a:rPr sz="1700" b="0">
                <a:solidFill>
                  <a:srgbClr val="E6EDF3"/>
                </a:solidFill>
                <a:latin typeface="Calibri"/>
              </a:rPr>
              <a:t> refusal allowed → fetch more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8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METHOD   ·   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Second example — C/C++ use-after-free (CWE-416)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10607040" cy="3246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39112"/>
            <a:ext cx="10149840" cy="2916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2DD4BF"/>
                </a:solidFill>
                <a:latin typeface="Consolas"/>
              </a:rPr>
              <a:t>cpp/use-after-free:        # lifetime, not taint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E6EDF3"/>
                </a:solidFill>
                <a:latin typeface="Consolas"/>
              </a:rPr>
              <a:t>  questions: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E6EDF3"/>
                </a:solidFill>
                <a:latin typeface="Consolas"/>
              </a:rPr>
              <a:t>    - "ANCHOR: quote the flagged line; classify it —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E6EDF3"/>
                </a:solidFill>
                <a:latin typeface="Consolas"/>
              </a:rPr>
              <a:t>       pointer USE  /  free·delete  /  declaration?"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E6EDF3"/>
                </a:solidFill>
                <a:latin typeface="Consolas"/>
              </a:rPr>
              <a:t>    - "List EVERY free()/delete reaching the use, with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E6EDF3"/>
                </a:solidFill>
                <a:latin typeface="Consolas"/>
              </a:rPr>
              <a:t>       line numbers   → request  free_sites:&lt;ptr&gt;"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E6EDF3"/>
                </a:solidFill>
                <a:latin typeface="Consolas"/>
              </a:rPr>
              <a:t>    - "Shortest control-flow path free → use: reachable?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E6EDF3"/>
                </a:solidFill>
                <a:latin typeface="Consolas"/>
              </a:rPr>
              <a:t>       NULL-set or re-allocated in between?"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2DD4BF"/>
                </a:solidFill>
                <a:latin typeface="Consolas"/>
              </a:rPr>
              <a:t>  additional_context: [ free_sites, destructor, field_writes ]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Consolas"/>
              </a:rPr>
              <a:t>  min_iterations: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492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E6EDF3"/>
                </a:solidFill>
                <a:latin typeface="Calibri"/>
              </a:rPr>
              <a:t>Injection asks  </a:t>
            </a:r>
            <a:r>
              <a:rPr sz="1700" b="1">
                <a:solidFill>
                  <a:srgbClr val="FF6B35"/>
                </a:solidFill>
                <a:latin typeface="Calibri"/>
              </a:rPr>
              <a:t>"where is the taint?"</a:t>
            </a:r>
            <a:r>
              <a:rPr sz="1700" b="0">
                <a:solidFill>
                  <a:srgbClr val="E6EDF3"/>
                </a:solidFill>
                <a:latin typeface="Calibri"/>
              </a:rPr>
              <a:t>      use-after-free asks  </a:t>
            </a:r>
            <a:r>
              <a:rPr sz="1700" b="1">
                <a:solidFill>
                  <a:srgbClr val="FF6B35"/>
                </a:solidFill>
                <a:latin typeface="Calibri"/>
              </a:rPr>
              <a:t>"who owns the lifetime?"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9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METHOD   ·   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Answer-before-verdict — the core trick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07040" cy="2926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67712"/>
            <a:ext cx="10149840" cy="2596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50" b="0">
                <a:solidFill>
                  <a:srgbClr val="E6EDF3"/>
                </a:solidFill>
                <a:latin typeface="Consolas"/>
              </a:rPr>
              <a:t>{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50" b="0">
                <a:solidFill>
                  <a:srgbClr val="2DD4BF"/>
                </a:solidFill>
                <a:latin typeface="Consolas"/>
              </a:rPr>
              <a:t>  "answers":   [ "sink at L88; var=path", ... ],   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50" b="0">
                <a:solidFill>
                  <a:srgbClr val="2DD4BF"/>
                </a:solidFill>
                <a:latin typeface="Consolas"/>
              </a:rPr>
              <a:t>  "data_flow": "req.args (L10) → join (L15) → open (L88)",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50" b="0">
                <a:solidFill>
                  <a:srgbClr val="8B949E"/>
                </a:solidFill>
                <a:latin typeface="Consolas"/>
              </a:rPr>
              <a:t>  // ^ evidence is generated FIRST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50" b="0">
                <a:solidFill>
                  <a:srgbClr val="FF6B35"/>
                </a:solidFill>
                <a:latin typeface="Consolas"/>
              </a:rPr>
              <a:t>  "verdict":    "False Positive",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50" b="0">
                <a:solidFill>
                  <a:srgbClr val="FF6B35"/>
                </a:solidFill>
                <a:latin typeface="Consolas"/>
              </a:rPr>
              <a:t>  "confidence": "High",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50" b="0">
                <a:solidFill>
                  <a:srgbClr val="E6EDF3"/>
                </a:solidFill>
                <a:latin typeface="Consolas"/>
              </a:rPr>
              <a:t>  "reasoning":  "secure_filename neutralizes traversal (L14)"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50" b="0">
                <a:solidFill>
                  <a:srgbClr val="E6EDF3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578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8B949E"/>
                </a:solidFill>
                <a:latin typeface="Calibri"/>
              </a:rPr>
              <a:t>Verdict token is conditioned on cited evidence. No citation → confidence downgraded.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10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METHOD   ·   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Context broker + multi-turn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070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Need more? Model requests from a FIXED vocabulary: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caller:  ·  struct:  ·  global:  ·  free_sites:  ·  callees:  ·  destructor: …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Resolved from pre-extracted CSVs (tree-sitter fallback) — never re-runs SAST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So multi-turn costs tokens, not another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00600"/>
            <a:ext cx="5120640" cy="128016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98348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FF6B35"/>
                </a:solidFill>
                <a:latin typeface="Calibri"/>
              </a:rPr>
              <a:t>2.74</a:t>
            </a:r>
            <a:r>
              <a:rPr sz="1700" b="0">
                <a:solidFill>
                  <a:srgbClr val="E6EDF3"/>
                </a:solidFill>
                <a:latin typeface="Calibri"/>
              </a:rPr>
              <a:t>  mean turns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4800600"/>
            <a:ext cx="5120640" cy="128016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983480"/>
            <a:ext cx="4754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FF6B35"/>
                </a:solidFill>
                <a:latin typeface="Calibri"/>
              </a:rPr>
              <a:t>0.8%</a:t>
            </a:r>
            <a:r>
              <a:rPr sz="1700" b="0">
                <a:solidFill>
                  <a:srgbClr val="E6EDF3"/>
                </a:solidFill>
                <a:latin typeface="Calibri"/>
              </a:rPr>
              <a:t>  forced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11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METHOD   ·   1.5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Where context comes from · context_extractor.py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233172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331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CodeQL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2384" y="2194560"/>
            <a:ext cx="5669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057400"/>
            <a:ext cx="233172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57400"/>
            <a:ext cx="2331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6B35"/>
                </a:solidFill>
                <a:latin typeface="Calibri"/>
              </a:rPr>
              <a:t>codeql query run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6B35"/>
                </a:solidFill>
                <a:latin typeface="Calibri"/>
              </a:rPr>
              <a:t>→ bqrs decode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1303" y="2194560"/>
            <a:ext cx="5669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79" y="2057400"/>
            <a:ext cx="233172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057400"/>
            <a:ext cx="2331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per-type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*.csv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0224" y="2194560"/>
            <a:ext cx="5669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0">
                <a:solidFill>
                  <a:srgbClr val="8B949E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2057400"/>
            <a:ext cx="2331720" cy="96012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057400"/>
            <a:ext cx="2331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3FB950"/>
                </a:solidFill>
                <a:latin typeface="Calibri"/>
              </a:rPr>
              <a:t>multi-turn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3FB950"/>
                </a:solidFill>
                <a:latin typeface="Calibri"/>
              </a:rPr>
              <a:t>broker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204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E6EDF3"/>
                </a:solidFill>
                <a:latin typeface="Calibri"/>
              </a:rPr>
              <a:t>Context types extracted per language  </a:t>
            </a:r>
            <a:r>
              <a:rPr sz="1500" b="0">
                <a:solidFill>
                  <a:srgbClr val="8B949E"/>
                </a:solidFill>
                <a:latin typeface="Consolas"/>
              </a:rPr>
              <a:t>(QUERIES_BY_LANG)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069080"/>
            <a:ext cx="1069848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069080"/>
            <a:ext cx="1033272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6B35"/>
                </a:solidFill>
                <a:latin typeface="Calibri"/>
              </a:rPr>
              <a:t>C / C++  (8)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Calibri"/>
              </a:rPr>
              <a:t>functions · callers · structs · globals · macros · </a:t>
            </a:r>
            <a:r>
              <a:rPr sz="1500" b="1">
                <a:solidFill>
                  <a:srgbClr val="2DD4BF"/>
                </a:solidFill>
                <a:latin typeface="Calibri"/>
              </a:rPr>
              <a:t>free_sites · destructors · field_writes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16636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600" b="1">
                <a:solidFill>
                  <a:srgbClr val="FF6B35"/>
                </a:solidFill>
                <a:latin typeface="Calibri"/>
              </a:rPr>
              <a:t>Python / JS / Java / Go / PHP  (3)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E6EDF3"/>
                </a:solidFill>
                <a:latin typeface="Calibri"/>
              </a:rPr>
              <a:t>functions · callers · classes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0350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The use-after-free questions request free_sites / destructors / field_writes — exactly these CSVs.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12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EVIDENCE   ·   2.5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Precision roughly doubles; FP load collapses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2286000"/>
          <a:ext cx="10607038" cy="21396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280527"/>
                <a:gridCol w="2515071"/>
                <a:gridCol w="2843124"/>
                <a:gridCol w="1968316"/>
              </a:tblGrid>
              <a:tr h="427939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01216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01216"/>
                          </a:solidFill>
                          <a:latin typeface="Calibri"/>
                        </a:rPr>
                        <a:t>raw-SAST  P / F1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01216"/>
                          </a:solidFill>
                          <a:latin typeface="Calibri"/>
                        </a:rPr>
                        <a:t>VulnHunterX  P / F1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01216"/>
                          </a:solidFill>
                          <a:latin typeface="Calibri"/>
                        </a:rPr>
                        <a:t>FP-reduction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</a:tr>
              <a:tr h="427939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Calibri"/>
                        </a:rPr>
                        <a:t>OWASP-Python (300)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E6EDF3"/>
                          </a:solidFill>
                          <a:latin typeface="Calibri"/>
                        </a:rPr>
                        <a:t>37.7 / 54.7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D4BF"/>
                          </a:solidFill>
                          <a:latin typeface="Calibri"/>
                        </a:rPr>
                        <a:t>87.3 / 92.4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D4BF"/>
                          </a:solidFill>
                          <a:latin typeface="Calibri"/>
                        </a:rPr>
                        <a:t>91.4%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</a:tr>
              <a:tr h="427939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Calibri"/>
                        </a:rPr>
                        <a:t>OWASP-Java (full)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E6EDF3"/>
                          </a:solidFill>
                          <a:latin typeface="Calibri"/>
                        </a:rPr>
                        <a:t>90.0 / 94.7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D4BF"/>
                          </a:solidFill>
                          <a:latin typeface="Calibri"/>
                        </a:rPr>
                        <a:t>97.7 / 96.6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D4BF"/>
                          </a:solidFill>
                          <a:latin typeface="Calibri"/>
                        </a:rPr>
                        <a:t>80.0%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</a:tr>
              <a:tr h="427939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Calibri"/>
                        </a:rPr>
                        <a:t>Juliet C/C++ (full)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E6EDF3"/>
                          </a:solidFill>
                          <a:latin typeface="Calibri"/>
                        </a:rPr>
                        <a:t>50.0 / 66.7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D4BF"/>
                          </a:solidFill>
                          <a:latin typeface="Calibri"/>
                        </a:rPr>
                        <a:t>83.8 / 88.5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D4BF"/>
                          </a:solidFill>
                          <a:latin typeface="Calibri"/>
                        </a:rPr>
                        <a:t>82.2%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</a:tr>
              <a:tr h="4279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Calibri"/>
                        </a:rPr>
                        <a:t>SecLLMHolmes (228)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E6EDF3"/>
                          </a:solidFill>
                          <a:latin typeface="Calibri"/>
                        </a:rPr>
                        <a:t>52.3 / 68.7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D4BF"/>
                          </a:solidFill>
                          <a:latin typeface="Calibri"/>
                        </a:rPr>
                        <a:t>82.1 / 84.7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D4BF"/>
                          </a:solidFill>
                          <a:latin typeface="Calibri"/>
                        </a:rPr>
                        <a:t>79.4%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2120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8B949E"/>
                </a:solidFill>
                <a:latin typeface="Calibri"/>
              </a:rPr>
              <a:t>Every cell is quoted from a published run file (vulnhunterx, best model per row).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13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EVIDENCE   ·   2.5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Small beats big · cheap beats expensive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2377440"/>
          <a:ext cx="10058399" cy="21396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912241"/>
                <a:gridCol w="2573079"/>
                <a:gridCol w="2573079"/>
              </a:tblGrid>
              <a:tr h="427939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01216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01216"/>
                          </a:solidFill>
                          <a:latin typeface="Calibri"/>
                        </a:rPr>
                        <a:t>OWASP-Python F1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01216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</a:tr>
              <a:tr h="427939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Calibri"/>
                        </a:rPr>
                        <a:t>DeepSeek-v4-flash  ($0 pass-through)</a:t>
                      </a:r>
                    </a:p>
                  </a:txBody>
                  <a:tcPr marT="25400" marB="25400">
                    <a:solidFill>
                      <a:srgbClr val="122A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D4BF"/>
                          </a:solidFill>
                          <a:latin typeface="Calibri"/>
                        </a:rPr>
                        <a:t>92.4%</a:t>
                      </a:r>
                    </a:p>
                  </a:txBody>
                  <a:tcPr marT="25400" marB="25400">
                    <a:solidFill>
                      <a:srgbClr val="122A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E6EDF3"/>
                          </a:solidFill>
                          <a:latin typeface="Calibri"/>
                        </a:rPr>
                        <a:t>~$0.40 / 300</a:t>
                      </a:r>
                    </a:p>
                  </a:txBody>
                  <a:tcPr marT="25400" marB="25400">
                    <a:solidFill>
                      <a:srgbClr val="122A20"/>
                    </a:solidFill>
                  </a:tcPr>
                </a:tc>
              </a:tr>
              <a:tr h="427939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Calibri"/>
                        </a:rPr>
                        <a:t>gpt-4.1-mini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D4BF"/>
                          </a:solidFill>
                          <a:latin typeface="Calibri"/>
                        </a:rPr>
                        <a:t>89.4%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E6EDF3"/>
                          </a:solidFill>
                          <a:latin typeface="Calibri"/>
                        </a:rPr>
                        <a:t>~$1.10 / 300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</a:tr>
              <a:tr h="427939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Calibri"/>
                        </a:rPr>
                        <a:t>Qwen3-Coder  (local)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D4BF"/>
                          </a:solidFill>
                          <a:latin typeface="Calibri"/>
                        </a:rPr>
                        <a:t>78.7%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E6EDF3"/>
                          </a:solidFill>
                          <a:latin typeface="Calibri"/>
                        </a:rPr>
                        <a:t>$0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</a:tr>
              <a:tr h="42794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E6EDF3"/>
                          </a:solidFill>
                          <a:latin typeface="Calibri"/>
                        </a:rPr>
                        <a:t>GPT-5  (SecLLMHolmes)</a:t>
                      </a:r>
                    </a:p>
                  </a:txBody>
                  <a:tcPr marT="25400" marB="25400">
                    <a:solidFill>
                      <a:srgbClr val="2A14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DD4BF"/>
                          </a:solidFill>
                          <a:latin typeface="Calibri"/>
                        </a:rPr>
                        <a:t>82.0%</a:t>
                      </a:r>
                    </a:p>
                  </a:txBody>
                  <a:tcPr marT="25400" marB="25400">
                    <a:solidFill>
                      <a:srgbClr val="2A141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E6EDF3"/>
                          </a:solidFill>
                          <a:latin typeface="Calibri"/>
                        </a:rPr>
                        <a:t>~$16.75 / 228</a:t>
                      </a:r>
                    </a:p>
                  </a:txBody>
                  <a:tcPr marT="25400" marB="25400">
                    <a:solidFill>
                      <a:srgbClr val="2A141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5840" y="52120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E6EDF3"/>
                </a:solidFill>
                <a:latin typeface="Calibri"/>
              </a:rPr>
              <a:t>The $0 model wins. GPT-5 costs ~$17 / 228 findings and doesn't lead.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14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THE EVIDENCE   ·   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Ablation honesty — where it doesn't dominate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Biggest jump: raw-SAST → ANY multi-turn LLM  (~20 F1 points)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Zero-shot is already surprisingly strong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Guided questions add the hard-case tail  (~3–5 pts recall)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On synthetic Juliet, generic questions even edge out specific ones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Saying where you DON'T win is what earns the room's trust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15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LIVE DEMO   ·   1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Live demo — the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070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Two targets side-by-side (mirrors examples/pipeline_python.py):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a benign real-world library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a deliberately vulnerable app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Success criteria, stated out loud: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the real bug SURVIVES as a TP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the scary-looking benign finding (slide 3) gets KILLED as an FP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both with cited reasoning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16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LIVE DEMO   ·   6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Live demo — run  ·  vuln-hunter-x verify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6070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1.  Slide-3 false positive — KILLED, with the cited guard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2.  A real bug — SURVIVES as TP, with a data-flow trace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3.  A live multi-turn context request (caller: / struct:) → revised verdict</a:t>
            </a:r>
          </a:p>
          <a:p>
            <a:pPr algn="l">
              <a:lnSpc>
                <a:spcPct val="108000"/>
              </a:lnSpc>
              <a:spcAft>
                <a:spcPts val="18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4.  Confidence downgrade catching a thin, pattern-matched verdict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85149"/>
                </a:solidFill>
                <a:latin typeface="Calibri"/>
              </a:rPr>
              <a:t>BACKUP (rehearse): </a:t>
            </a:r>
            <a:r>
              <a:rPr sz="1700" b="0">
                <a:solidFill>
                  <a:srgbClr val="8B949E"/>
                </a:solidFill>
                <a:latin typeface="Calibri"/>
              </a:rPr>
              <a:t>pre-recorded screencast + cached verdict JSON — floor network WILL flake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17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LIVE DEMO   ·   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Payoff: from opinion to crashing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For a C/C++ true positive, stages 5–8 run automatically: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generate libFuzzer harness  →  ASan crash  →  triaged crashing input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"The LLM says use-after-free"  →  "here is the input that crashes it"</a:t>
            </a:r>
          </a:p>
          <a:p>
            <a:pPr algn="l">
              <a:lnSpc>
                <a:spcPct val="108000"/>
              </a:lnSpc>
              <a:spcAft>
                <a:spcPts val="16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That's the difference between a triage opinion and a filed, reproducible 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377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8B949E"/>
                </a:solidFill>
                <a:latin typeface="Calibri"/>
              </a:rPr>
              <a:t>(Pre-recorded — fuzzing live on stage is slow.)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github.com/tuonglnc/VHX-real-bug-confirmed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18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REAL-WORLD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38404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manually confirmed · PoC + vendor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>
                <a:solidFill>
                  <a:srgbClr val="E6EDF3"/>
                </a:solidFill>
                <a:latin typeface="Calibri"/>
              </a:rPr>
              <a:t>5 Confirmed Real Bugs </a:t>
            </a:r>
            <a:r>
              <a:rPr sz="4400" b="1">
                <a:solidFill>
                  <a:srgbClr val="FF6B35"/>
                </a:solidFill>
                <a:latin typeface="Calibri"/>
              </a:rPr>
              <a:t>in the Wild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300" b="0">
                <a:solidFill>
                  <a:srgbClr val="2DD4BF"/>
                </a:solidFill>
                <a:latin typeface="Calibri"/>
              </a:rPr>
              <a:t>flac · libevent · vorbis · gradio · safety — all vendor-engaged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60520"/>
            <a:ext cx="8412480" cy="105156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279392"/>
            <a:ext cx="8046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600" b="1">
                <a:solidFill>
                  <a:srgbClr val="FF6B35"/>
                </a:solidFill>
                <a:latin typeface="Calibri"/>
              </a:rPr>
              <a:t>175</a:t>
            </a:r>
            <a:r>
              <a:rPr sz="1800" b="0">
                <a:solidFill>
                  <a:srgbClr val="E6EDF3"/>
                </a:solidFill>
                <a:latin typeface="Calibri"/>
              </a:rPr>
              <a:t> findings triaged  →  </a:t>
            </a:r>
            <a:r>
              <a:rPr sz="2600" b="1">
                <a:solidFill>
                  <a:srgbClr val="3FB950"/>
                </a:solidFill>
                <a:latin typeface="Calibri"/>
              </a:rPr>
              <a:t>5</a:t>
            </a:r>
            <a:r>
              <a:rPr sz="1800" b="0">
                <a:solidFill>
                  <a:srgbClr val="E6EDF3"/>
                </a:solidFill>
                <a:latin typeface="Calibri"/>
              </a:rPr>
              <a:t> confirmed real bugs</a:t>
            </a:r>
            <a:r>
              <a:rPr sz="1600" b="0">
                <a:solidFill>
                  <a:srgbClr val="8B949E"/>
                </a:solidFill>
                <a:latin typeface="Calibri"/>
              </a:rPr>
              <a:t>   ·   model GLM-5.1   ·   </a:t>
            </a:r>
            <a:r>
              <a:rPr sz="1800" b="1">
                <a:solidFill>
                  <a:srgbClr val="3FB950"/>
                </a:solidFill>
                <a:latin typeface="Calibri"/>
              </a:rPr>
              <a:t>$0.00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github.com/tuonglnc/VHX-real-bug-confirmed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19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38404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manually confirmed · PoC + vendor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Five confirmed real-world vulnerabilities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011680"/>
          <a:ext cx="11201399" cy="2560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00175"/>
                <a:gridCol w="3267075"/>
                <a:gridCol w="1306829"/>
                <a:gridCol w="2426970"/>
                <a:gridCol w="2800350"/>
              </a:tblGrid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01216"/>
                          </a:solidFill>
                          <a:latin typeface="Calibri"/>
                        </a:rPr>
                        <a:t>Library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01216"/>
                          </a:solidFill>
                          <a:latin typeface="Calibri"/>
                        </a:rPr>
                        <a:t>Vulnerability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01216"/>
                          </a:solidFill>
                          <a:latin typeface="Calibri"/>
                        </a:rPr>
                        <a:t>CWE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01216"/>
                          </a:solidFill>
                          <a:latin typeface="Calibri"/>
                        </a:rPr>
                        <a:t>Location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01216"/>
                          </a:solidFill>
                          <a:latin typeface="Calibri"/>
                        </a:rPr>
                        <a:t>Vendor status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6EDF3"/>
                          </a:solidFill>
                          <a:latin typeface="Calibri"/>
                        </a:rPr>
                        <a:t>flac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TOCTOU race condition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CWE-367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file.c:116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xiph/flac #902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6EDF3"/>
                          </a:solidFill>
                          <a:latin typeface="Calibri"/>
                        </a:rPr>
                        <a:t>libevent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Compiler-elided memset()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CWE-14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sha1.c:202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advance-security triage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6EDF3"/>
                          </a:solidFill>
                          <a:latin typeface="Calibri"/>
                        </a:rPr>
                        <a:t>vorbis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Stack overflow — alloca() in loop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CWE-770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vorbisfile.c:2290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xiph/vorbis MR !43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6EDF3"/>
                          </a:solidFill>
                          <a:latin typeface="Calibri"/>
                        </a:rPr>
                        <a:t>gradio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Full SSRF via user URL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CWE-918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image_utils.py:253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GitHub Security triage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6EDF3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Credential leak — URL sanitization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CWE-295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uv/command.py:72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email triage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Memory-safety, crypto-hygiene, DoS, SSRF, and credential-leak — five distinct bug classes across C and Python, each with a manual PoC.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github.com/tuonglnc/VHX-real-bug-confirmed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20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38404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the 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175 findings in · 5 real bugs out · $0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965960"/>
          <a:ext cx="11201398" cy="29809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2057399"/>
                <a:gridCol w="2057399"/>
                <a:gridCol w="2514600"/>
                <a:gridCol w="2286000"/>
              </a:tblGrid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01216"/>
                          </a:solidFill>
                          <a:latin typeface="Calibri"/>
                        </a:rPr>
                        <a:t>Library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01216"/>
                          </a:solidFill>
                          <a:latin typeface="Calibri"/>
                        </a:rPr>
                        <a:t>Findings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01216"/>
                          </a:solidFill>
                          <a:latin typeface="Calibri"/>
                        </a:rPr>
                        <a:t>True Pos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01216"/>
                          </a:solidFill>
                          <a:latin typeface="Calibri"/>
                        </a:rPr>
                        <a:t>False Pos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01216"/>
                          </a:solidFill>
                          <a:latin typeface="Calibri"/>
                        </a:rPr>
                        <a:t>Scan time</a:t>
                      </a:r>
                    </a:p>
                  </a:txBody>
                  <a:tcPr marT="38100" marB="38100">
                    <a:solidFill>
                      <a:srgbClr val="FF6B35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6EDF3"/>
                          </a:solidFill>
                          <a:latin typeface="Calibri"/>
                        </a:rPr>
                        <a:t>flac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82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54.6 min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6EDF3"/>
                          </a:solidFill>
                          <a:latin typeface="Calibri"/>
                        </a:rPr>
                        <a:t>gradio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12  (+12 err)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27.0 min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6EDF3"/>
                          </a:solidFill>
                          <a:latin typeface="Calibri"/>
                        </a:rPr>
                        <a:t>vorbis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17.1 min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6EDF3"/>
                          </a:solidFill>
                          <a:latin typeface="Calibri"/>
                        </a:rPr>
                        <a:t>libevent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5.3 min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</a:tr>
              <a:tr h="42584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6EDF3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7.2 min</a:t>
                      </a:r>
                    </a:p>
                  </a:txBody>
                  <a:tcPr marT="25400" marB="25400">
                    <a:solidFill>
                      <a:srgbClr val="161B22"/>
                    </a:solidFill>
                  </a:tcPr>
                </a:tc>
              </a:tr>
              <a:tr h="42585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E6EDF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175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DD4BF"/>
                          </a:solidFill>
                          <a:latin typeface="Calibri"/>
                        </a:rPr>
                        <a:t>63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E6EDF3"/>
                          </a:solidFill>
                          <a:latin typeface="Calibri"/>
                        </a:rPr>
                        <a:t>~1 h 51 m</a:t>
                      </a:r>
                    </a:p>
                  </a:txBody>
                  <a:tcPr marT="25400" marB="25400">
                    <a:solidFill>
                      <a:srgbClr val="0F141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5321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E6EDF3"/>
                </a:solidFill>
                <a:latin typeface="Calibri"/>
              </a:rPr>
              <a:t>flac: the real TOCTOU bug was 1 of 94 findings — the LLM filtered 82 false positives to surface it.   </a:t>
            </a:r>
            <a:r>
              <a:rPr sz="1500" b="1">
                <a:solidFill>
                  <a:srgbClr val="3FB950"/>
                </a:solidFill>
                <a:latin typeface="Calibri"/>
              </a:rPr>
              <a:t>Model GLM-5.1 · ~2.7K–9.5K tokens/finding · $0.00.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github.com/tuonglnc/VHX-real-bug-confirmed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21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DEEP DIVE ·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38404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TP · conf 0.72 · 3 turns · xiph/flac #902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flac — TOCTOU race condition (CWE-367)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10607040" cy="1783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76272"/>
            <a:ext cx="10149840" cy="1453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8B949E"/>
                </a:solidFill>
                <a:latin typeface="Consolas"/>
              </a:rPr>
              <a:t>// grabbag__file_change_stats(filename, ...)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E6EDF3"/>
                </a:solidFill>
                <a:latin typeface="Consolas"/>
              </a:rPr>
              <a:t>stat(filename, &amp;st);     // line 100  — CHECK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F85149"/>
                </a:solidFill>
                <a:latin typeface="Consolas"/>
              </a:rPr>
              <a:t>...                       // attacker swaps file → symlink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>
                <a:solidFill>
                  <a:srgbClr val="FF6B35"/>
                </a:solidFill>
                <a:latin typeface="Consolas"/>
              </a:rPr>
              <a:t>flac_chmod(filename, mode);  // line 116 — USE (no fd held)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114800"/>
            <a:ext cx="10698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85149"/>
                </a:solidFill>
                <a:latin typeface="Calibri"/>
              </a:rPr>
              <a:t>Impact  </a:t>
            </a:r>
            <a:r>
              <a:rPr sz="1500" b="0">
                <a:solidFill>
                  <a:srgbClr val="E6EDF3"/>
                </a:solidFill>
                <a:latin typeface="Calibri"/>
              </a:rPr>
              <a:t>Local attacker controlling the parent dir wins the race → chmod arbitrary files as the elevated user (e.g. /etc/shadow). Reachable from 2 production paths. PoC won on attempt 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Calibri"/>
              </a:rPr>
              <a:t>LLM verdict  </a:t>
            </a:r>
            <a:r>
              <a:rPr sz="1300" b="0">
                <a:solidFill>
                  <a:srgbClr val="8B949E"/>
                </a:solidFill>
                <a:latin typeface="Calibri"/>
              </a:rPr>
              <a:t>True Positive · confidence 0.72 (Medium) · 3 multi-turn iterations — the engine pulled extra context before committing.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github.com/tuonglnc/VHX-real-bug-confirmed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22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DEEP DIVE ·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38404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TP · conf 0.85 · 1 turn · xiph/vorbis MR !43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vorbis — stack overflow via alloca() in loop (CWE-770)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10607040" cy="1783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76272"/>
            <a:ext cx="10149840" cy="1453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8B949E"/>
                </a:solidFill>
                <a:latin typeface="Consolas"/>
              </a:rPr>
              <a:t>// ov_crosslap() — lib/vorbisfile.c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Consolas"/>
              </a:rPr>
              <a:t>for (i = 0; i &lt; vi1-&gt;channels; i++)        // channels from file header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FF6B35"/>
                </a:solidFill>
                <a:latin typeface="Consolas"/>
              </a:rPr>
              <a:t>    lappcm[i] = alloca(sizeof(**lappcm) * n1);  // line 2290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F85149"/>
                </a:solidFill>
                <a:latin typeface="Consolas"/>
              </a:rPr>
              <a:t>// channels only checked &gt;= 1 (no upper bound); blocksize &lt;= 8192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114800"/>
            <a:ext cx="10698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85149"/>
                </a:solidFill>
                <a:latin typeface="Calibri"/>
              </a:rPr>
              <a:t>Impact  </a:t>
            </a:r>
            <a:r>
              <a:rPr sz="1500" b="0">
                <a:solidFill>
                  <a:srgbClr val="E6EDF3"/>
                </a:solidFill>
                <a:latin typeface="Calibri"/>
              </a:rPr>
              <a:t>channels=255 × blocksize=8192 → ~4.17 MB stack on a crafted .ogg → overflows a 1 MB worker thread → DoS. Media players / game engines decode audio on small-stack threads.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Calibri"/>
              </a:rPr>
              <a:t>LLM verdict  </a:t>
            </a:r>
            <a:r>
              <a:rPr sz="1300" b="0">
                <a:solidFill>
                  <a:srgbClr val="8B949E"/>
                </a:solidFill>
                <a:latin typeface="Calibri"/>
              </a:rPr>
              <a:t>True Positive · confidence 0.85 (High) · 1 iteration · ~2.7K tokens · $0.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github.com/tuonglnc/VHX-real-bug-confirmed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23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DEEP DIVE ·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38404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TP · conf 0.90 · 1 turn · advance-security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libevent — compiler-elided memset() (CWE-14)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10607040" cy="1783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76272"/>
            <a:ext cx="10149840" cy="1453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8B949E"/>
                </a:solidFill>
                <a:latin typeface="Consolas"/>
              </a:rPr>
              <a:t>// sha1.c — clearing sensitive state before return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FF6B35"/>
                </a:solidFill>
                <a:latin typeface="Consolas"/>
              </a:rPr>
              <a:t>memset(block,  0, sizeof(block));     // L202  raw SHA1 input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FF6B35"/>
                </a:solidFill>
                <a:latin typeface="Consolas"/>
              </a:rPr>
              <a:t>memset(context,0, sizeof(*context));  // L287  hash state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F85149"/>
                </a:solidFill>
                <a:latin typeface="Consolas"/>
              </a:rPr>
              <a:t>// buffers never read again → Dead Store Elimination removes all 3 at -O1+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114800"/>
            <a:ext cx="10698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85149"/>
                </a:solidFill>
                <a:latin typeface="Calibri"/>
              </a:rPr>
              <a:t>Impact  </a:t>
            </a:r>
            <a:r>
              <a:rPr sz="1500" b="0">
                <a:solidFill>
                  <a:srgbClr val="E6EDF3"/>
                </a:solidFill>
                <a:latin typeface="Calibri"/>
              </a:rPr>
              <a:t>SHA1 input blocks, hash state, and counters persist on the stack after return. A memory-read primitive (core dump, /proc/pid/mem, swap) recovers secrets. Elevated in nginx / memcached / 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Calibri"/>
              </a:rPr>
              <a:t>LLM verdict  </a:t>
            </a:r>
            <a:r>
              <a:rPr sz="1300" b="0">
                <a:solidFill>
                  <a:srgbClr val="8B949E"/>
                </a:solidFill>
                <a:latin typeface="Calibri"/>
              </a:rPr>
              <a:t>True Positive · confidence 0.90 (High) · 1 iteration. PoC: objdump shows zero memset in the -O2 binary; stack remnant recovered.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github.com/tuonglnc/VHX-real-bug-confirmed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24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DEEP DIVE ·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38404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TP · conf 0.92 · 1 turn · GitHub Security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gradio — full SSRF via user-controlled URL (CWE-918)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10607040" cy="1783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76272"/>
            <a:ext cx="10149840" cy="1453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8B949E"/>
                </a:solidFill>
                <a:latin typeface="Consolas"/>
              </a:rPr>
              <a:t># gradio/image_utils.py — extract_svg_content()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E6EDF3"/>
                </a:solidFill>
                <a:latin typeface="Consolas"/>
              </a:rPr>
              <a:t>if is_http_url_like(image_file):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FF6B35"/>
                </a:solidFill>
                <a:latin typeface="Consolas"/>
              </a:rPr>
              <a:t>    response = httpx.get(image_file)   # line 253 — no SSRF guard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>
                <a:solidFill>
                  <a:srgbClr val="F85149"/>
                </a:solidFill>
                <a:latin typeface="Consolas"/>
              </a:rPr>
              <a:t># sibling processing_utils.py uses safehttpx — this path was overlooked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114800"/>
            <a:ext cx="10698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85149"/>
                </a:solidFill>
                <a:latin typeface="Calibri"/>
              </a:rPr>
              <a:t>Impact  </a:t>
            </a:r>
            <a:r>
              <a:rPr sz="1500" b="0">
                <a:solidFill>
                  <a:srgbClr val="E6EDF3"/>
                </a:solidFill>
                <a:latin typeface="Calibri"/>
              </a:rPr>
              <a:t>A user URL ending in .svg passed to a Gallery/Image component → server fetches any address, including internal IPs and cloud-metadata endpoints (169.254.169.254). Confirmed on Gradio 6.9.0.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Calibri"/>
              </a:rPr>
              <a:t>LLM verdict  </a:t>
            </a:r>
            <a:r>
              <a:rPr sz="1300" b="0">
                <a:solidFill>
                  <a:srgbClr val="8B949E"/>
                </a:solidFill>
                <a:latin typeface="Calibri"/>
              </a:rPr>
              <a:t>True Positive · confidence 0.92 (High) · 1 iteration. The LLM noted the sibling module already uses safehttpx — this one didn't.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github.com/tuonglnc/VHX-real-bug-confirmed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25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DEEP DIVE ·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38404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TP · conf 0.70 · 1 turn · email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safety — credential leak via URL sanitization (CWE-295)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10607040" cy="178308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76272"/>
            <a:ext cx="10149840" cy="14538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8B949E"/>
                </a:solidFill>
                <a:latin typeface="Consolas"/>
              </a:rPr>
              <a:t># safety/tool/uv/command.py — before()  (L72)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FF6B35"/>
                </a:solidFill>
                <a:latin typeface="Consolas"/>
              </a:rPr>
              <a:t>if index_value.startswith("https://pkgs.safetycli.com"):  # prefix only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E6EDF3"/>
                </a:solidFill>
                <a:latin typeface="Consolas"/>
              </a:rPr>
              <a:t>    self.__index_url = index_value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>
                <a:solidFill>
                  <a:srgbClr val="F85149"/>
                </a:solidFill>
                <a:latin typeface="Consolas"/>
              </a:rPr>
              <a:t># bypass: https://pkgs.safetycli.com.attacker.com  → JWT injected into netloc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4114800"/>
            <a:ext cx="1069848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241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85149"/>
                </a:solidFill>
                <a:latin typeface="Calibri"/>
              </a:rPr>
              <a:t>Impact  </a:t>
            </a:r>
            <a:r>
              <a:rPr sz="1500" b="0">
                <a:solidFill>
                  <a:srgbClr val="E6EDF3"/>
                </a:solidFill>
                <a:latin typeface="Calibri"/>
              </a:rPr>
              <a:t>Bypassable prefix check → live JWT embedded into attacker URL → leaked via Authorization header (uv request). CI/CD argument injection harvests ~24 h tokens for the Safety Platform.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3FB950"/>
                </a:solidFill>
                <a:latin typeface="Calibri"/>
              </a:rPr>
              <a:t>LLM verdict  </a:t>
            </a:r>
            <a:r>
              <a:rPr sz="1300" b="0">
                <a:solidFill>
                  <a:srgbClr val="8B949E"/>
                </a:solidFill>
                <a:latin typeface="Calibri"/>
              </a:rPr>
              <a:t>True Positive · confidence 0.70 (Medium). Fix: validate urlsplit().hostname == exact host and block userinfo.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github.com/tuonglnc/VHX-real-bug-confirmed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26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6EDF3"/>
                </a:solidFill>
                <a:latin typeface="Calibri"/>
              </a:rPr>
              <a:t>Why a triage layer made the difference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7899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2DD4BF"/>
                </a:solidFill>
                <a:latin typeface="Calibri"/>
              </a:rPr>
              <a:t>—  </a:t>
            </a:r>
            <a:r>
              <a:rPr sz="1800" b="1">
                <a:solidFill>
                  <a:srgbClr val="E6EDF3"/>
                </a:solidFill>
                <a:latin typeface="Calibri"/>
              </a:rPr>
              <a:t>Needle in a haystack: </a:t>
            </a:r>
            <a:r>
              <a:rPr sz="1800" b="0">
                <a:solidFill>
                  <a:srgbClr val="E6EDF3"/>
                </a:solidFill>
                <a:latin typeface="Calibri"/>
              </a:rPr>
              <a:t>the flac TOCTOU was 1 real bug among 94 findings (82 FPs). The verdict + reasoning surfaced it.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2DD4BF"/>
                </a:solidFill>
                <a:latin typeface="Calibri"/>
              </a:rPr>
              <a:t>—  </a:t>
            </a:r>
            <a:r>
              <a:rPr sz="1800" b="1">
                <a:solidFill>
                  <a:srgbClr val="E6EDF3"/>
                </a:solidFill>
                <a:latin typeface="Calibri"/>
              </a:rPr>
              <a:t>Reasoning, not pattern-matching: </a:t>
            </a:r>
            <a:r>
              <a:rPr sz="1800" b="0">
                <a:solidFill>
                  <a:srgbClr val="E6EDF3"/>
                </a:solidFill>
                <a:latin typeface="Calibri"/>
              </a:rPr>
              <a:t>the LLM noted gradio's sibling module already uses safehttpx, and that vorbis channels lacks an upper bound — facts that separate real from benign.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2DD4BF"/>
                </a:solidFill>
                <a:latin typeface="Calibri"/>
              </a:rPr>
              <a:t>—  </a:t>
            </a:r>
            <a:r>
              <a:rPr sz="1800" b="1">
                <a:solidFill>
                  <a:srgbClr val="E6EDF3"/>
                </a:solidFill>
                <a:latin typeface="Calibri"/>
              </a:rPr>
              <a:t>Multi-turn earns its keep: </a:t>
            </a:r>
            <a:r>
              <a:rPr sz="1800" b="0">
                <a:solidFill>
                  <a:srgbClr val="E6EDF3"/>
                </a:solidFill>
                <a:latin typeface="Calibri"/>
              </a:rPr>
              <a:t>flac needed 3 iterations of context expansion before committing to a verdict.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2DD4BF"/>
                </a:solidFill>
                <a:latin typeface="Calibri"/>
              </a:rPr>
              <a:t>—  </a:t>
            </a:r>
            <a:r>
              <a:rPr sz="1800" b="1">
                <a:solidFill>
                  <a:srgbClr val="E6EDF3"/>
                </a:solidFill>
                <a:latin typeface="Calibri"/>
              </a:rPr>
              <a:t>Calibrated confidence: </a:t>
            </a:r>
            <a:r>
              <a:rPr sz="1800" b="0">
                <a:solidFill>
                  <a:srgbClr val="E6EDF3"/>
                </a:solidFill>
                <a:latin typeface="Calibri"/>
              </a:rPr>
              <a:t>0.70–0.92 across the set — Medium where context was truncated (flac, safety), High where the flow was fully visible (gradio, libevent).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800" b="0">
                <a:solidFill>
                  <a:srgbClr val="2DD4BF"/>
                </a:solidFill>
                <a:latin typeface="Calibri"/>
              </a:rPr>
              <a:t>—  </a:t>
            </a:r>
            <a:r>
              <a:rPr sz="1800" b="1">
                <a:solidFill>
                  <a:srgbClr val="E6EDF3"/>
                </a:solidFill>
                <a:latin typeface="Calibri"/>
              </a:rPr>
              <a:t>Evidence to act on: </a:t>
            </a:r>
            <a:r>
              <a:rPr sz="1800" b="0">
                <a:solidFill>
                  <a:srgbClr val="E6EDF3"/>
                </a:solidFill>
                <a:latin typeface="Calibri"/>
              </a:rPr>
              <a:t>each verdict shipped a data-flow trace that fed straight into a working PoC.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27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LIMITS &amp; RED-TEAM   ·   2.5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Limits &amp; failure modes (be candid)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Snippet-blind spots — e.g. weak-hash judged from a snippet → low recall on that class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Context-heavy classes like XXE are inherently hard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NMD when context is missing — it declines rather than guesses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Batch latency, not real-time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Prompt-injection: the analyzed code is untrusted input to the model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28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LIMITS &amp; RED-TEAM   ·   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Red-team the tool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6070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Can crafted code / comments talk the model out of a real verdict?  In principle, yes.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Mitigations: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evidence-binding — a verdict must cite real file:line, not prose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confidence downgrade for unsupported reasoning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700" b="0">
                <a:solidFill>
                  <a:srgbClr val="2DD4BF"/>
                </a:solidFill>
                <a:latin typeface="Calibri"/>
              </a:rPr>
              <a:t>      ·  </a:t>
            </a:r>
            <a:r>
              <a:rPr sz="1700" b="0">
                <a:solidFill>
                  <a:srgbClr val="8B949E"/>
                </a:solidFill>
                <a:latin typeface="Calibri"/>
              </a:rPr>
              <a:t>second-opinion re-audit on suspicious high-confidence FPs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Treat verdicts as triage assistance, not ground truth — especially on untrusted code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29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WRAP-UP   ·   1.5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Extensibility — bring your 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SARIF is the only contract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59 custom CodeQL queries  +  89 custom Semgrep rules ship in-repo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New rules tag a CWE → route through the same verification core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audit_rule_coverage.py --fail-on-gaps  fails CI if a rule isn't wired to a question</a:t>
            </a:r>
          </a:p>
          <a:p>
            <a:pPr algn="l">
              <a:lnSpc>
                <a:spcPct val="108000"/>
              </a:lnSpc>
              <a:spcAft>
                <a:spcPts val="15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No core changes to add a rule, engine, or language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30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WRAP-UP   ·   1.5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9848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4000"/>
              </a:lnSpc>
              <a:spcAft>
                <a:spcPts val="1600"/>
              </a:spcAft>
            </a:pPr>
            <a:r>
              <a:rPr sz="2500" b="1">
                <a:solidFill>
                  <a:srgbClr val="FF6B35"/>
                </a:solidFill>
                <a:latin typeface="Calibri"/>
              </a:rPr>
              <a:t>1   </a:t>
            </a:r>
            <a:r>
              <a:rPr sz="2200" b="1">
                <a:solidFill>
                  <a:srgbClr val="E6EDF3"/>
                </a:solidFill>
                <a:latin typeface="Calibri"/>
              </a:rPr>
              <a:t>Reasoning STRUCTURE beats model SIZE</a:t>
            </a:r>
          </a:p>
          <a:p>
            <a:pPr algn="l">
              <a:lnSpc>
                <a:spcPct val="104000"/>
              </a:lnSpc>
              <a:spcAft>
                <a:spcPts val="1600"/>
              </a:spcAft>
            </a:pPr>
            <a:r>
              <a:rPr sz="2500" b="1">
                <a:solidFill>
                  <a:srgbClr val="FF6B35"/>
                </a:solidFill>
                <a:latin typeface="Calibri"/>
              </a:rPr>
              <a:t>2   </a:t>
            </a:r>
            <a:r>
              <a:rPr sz="2200" b="1">
                <a:solidFill>
                  <a:srgbClr val="E6EDF3"/>
                </a:solidFill>
                <a:latin typeface="Calibri"/>
              </a:rPr>
              <a:t>FP-reduction is the ROI security teams actually feel</a:t>
            </a:r>
          </a:p>
          <a:p>
            <a:pPr algn="l">
              <a:lnSpc>
                <a:spcPct val="104000"/>
              </a:lnSpc>
              <a:spcAft>
                <a:spcPts val="1600"/>
              </a:spcAft>
            </a:pPr>
            <a:r>
              <a:rPr sz="2500" b="1">
                <a:solidFill>
                  <a:srgbClr val="FF6B35"/>
                </a:solidFill>
                <a:latin typeface="Calibri"/>
              </a:rPr>
              <a:t>3   </a:t>
            </a:r>
            <a:r>
              <a:rPr sz="2200" b="1">
                <a:solidFill>
                  <a:srgbClr val="E6EDF3"/>
                </a:solidFill>
                <a:latin typeface="Calibri"/>
              </a:rPr>
              <a:t>Open source (MIT) + full benchmark harness — reproduce every number</a:t>
            </a:r>
          </a:p>
          <a:p>
            <a:pPr algn="l">
              <a:lnSpc>
                <a:spcPct val="104000"/>
              </a:lnSpc>
              <a:spcAft>
                <a:spcPts val="1600"/>
              </a:spcAft>
            </a:pPr>
            <a:r>
              <a:rPr sz="2500" b="1">
                <a:solidFill>
                  <a:srgbClr val="FF6B35"/>
                </a:solidFill>
                <a:latin typeface="Calibri"/>
              </a:rPr>
              <a:t>4   </a:t>
            </a:r>
            <a:r>
              <a:rPr sz="2200" b="1">
                <a:solidFill>
                  <a:srgbClr val="E6EDF3"/>
                </a:solidFill>
                <a:latin typeface="Calibri"/>
              </a:rPr>
              <a:t>Validated in the wild — 5 confirmed bugs (flac · libevent · vorbis · gradio · safety), all vendor-engaged, on a $0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349240"/>
            <a:ext cx="8778240" cy="1005840"/>
          </a:xfrm>
          <a:prstGeom prst="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349240"/>
            <a:ext cx="8412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talk   </a:t>
            </a:r>
            <a:r>
              <a:rPr sz="1800" b="1">
                <a:solidFill>
                  <a:srgbClr val="2DD4BF"/>
                </a:solidFill>
                <a:latin typeface="Calibri"/>
              </a:rPr>
              <a:t>github.com/vinsoc-cyber/VulnHunterX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bugs  </a:t>
            </a:r>
            <a:r>
              <a:rPr sz="1800" b="1">
                <a:solidFill>
                  <a:srgbClr val="2DD4BF"/>
                </a:solidFill>
                <a:latin typeface="Calibri"/>
              </a:rPr>
              <a:t>github.com/tuonglnc/VHX-real-bug-confirmed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github.com/vinsoc-cyber/VulnHunterX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641908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8B949E"/>
                </a:solidFill>
                <a:latin typeface="Calibri"/>
              </a:rPr>
              <a:t>31 /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1">
                <a:solidFill>
                  <a:srgbClr val="FF6B35"/>
                </a:solidFill>
                <a:latin typeface="Calibri"/>
              </a:rPr>
              <a:t>BACKUP   ·   Q&amp;A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300" b="1">
                <a:solidFill>
                  <a:srgbClr val="E6EDF3"/>
                </a:solidFill>
                <a:latin typeface="Calibri"/>
              </a:rPr>
              <a:t>Appendix / backup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06070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Per-CWE breakdown tables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Token &amp; cost math (~10K tokens/finding)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Architecture deep-dive — context-extraction flow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Exact run_model_matrix.py reproduction commands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Confidence-calibration plots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2000" b="0">
                <a:solidFill>
                  <a:srgbClr val="2DD4BF"/>
                </a:solidFill>
                <a:latin typeface="Calibri"/>
              </a:rPr>
              <a:t>—  </a:t>
            </a:r>
            <a:r>
              <a:rPr sz="2000" b="0">
                <a:solidFill>
                  <a:srgbClr val="E6EDF3"/>
                </a:solidFill>
                <a:latin typeface="Calibri"/>
              </a:rPr>
              <a:t>Real-bug confirmations + PoCs — github.com/tuonglnc/VHX-real-bug-confirmed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