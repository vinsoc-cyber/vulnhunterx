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2" r:id="rId6"/>
    <p:sldId id="263" r:id="rId7"/>
    <p:sldId id="260" r:id="rId8"/>
    <p:sldId id="261" r:id="rId9"/>
    <p:sldId id="264" r:id="rId10"/>
    <p:sldId id="265" r:id="rId11"/>
    <p:sldId id="266" r:id="rId12"/>
    <p:sldId id="287" r:id="rId13"/>
    <p:sldId id="288" r:id="rId14"/>
    <p:sldId id="267" r:id="rId15"/>
    <p:sldId id="268" r:id="rId16"/>
    <p:sldId id="269" r:id="rId17"/>
    <p:sldId id="270" r:id="rId18"/>
    <p:sldId id="271" r:id="rId19"/>
    <p:sldId id="272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0F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6150" autoAdjust="0"/>
  </p:normalViewPr>
  <p:slideViewPr>
    <p:cSldViewPr snapToGrid="0" snapToObjects="1">
      <p:cViewPr varScale="1">
        <p:scale>
          <a:sx n="80" d="100"/>
          <a:sy n="80" d="100"/>
        </p:scale>
        <p:origin x="95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4756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cost of triage, not detection. Security teams don't drown in MISSED bugs — they</a:t>
            </a:r>
          </a:p>
          <a:p>
            <a:r>
              <a:t>drown in triaging the ones the scanner flagged, most of which are safe. FP rates run 30–80%.</a:t>
            </a:r>
          </a:p>
          <a:p>
            <a:r>
              <a:t>The question for this talk: what if a model that costs zero dollars could do the first triage pass,</a:t>
            </a:r>
          </a:p>
          <a:p>
            <a:r>
              <a:t>and do it well? This builds on CyberArk's Vulnhalla methodology — name it up front for credibility.</a:t>
            </a:r>
          </a:p>
          <a:p>
            <a:r>
              <a:t>State the thesis now and again at the end: reasoning STRUCTURE beats model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Draw the funnel. The failure isn't a missed detection — it's that humans can't keep up with the</a:t>
            </a:r>
          </a:p>
          <a:p>
            <a:r>
              <a:t>volume, so they tune out, and a genuine vulnerability gets ignored alongside the noise. Frame the</a:t>
            </a:r>
          </a:p>
          <a:p>
            <a:r>
              <a:t>dual-use angle for an HK Hack room: the same triage speed-up helps defenders clear a backlog and</a:t>
            </a:r>
          </a:p>
          <a:p>
            <a:r>
              <a:t>helps offense prioritize attacker-relevant findings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REAL false positives, straight from the committed verdict JSONs — no hand-crafted examples.</a:t>
            </a:r>
          </a:p>
          <a:p>
            <a:r>
              <a:t>Case 1 (vorbis): CodeQL's cpp/alloca-in-loop is a legitimate stack-exhaustion rule, but here the</a:t>
            </a:r>
          </a:p>
          <a:p>
            <a:r>
              <a:t>loop bound (channel count) and the per-iteration size (block size) are both capped by the Ogg</a:t>
            </a:r>
          </a:p>
          <a:p>
            <a:r>
              <a:t>Vorbis format spec, so the stack can't actually be exhausted — High-confidence FP. Case 2</a:t>
            </a:r>
          </a:p>
          <a:p>
            <a:r>
              <a:t>(libjpeg-turbo): the world-writable-file-creation rule fired on line 320, but that line is a</a:t>
            </a:r>
          </a:p>
          <a:p>
            <a:r>
              <a:t>tjTransform() call on in-memory buffers — there's no 0666 file creation there at all; the rule</a:t>
            </a:r>
          </a:p>
          <a:p>
            <a:r>
              <a:t>mis-attributed the location — Medium-confidence FP. Two distinct ways SAST is "wrong": a true rule</a:t>
            </a:r>
          </a:p>
          <a:p>
            <a:r>
              <a:t>defeated by a domain constraint, and a rule firing on the wrong line. Both killed with a cited</a:t>
            </a:r>
          </a:p>
          <a:p>
            <a:r>
              <a:t>reason, on a $0 model. This is the judgment we're automating — and the live demo resolves more of</a:t>
            </a:r>
          </a:p>
          <a:p>
            <a:r>
              <a:t>these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naive approach is confidently wrong because it matches a textual pattern instead of reasoning</a:t>
            </a:r>
          </a:p>
          <a:p>
            <a:r>
              <a:t>about reachability and guards. SecLLMHolmes measured frontier models capping around 40% accuracy</a:t>
            </a:r>
          </a:p>
          <a:p>
            <a:r>
              <a:t>on hand-crafted scenarios for precisely this reason. Land the line: the gap is method, not</a:t>
            </a:r>
          </a:p>
          <a:p>
            <a:r>
              <a:t>intelligence — which is what the rest of the talk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Instead of "is this a bug?", ask the model the same ordered questions a senior reviewer asks —</a:t>
            </a:r>
          </a:p>
          <a:p>
            <a:r>
              <a:t>these are quoted VERBATIM from config/prompts/python_questions.yaml. Three design rules baked into</a:t>
            </a:r>
          </a:p>
          <a:p>
            <a:r>
              <a:t>how every question is written: evidence-bound — each answer must cite concrete line numbers;</a:t>
            </a:r>
          </a:p>
          <a:p>
            <a:r>
              <a:t>atomic — one fact per question, compound questions get split; refusal allowed — "not visible in the</a:t>
            </a:r>
          </a:p>
          <a:p>
            <a:r>
              <a:t>provided context" is a legal answer, and it's what triggers fetching more context. The WHY, from</a:t>
            </a:r>
          </a:p>
          <a:p>
            <a:r>
              <a:t>the file's own header comment: the LLM must answer ALL questions BEFORE giving a verdict, which</a:t>
            </a:r>
          </a:p>
          <a:p>
            <a:r>
              <a:t>forces step-by-step reasoning instead of pattern matching. Note the last question is the explicit</a:t>
            </a:r>
          </a:p>
          <a:p>
            <a:r>
              <a:t>default-to-FP rule, and min_iterations:2 forces a second pass on taint CWEs in framework languages</a:t>
            </a:r>
          </a:p>
          <a:p>
            <a:r>
              <a:t>(OWASP-Python: 1-iter 57.1% → 2-iter 95.8%). The repo ships these banks across six languages,</a:t>
            </a:r>
          </a:p>
          <a:p>
            <a:r>
              <a:t>routed by rule ID and CWE.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deliberately different CWE class to show the method generalizes — these questions are quoted</a:t>
            </a:r>
          </a:p>
          <a:p>
            <a:r>
              <a:t>VERBATIM from config/prompts/cpp_questions.yaml (the bank has 10; four shown). SQL injection is a</a:t>
            </a:r>
          </a:p>
          <a:p>
            <a:r>
              <a:t>taint / data-flow question — does attacker input reach a sink unsanitized? Use-after-free is a</a:t>
            </a:r>
          </a:p>
          <a:p>
            <a:r>
              <a:t>lifetime / ownership question — who owns the memory? Note the moves: ANCHOR and CLASSIFY the flagged</a:t>
            </a:r>
          </a:p>
          <a:p>
            <a:r>
              <a:t>line first (many UAF false positives are just signatures/declarations); enumerate every free site</a:t>
            </a:r>
          </a:p>
          <a:p>
            <a:r>
              <a:t>(it requests free_sites: context); trace the shortest free→use path and check for a NULL-set or</a:t>
            </a:r>
          </a:p>
          <a:p>
            <a:r>
              <a:t>reallocation defense. The DECISION RULE is the key anti-pattern-matching guard: mark FP ONLY with</a:t>
            </a:r>
          </a:p>
          <a:p>
            <a:r>
              <a:t>POSITIVE evidence of a defense — pattern-only reasoning on function names is not enough, prefer</a:t>
            </a:r>
          </a:p>
          <a:p>
            <a:r>
              <a:t>Needs-More-Data. min_iterations is 3 — memory-safety needs the turns. The free_sites / destructor /</a:t>
            </a:r>
          </a:p>
          <a:p>
            <a:r>
              <a:t>field_writes context it asks for is exactly what the next slide shows being extracted.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diagram for the whole system. SARIF is the contract that ties it together — remember that for</a:t>
            </a:r>
          </a:p>
          <a:p>
            <a:r>
              <a:t>the extensibility slide. Stages 1–2 are ordinary static analysis; stage 3 is the LLM verification</a:t>
            </a:r>
          </a:p>
          <a:p>
            <a:r>
              <a:t>that is the heart of the talk; stages 5–8 optionally confirm a true positive with an actual crash.</a:t>
            </a:r>
          </a:p>
          <a:p>
            <a:r>
              <a:t>Everything routes through one SARIF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real pipeline figure from the paper. Repo in, triaged findings out. Stage 1 prepares the</a:t>
            </a:r>
          </a:p>
          <a:p>
            <a:r>
              <a:t>CodeQL DB and extracts context CSVs (tree-sitter fallback when the DB build fails); Stage 2 runs</a:t>
            </a:r>
          </a:p>
          <a:p>
            <a:r>
              <a:t>the SAST engines to SARIF; Stage 3 is the multi-turn LLM verification; Stage 4 aggregates a</a:t>
            </a:r>
          </a:p>
          <a:p>
            <a:r>
              <a:t>bilingual report. Point at the dotted line: those pre-extracted context CSVs are what the LLM</a:t>
            </a:r>
          </a:p>
          <a:p>
            <a:r>
              <a:t>draws on in Stage 3 WITHOUT re-running analysis — that's why multi-turn is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single most important slide. The response schema forces the model to write its cited</a:t>
            </a:r>
          </a:p>
          <a:p>
            <a:r>
              <a:t>answers and the data-flow trace FIRST; the verdict field is generated last, conditioned on that</a:t>
            </a:r>
          </a:p>
          <a:p>
            <a:r>
              <a:t>evidence. Because generation is left-to-right, autoregression now works FOR us. A post-processor</a:t>
            </a:r>
          </a:p>
          <a:p>
            <a:r>
              <a:t>downgrades any High/Medium verdict whose reasoning is pure pattern-language with no file:line</a:t>
            </a:r>
          </a:p>
          <a:p>
            <a:r>
              <a:t>citation. Evidence first, conclusion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When the model says "not visible here," it asks for more context from a fixed vocabulary — caller,</a:t>
            </a:r>
          </a:p>
          <a:p>
            <a:r>
              <a:t>struct, free_sites, and so on. We resolve those from pre-extracted CSVs (or a tree-sitter fallback)</a:t>
            </a:r>
          </a:p>
          <a:p>
            <a:r>
              <a:t>and re-prompt. Crucially we never re-run the SAST engine, so a multi-turn conversation costs a few</a:t>
            </a:r>
          </a:p>
          <a:p>
            <a:r>
              <a:t>thousand extra tokens, not another full analysis. In practice the mean conversation is 2.74 turns</a:t>
            </a:r>
          </a:p>
          <a:p>
            <a:r>
              <a:t>and only 0.8% of findings ever hit a forced decision — source: the 366-entry OWASP-Python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Pull back the curtain on the context broker. context_extractor.py runs small CodeQL queries</a:t>
            </a:r>
          </a:p>
          <a:p>
            <a:r>
              <a:t>against the database — query run, then bqrs decode — and writes one CSV per context type. C and C++</a:t>
            </a:r>
          </a:p>
          <a:p>
            <a:r>
              <a:t>get eight types, including the memory-safety-specific free_sites, destructors, and field_writes</a:t>
            </a:r>
          </a:p>
          <a:p>
            <a:r>
              <a:t>that the use-after-free questions ask for. The other five languages get three (functions, callers,</a:t>
            </a:r>
          </a:p>
          <a:p>
            <a:r>
              <a:t>classes). When no CodeQL DB exists, a tree-sitter fallback emits the same CSV layout, so the rest</a:t>
            </a:r>
          </a:p>
          <a:p>
            <a:r>
              <a:t>of the pipeline is identical. This is the cheap, pre-computed knowledge the LLM pulls from across</a:t>
            </a:r>
          </a:p>
          <a:p>
            <a:r>
              <a:t>multi-turn — no re-analysis.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A13F1-1DF1-4E12-4763-AE9651674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A545D1-A825-FF35-13B1-9A6892CAD9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A808ED-BBE5-AEC7-2B19-18E85DBCB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real two-turn trace, verbatim from output/go/1216-services/.../go_log-injection_92.json (model</a:t>
            </a:r>
          </a:p>
          <a:p>
            <a:r>
              <a:t>deepseek-v4-flash, $0). Turn 1: the model answers the six log-injection questions, can't see whether</a:t>
            </a:r>
          </a:p>
          <a:p>
            <a:r>
              <a:t>the Mask* helpers sanitise control characters, so it REFUSES — verdict Needs More Data — and asks</a:t>
            </a:r>
          </a:p>
          <a:p>
            <a:r>
              <a:t>for callees:MaskMerchantKey / MaskSensitive / extractContextFields. The engine resolves each from the</a:t>
            </a:r>
          </a:p>
          <a:p>
            <a:r>
              <a:t>pre-extracted CSVs and returns "[No callees found]". Turn 2: with that, the model reasons that the</a:t>
            </a:r>
          </a:p>
          <a:p>
            <a:r>
              <a:t>user input is only ever passed as a STRUCTURED zap field (zap.String), never interpolated into the</a:t>
            </a:r>
          </a:p>
          <a:p>
            <a:r>
              <a:t>message string, and zap's encoder escapes control characters — so log-injection isn't possible.</a:t>
            </a:r>
          </a:p>
          <a:p>
            <a:r>
              <a:t>Verdict flips to False Positive, High confidence. Pair this with the next slide.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B0584-9CAD-CD04-7A9F-0786A284C1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08047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3837A-D512-A93D-7301-439AD63E8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0F5613-3441-F644-0A30-CFD7956E1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D5EC62-B6C5-BA28-E937-3BFF7753DD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matched pair. Verbatim from output/go/1216-services/.../go_clear-text-logging_46.json (model</a:t>
            </a:r>
          </a:p>
          <a:p>
            <a:r>
              <a:t>deepseek-v4-flash, $0). SAME mechanism as the previous slide — the model answers the guided</a:t>
            </a:r>
          </a:p>
          <a:p>
            <a:r>
              <a:t>questions, refuses (Needs More Data), and asks for callees:extractContextFields; the engine returns</a:t>
            </a:r>
          </a:p>
          <a:p>
            <a:r>
              <a:t>the identical "[No callees found]". But here the reasoning runs the OTHER way: HTTP-header data</a:t>
            </a:r>
          </a:p>
          <a:p>
            <a:r>
              <a:t>reaches the logger with no visible sanitiser, and since extractContextFields has no known callees we</a:t>
            </a:r>
          </a:p>
          <a:p>
            <a:r>
              <a:t>CAN'T confirm any protection — so the evidence supports a real information-disclosure bug. Verdict:</a:t>
            </a:r>
          </a:p>
          <a:p>
            <a:r>
              <a:t>True Positive. Punchline: identical context outcome, opposite verdicts — the decision tracks the</a:t>
            </a:r>
          </a:p>
          <a:p>
            <a:r>
              <a:t>reasoning about a visible defense, not pattern-matching. (Confidence stays Medium because the helper</a:t>
            </a:r>
          </a:p>
          <a:p>
            <a:r>
              <a:t>body is still unavailable — calibrated honesty.)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B30606-BBFD-78BC-D261-3EBFA9072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922519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headline. Precision roughly doubles and we delete 80–91% of false positives while keeping</a:t>
            </a:r>
          </a:p>
          <a:p>
            <a:r>
              <a:t>&gt;90% of real bugs (TP-preservation stays ~90–96%). Point at the repo: every number here is in a</a:t>
            </a:r>
          </a:p>
          <a:p>
            <a:r>
              <a:t>committed benchmark result file, reproducible with the harness. Numbers are percentages, P/F1.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surprising result. The zero-dollar pass-through model has the best F1, and GPT-5 — at roughly</a:t>
            </a:r>
          </a:p>
          <a:p>
            <a:r>
              <a:t>seventeen dollars for 228 findings — doesn't lead. The lever is the protocol, not the parameter</a:t>
            </a:r>
          </a:p>
          <a:p>
            <a:r>
              <a:t>count. Be honest about latency: this is batch-speed, tens of seconds per finding, not inline on</a:t>
            </a:r>
          </a:p>
          <a:p>
            <a:r>
              <a:t>keystroke.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Don't oversell. The largest single jump is from raw-SAST to any multi-turn LLM — about 20 F1</a:t>
            </a:r>
          </a:p>
          <a:p>
            <a:r>
              <a:t>points. Zero-shot is strong; the guided questions mainly add the hard-case tail, a few points of</a:t>
            </a:r>
          </a:p>
          <a:p>
            <a:r>
              <a:t>recall, and on synthetic Juliet generic questions even nudge ahead. Telling an HK Hack audience the</a:t>
            </a:r>
          </a:p>
          <a:p>
            <a:r>
              <a:t>limits of your own method buys credibility for the numbers that ARE strong.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Set expectations before touching the keyboard. Two terminals: a benign upstream library and a</a:t>
            </a:r>
          </a:p>
          <a:p>
            <a:r>
              <a:t>deliberately vulnerable app. Say the success criteria aloud so the audience knows what "working"</a:t>
            </a:r>
          </a:p>
          <a:p>
            <a:r>
              <a:t>looks like — the real bug survives, a benign finding (like the real false positives on slide 3)</a:t>
            </a:r>
          </a:p>
          <a:p>
            <a:r>
              <a:t>dies, both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verify on the pre-staged findings and narrate four moments in order: the false positive dies</a:t>
            </a:r>
          </a:p>
          <a:p>
            <a:r>
              <a:t>with its cited guard; a real bug survives with a data-flow trace; a live multi-turn context</a:t>
            </a:r>
          </a:p>
          <a:p>
            <a:r>
              <a:t>request and the revised verdict; and the confidence downgrade catching a thin verdict. REHEARSE</a:t>
            </a:r>
          </a:p>
          <a:p>
            <a:r>
              <a:t>the fallback: a pre-recorded screencast plus cached verdict JSON. Conference-floor network failure</a:t>
            </a:r>
          </a:p>
          <a:p>
            <a:r>
              <a:t>is a when, not an if. If running long, the fuzz-payoff slide is the safe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the loop. For a memory-unsafe true positive, the fuzz stages generate a harness, build it</a:t>
            </a:r>
          </a:p>
          <a:p>
            <a:r>
              <a:t>with sanitizers, and produce an actual crashing input. That converts an LLM opinion into a filed,</a:t>
            </a:r>
          </a:p>
          <a:p>
            <a:r>
              <a:t>reproducible bug. Use the recording — fuzzing in real time on stage is too slow. This is the bridge</a:t>
            </a:r>
          </a:p>
          <a:p>
            <a:r>
              <a:t>into the real-world results: the next segment shows five such bugs we actually found and confirmed.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money slide. Five distinct vulnerability classes — a TOCTOU race, a compiler dead-store that</a:t>
            </a:r>
          </a:p>
          <a:p>
            <a:r>
              <a:t>defeats secret-wiping, an unbounded stack allocation, a server-side request forgery, and a</a:t>
            </a:r>
          </a:p>
          <a:p>
            <a:r>
              <a:t>credential leak from a sloppy URL check — across two languages and five mature, widely-deployed</a:t>
            </a:r>
          </a:p>
          <a:p>
            <a:r>
              <a:t>projects. Every row has a public PoC and a vendor touchpoint. Walk the table, then the next slide</a:t>
            </a:r>
          </a:p>
          <a:p>
            <a:r>
              <a:t>shows the funnel these came out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why the triage layer matters in the real world. 175 raw findings across the five libraries;</a:t>
            </a:r>
          </a:p>
          <a:p>
            <a:r>
              <a:t>the LLM verdicts narrowed those to a manageable set and, on flac alone, filtered 82 false positives</a:t>
            </a:r>
          </a:p>
          <a:p>
            <a:r>
              <a:t>to leave 12 true positives — one of which was the TOCTOU bug. Note gradio's 12 errors (harness/parse</a:t>
            </a:r>
          </a:p>
          <a:p>
            <a:r>
              <a:t>issues) — be honest about that. The whole campaign ran on GLM-5.1 at zero marginal cost, a few</a:t>
            </a:r>
          </a:p>
          <a:p>
            <a:r>
              <a:t>thousand tokens per finding. Cheap triage, real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stat() at line 100 and chmod() at line 116 use the same path string with no file descriptor held</a:t>
            </a:r>
          </a:p>
          <a:p>
            <a:r>
              <a:t>between them — the classic check-then-use TOCTOU window. An attacker who controls the parent</a:t>
            </a:r>
          </a:p>
          <a:p>
            <a:r>
              <a:t>directory swaps the file for a symlink in that window, so chmod lands on the symlink target. When</a:t>
            </a:r>
          </a:p>
          <a:p>
            <a:r>
              <a:t>flac/metaflac runs elevated, that's permission changes on arbitrary files. Note the verdict: Medium</a:t>
            </a:r>
          </a:p>
          <a:p>
            <a:r>
              <a:t>confidence, and it took THREE multi-turn iterations — the engine asked for more context before</a:t>
            </a:r>
          </a:p>
          <a:p>
            <a:r>
              <a:t>committing, exactly the behavior the methodology is built for. Vendor issue xiph/flac #902.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ov_crosslap allocates with alloca() inside a loop bounded by the channel count, which is parsed</a:t>
            </a:r>
          </a:p>
          <a:p>
            <a:r>
              <a:t>straight from the Ogg header and only checked to be &gt;= 1 — no upper bound. A crafted file with 255</a:t>
            </a:r>
          </a:p>
          <a:p>
            <a:r>
              <a:t>channels and max blocksize forces ~4 MB of stack, overflowing the small worker-thread stacks that</a:t>
            </a:r>
          </a:p>
          <a:p>
            <a:r>
              <a:t>media players and game engines use for audio decode. High-confidence true positive in a single turn.</a:t>
            </a:r>
          </a:p>
          <a:p>
            <a:r>
              <a:t>Vendor merge request !43 on the xiph vorbis GitLab.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memset() calls meant to wipe sensitive SHA1 data are silently removed by the compiler's</a:t>
            </a:r>
          </a:p>
          <a:p>
            <a:r>
              <a:t>dead-store elimination at -O1 and above, because the buffers are never read after the wipe. Raw</a:t>
            </a:r>
          </a:p>
          <a:p>
            <a:r>
              <a:t>input, hash state, and counters survive on the stack. The PoC proves it: objdump shows no memset in</a:t>
            </a:r>
          </a:p>
          <a:p>
            <a:r>
              <a:t>the optimized binary, and the secret block is recovered from the stack. Reachable through the public</a:t>
            </a:r>
          </a:p>
          <a:p>
            <a:r>
              <a:t>SHA1Update API; risk is highest in long-lived servers built on libevent. Triaged by advance-security.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extract_svg_content fetches a user-controlled URL with httpx.get and no SSRF protection — no scheme</a:t>
            </a:r>
          </a:p>
          <a:p>
            <a:r>
              <a:t>restriction, no host allowlist. The telling detail the LLM surfaced: the sibling processing_utils.py</a:t>
            </a:r>
          </a:p>
          <a:p>
            <a:r>
              <a:t>already routes through safehttpx, so this is an overlooked path, not a missing capability. Impact is</a:t>
            </a:r>
          </a:p>
          <a:p>
            <a:r>
              <a:t>classic SSRF — internal services and cloud metadata. Highest-confidence verdict in the set, single</a:t>
            </a:r>
          </a:p>
          <a:p>
            <a:r>
              <a:t>turn. Triaged privately via GitHub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--index-url is validated with startswith() on a domain prefix — which a subdomain like</a:t>
            </a:r>
          </a:p>
          <a:p>
            <a:r>
              <a:t>pkgs.safetycli.com.attacker.com trivially passes. The CLI then embeds the user's JWT into the URL,</a:t>
            </a:r>
          </a:p>
          <a:p>
            <a:r>
              <a:t>and uv ships it in an Authorization header to the attacker's host. The vector is CI/CD argument</a:t>
            </a:r>
          </a:p>
          <a:p>
            <a:r>
              <a:t>injection; tokens are valid ~24 hours. The fix is exact-hostname validation via urlsplit. Medium</a:t>
            </a:r>
          </a:p>
          <a:p>
            <a:r>
              <a:t>confidence — honest about the truncated context. Triaged with the vendor over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Tie it back to the method. These bugs are exactly the cases raw SAST buries: a single real finding</a:t>
            </a:r>
          </a:p>
          <a:p>
            <a:r>
              <a:t>inside dozens of false positives. What surfaced them was the LLM's reasoning — noticing that a</a:t>
            </a:r>
          </a:p>
          <a:p>
            <a:r>
              <a:t>sibling module already had the safe path, that an attacker-controlled count had no upper bound — and</a:t>
            </a:r>
          </a:p>
          <a:p>
            <a:r>
              <a:t>the multi-turn context expansion (flac took three turns). The confidence scores are calibrated:</a:t>
            </a:r>
          </a:p>
          <a:p>
            <a:r>
              <a:t>Medium where the snippet was truncated, High where the data flow was fully visible. And every</a:t>
            </a:r>
          </a:p>
          <a:p>
            <a:r>
              <a:t>verdict carried a data-flow trace the researcher turned into a PoC.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Candor is a feature for this audience. Call out the real failure modes: classes that can't be</a:t>
            </a:r>
          </a:p>
          <a:p>
            <a:r>
              <a:t>judged from a snippet (weak-hash recall drops), context-heavy classes like XXE, the Needs-More-Data</a:t>
            </a:r>
          </a:p>
          <a:p>
            <a:r>
              <a:t>outcome when context is missing, batch latency rather than real-time, and prompt-injection risk</a:t>
            </a:r>
          </a:p>
          <a:p>
            <a:r>
              <a:t>because the analyzed source is untrusted input. Naming these makes the strong numbers believable.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Because SARIF is the only contract, you bring your own rules, engine, or language. The repo ships</a:t>
            </a:r>
          </a:p>
          <a:p>
            <a:r>
              <a:t>59 custom CodeQL queries and 89 custom Semgrep rules; a new rule just tags a CWE and routes through</a:t>
            </a:r>
          </a:p>
          <a:p>
            <a:r>
              <a:t>the same verification core, and an audit script fails CI when a rule isn't wired to a guided</a:t>
            </a:r>
          </a:p>
          <a:p>
            <a:r>
              <a:t>question. No core code changes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Land the takeaways and restate the thesis: structure beats size; FP-reduction is the metric teams</a:t>
            </a:r>
          </a:p>
          <a:p>
            <a:r>
              <a:t>feel; it's open source with a full benchmark harness so every number on the evidence slides is</a:t>
            </a:r>
          </a:p>
          <a:p>
            <a:r>
              <a:t>reproducible; and it holds OUTSIDE the lab — five real, vendor-engaged bugs surfaced on a $0 model.</a:t>
            </a:r>
          </a:p>
          <a:p>
            <a:r>
              <a:t>Two repos on screen: the tool, and the public real-bug confirmations + PoCs. Invite contributions,</a:t>
            </a:r>
          </a:p>
          <a:p>
            <a:r>
              <a:t>then take questions — people screenshot.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2026-06-08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dirty="0">
                <a:solidFill>
                  <a:srgbClr val="7A00FF"/>
                </a:solidFill>
                <a:latin typeface="Calibri"/>
              </a:rPr>
              <a:t>HONG KONG HACK 2026  ·  </a:t>
            </a:r>
            <a:r>
              <a:rPr sz="1600" b="0" dirty="0">
                <a:solidFill>
                  <a:srgbClr val="B98AFF"/>
                </a:solidFill>
                <a:latin typeface="Calibri"/>
              </a:rPr>
              <a:t>Redefining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14465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4400" b="1" dirty="0">
                <a:solidFill>
                  <a:srgbClr val="760FCB"/>
                </a:solidFill>
              </a:rPr>
              <a:t>VulnHunterX </a:t>
            </a:r>
            <a:r>
              <a:rPr lang="en-US" sz="4400" b="1" dirty="0">
                <a:solidFill>
                  <a:srgbClr val="ECE8F5"/>
                </a:solidFill>
              </a:rPr>
              <a:t>: </a:t>
            </a:r>
            <a:r>
              <a:rPr lang="en-US" sz="4400" dirty="0">
                <a:solidFill>
                  <a:srgbClr val="ECE8F5"/>
                </a:solidFill>
              </a:rPr>
              <a:t>LLM-Powered Automated Vulnerability Hunting</a:t>
            </a:r>
            <a:endParaRPr sz="4400" dirty="0">
              <a:solidFill>
                <a:srgbClr val="7A00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0">
                <a:solidFill>
                  <a:srgbClr val="B98AFF"/>
                </a:solidFill>
                <a:latin typeface="Calibri"/>
              </a:rPr>
              <a:t>Teaching small LLMs to triage like a senior analyst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59" y="4206240"/>
            <a:ext cx="10607040" cy="10515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85211" y="4364096"/>
            <a:ext cx="5467149" cy="776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/>
              </a:rPr>
              <a:t>Tran Chi Thien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lang="en-US" sz="2000" dirty="0">
                <a:solidFill>
                  <a:srgbClr val="8E869E"/>
                </a:solidFill>
                <a:latin typeface="Calibri"/>
              </a:rPr>
              <a:t>Head of </a:t>
            </a:r>
            <a:r>
              <a:rPr lang="en-US" sz="2000" b="1" dirty="0">
                <a:solidFill>
                  <a:srgbClr val="C00000"/>
                </a:solidFill>
                <a:latin typeface="Calibri"/>
              </a:rPr>
              <a:t>Offensive</a:t>
            </a:r>
            <a:r>
              <a:rPr lang="en-US" sz="2000" dirty="0">
                <a:solidFill>
                  <a:srgbClr val="8E869E"/>
                </a:solidFill>
                <a:latin typeface="Calibri"/>
              </a:rPr>
              <a:t> </a:t>
            </a:r>
            <a:r>
              <a:rPr lang="en-US" sz="2000" b="1" dirty="0">
                <a:solidFill>
                  <a:srgbClr val="C00000"/>
                </a:solidFill>
                <a:latin typeface="Calibri"/>
              </a:rPr>
              <a:t>security</a:t>
            </a:r>
            <a:endParaRPr sz="2000" b="1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515600" cy="333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dirty="0">
                <a:solidFill>
                  <a:srgbClr val="B98AFF"/>
                </a:solidFill>
                <a:latin typeface="Calibri"/>
              </a:rPr>
              <a:t>10 Jun 2026</a:t>
            </a:r>
            <a:r>
              <a:rPr lang="en-US" sz="1500" b="0" dirty="0">
                <a:solidFill>
                  <a:srgbClr val="B98AFF"/>
                </a:solidFill>
                <a:latin typeface="Calibri"/>
              </a:rPr>
              <a:t> -</a:t>
            </a:r>
            <a:r>
              <a:rPr sz="1500" b="0" dirty="0">
                <a:solidFill>
                  <a:srgbClr val="B98AFF"/>
                </a:solidFill>
                <a:latin typeface="Calibri"/>
              </a:rPr>
              <a:t> Hong Kong</a:t>
            </a:r>
            <a:endParaRPr sz="1500" b="0" dirty="0">
              <a:solidFill>
                <a:srgbClr val="8E869E"/>
              </a:solidFill>
              <a:latin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1FD109-5763-81DE-E621-4CC456254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330" y="4324755"/>
            <a:ext cx="840283" cy="840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Hình ảnh 11">
            <a:extLst>
              <a:ext uri="{FF2B5EF4-FFF2-40B4-BE49-F238E27FC236}">
                <a16:creationId xmlns:a16="http://schemas.microsoft.com/office/drawing/2014/main" id="{21683658-CA42-38D2-64ED-F3D247FEEE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510" b="6510"/>
          <a:stretch>
            <a:fillRect/>
          </a:stretch>
        </p:blipFill>
        <p:spPr>
          <a:xfrm>
            <a:off x="7856153" y="4206240"/>
            <a:ext cx="3268717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2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2933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dirty="0">
                <a:solidFill>
                  <a:srgbClr val="7A00FF"/>
                </a:solidFill>
                <a:latin typeface="Calibri"/>
              </a:rPr>
              <a:t>THE PROBLEM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FP fatigue is a security failure mode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822960" y="3429000"/>
            <a:ext cx="10607040" cy="22622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Thousands of SAST findings  →  analyst hours  →  a handful of real bugs</a:t>
            </a:r>
          </a:p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When ~70% of alerts are noise, analysts stop reading the queue</a:t>
            </a:r>
          </a:p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b="0" dirty="0">
                <a:solidFill>
                  <a:srgbClr val="B98AFF"/>
                </a:solidFill>
                <a:latin typeface="Calibri"/>
              </a:rPr>
              <a:t>      ·  </a:t>
            </a:r>
            <a:r>
              <a:rPr b="0" dirty="0">
                <a:solidFill>
                  <a:srgbClr val="8E869E"/>
                </a:solidFill>
                <a:latin typeface="Calibri"/>
              </a:rPr>
              <a:t>…and the real bug rides in with the noise</a:t>
            </a:r>
          </a:p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Dual-use: defender triage tooling AND an offense recon accelerator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1E6DDD54-501F-67B3-F2BE-B8F0EA929328}"/>
              </a:ext>
            </a:extLst>
          </p:cNvPr>
          <p:cNvSpPr/>
          <p:nvPr/>
        </p:nvSpPr>
        <p:spPr>
          <a:xfrm>
            <a:off x="822960" y="1844040"/>
            <a:ext cx="6766560" cy="1051560"/>
          </a:xfrm>
          <a:prstGeom prst="rect">
            <a:avLst/>
          </a:prstGeom>
          <a:solidFill>
            <a:srgbClr val="16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358BF584-8A1D-ADA5-6026-6F23641CA61E}"/>
              </a:ext>
            </a:extLst>
          </p:cNvPr>
          <p:cNvSpPr txBox="1"/>
          <p:nvPr/>
        </p:nvSpPr>
        <p:spPr>
          <a:xfrm>
            <a:off x="1051560" y="1953768"/>
            <a:ext cx="6400800" cy="9087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dirty="0">
                <a:solidFill>
                  <a:srgbClr val="760FCB"/>
                </a:solidFill>
                <a:latin typeface="Calibri"/>
              </a:rPr>
              <a:t>30–80%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  of SAST findings are false positives.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 dirty="0">
                <a:solidFill>
                  <a:srgbClr val="8E869E"/>
                </a:solidFill>
                <a:latin typeface="Calibri"/>
              </a:rPr>
              <a:t>What if a </a:t>
            </a:r>
            <a:r>
              <a:rPr lang="en-US" sz="1600" dirty="0">
                <a:solidFill>
                  <a:srgbClr val="8E869E"/>
                </a:solidFill>
                <a:latin typeface="Calibri"/>
              </a:rPr>
              <a:t>cheap</a:t>
            </a:r>
            <a:r>
              <a:rPr sz="1600" b="0" dirty="0">
                <a:solidFill>
                  <a:srgbClr val="8E869E"/>
                </a:solidFill>
                <a:latin typeface="Calibri"/>
              </a:rPr>
              <a:t> model could do the first pass — well?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3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2933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dirty="0">
                <a:solidFill>
                  <a:srgbClr val="7A00FF"/>
                </a:solidFill>
                <a:latin typeface="Calibri"/>
              </a:rPr>
              <a:t>THE PROBLEM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When the scanner is wrong — two real false positives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8E869E"/>
                </a:solidFill>
                <a:latin typeface="Calibri"/>
              </a:rPr>
              <a:t>CodeQL flagged both. The LLM killed both — each with a cited reason. (Verbatim from the committed verdict JSONs.)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0698480" cy="1783080"/>
          </a:xfrm>
          <a:prstGeom prst="rect">
            <a:avLst/>
          </a:prstGeom>
          <a:solidFill>
            <a:srgbClr val="16122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35000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B98AFF"/>
                </a:solidFill>
                <a:latin typeface="Calibri"/>
              </a:rPr>
              <a:t>vorbis · cpp/alloca-in-loop · lib/vorbisfile.c:2396 · CWE-770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10241280" cy="5988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dirty="0">
                <a:solidFill>
                  <a:srgbClr val="8E869E"/>
                </a:solidFill>
                <a:latin typeface="Calibri"/>
              </a:rPr>
              <a:t>“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Although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alloca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() is used in a loop, both the iteration count (ch1, audio channels) and allocation size (n1, block size) are constrained by the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Vorbis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format specification. Realistic values will not cause stack exhaustion.</a:t>
            </a:r>
            <a:r>
              <a:rPr sz="1600" b="0" dirty="0">
                <a:solidFill>
                  <a:srgbClr val="8E869E"/>
                </a:solidFill>
                <a:latin typeface="Calibri"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3FB950"/>
                </a:solidFill>
                <a:latin typeface="Calibri"/>
              </a:rPr>
              <a:t>✗ False Positive   </a:t>
            </a:r>
            <a:r>
              <a:rPr sz="1300" b="0">
                <a:solidFill>
                  <a:srgbClr val="8E869E"/>
                </a:solidFill>
                <a:latin typeface="Calibri"/>
              </a:rPr>
              <a:t>confidence High (0.90) · 2 iterations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60520"/>
            <a:ext cx="10698480" cy="1783080"/>
          </a:xfrm>
          <a:prstGeom prst="rect">
            <a:avLst/>
          </a:prstGeom>
          <a:solidFill>
            <a:srgbClr val="161220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B98AFF"/>
                </a:solidFill>
                <a:latin typeface="Calibri"/>
              </a:rPr>
              <a:t>libjpeg-turbo · cpp/world-writable-file-creation · tjexample.c:320 · CWE-732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09159"/>
            <a:ext cx="10241280" cy="5988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dirty="0">
                <a:solidFill>
                  <a:srgbClr val="8E869E"/>
                </a:solidFill>
                <a:latin typeface="Calibri"/>
              </a:rPr>
              <a:t>“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The flagged line (320) is a call to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tjTransform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with memory buffers, not file operations. The world-writable (mode 0666) finding appears to be misattributed to this code location.</a:t>
            </a:r>
            <a:r>
              <a:rPr sz="1600" b="0" dirty="0">
                <a:solidFill>
                  <a:srgbClr val="8E869E"/>
                </a:solidFill>
                <a:latin typeface="Calibri"/>
              </a:rPr>
              <a:t>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532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dirty="0">
                <a:solidFill>
                  <a:srgbClr val="3FB950"/>
                </a:solidFill>
                <a:latin typeface="Calibri"/>
              </a:rPr>
              <a:t>✗ False Positive   </a:t>
            </a:r>
            <a:r>
              <a:rPr sz="1300" b="0" dirty="0">
                <a:solidFill>
                  <a:srgbClr val="8E869E"/>
                </a:solidFill>
                <a:latin typeface="Calibri"/>
              </a:rPr>
              <a:t>confidence Medium (0.75) · 4 iterations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035040"/>
            <a:ext cx="10698480" cy="3013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dirty="0">
                <a:solidFill>
                  <a:srgbClr val="8E869E"/>
                </a:solidFill>
                <a:latin typeface="Calibri"/>
              </a:rPr>
              <a:t>Two failure modes: a real risk </a:t>
            </a:r>
            <a:r>
              <a:rPr sz="1300" b="0" dirty="0" err="1">
                <a:solidFill>
                  <a:srgbClr val="8E869E"/>
                </a:solidFill>
                <a:latin typeface="Calibri"/>
              </a:rPr>
              <a:t>neutralised</a:t>
            </a:r>
            <a:r>
              <a:rPr sz="1300" b="0" dirty="0">
                <a:solidFill>
                  <a:srgbClr val="8E869E"/>
                </a:solidFill>
                <a:latin typeface="Calibri"/>
              </a:rPr>
              <a:t> by a domain constraint, and a rule firing on the wrong 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4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2933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dirty="0">
                <a:solidFill>
                  <a:srgbClr val="7A00FF"/>
                </a:solidFill>
                <a:latin typeface="Calibri"/>
              </a:rPr>
              <a:t>THE PROBLEM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Why "just ask GPT if it's a bug" fails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10607040" cy="22622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Free-form prompting pattern-matches the shape, not the data flow</a:t>
            </a:r>
          </a:p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b="0" dirty="0">
                <a:solidFill>
                  <a:srgbClr val="B98AFF"/>
                </a:solidFill>
                <a:latin typeface="Calibri"/>
              </a:rPr>
              <a:t>      ·  </a:t>
            </a:r>
            <a:r>
              <a:rPr b="0" dirty="0">
                <a:solidFill>
                  <a:srgbClr val="8E869E"/>
                </a:solidFill>
                <a:latin typeface="Calibri"/>
              </a:rPr>
              <a:t>free(p) … *p  →  "use-after-free!"  — without checking paths overlap or a guard exists</a:t>
            </a:r>
          </a:p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 err="1">
                <a:solidFill>
                  <a:srgbClr val="ECE8F5"/>
                </a:solidFill>
                <a:latin typeface="Calibri"/>
              </a:rPr>
              <a:t>SecLLMHolmes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 (IEEE S&amp;P 2024): frontier models cap ~40% on hand-crafted cases</a:t>
            </a:r>
          </a:p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The gap isn't model IQ — it's METHOD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7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2933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 dirty="0">
                <a:solidFill>
                  <a:srgbClr val="7A00FF"/>
                </a:solidFill>
                <a:latin typeface="Calibri"/>
              </a:rPr>
              <a:t>THE METHOD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Guided questions = encoded analyst expertise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07040" cy="3200400"/>
          </a:xfrm>
          <a:prstGeom prst="rect">
            <a:avLst/>
          </a:prstGeom>
          <a:solidFill>
            <a:srgbClr val="161220"/>
          </a:solidFill>
          <a:ln w="9525">
            <a:solidFill>
              <a:srgbClr val="392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933232"/>
            <a:ext cx="10149840" cy="2988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 err="1">
                <a:solidFill>
                  <a:srgbClr val="B98AFF"/>
                </a:solidFill>
                <a:latin typeface="Consolas"/>
              </a:rPr>
              <a:t>py</a:t>
            </a:r>
            <a:r>
              <a:rPr sz="1400" b="0" dirty="0">
                <a:solidFill>
                  <a:srgbClr val="B98AFF"/>
                </a:solidFill>
                <a:latin typeface="Consolas"/>
              </a:rPr>
              <a:t>/</a:t>
            </a:r>
            <a:r>
              <a:rPr sz="1400" b="0" dirty="0" err="1">
                <a:solidFill>
                  <a:srgbClr val="B98AFF"/>
                </a:solidFill>
                <a:latin typeface="Consolas"/>
              </a:rPr>
              <a:t>sql</a:t>
            </a:r>
            <a:r>
              <a:rPr sz="1400" b="0" dirty="0">
                <a:solidFill>
                  <a:srgbClr val="B98AFF"/>
                </a:solidFill>
                <a:latin typeface="Consolas"/>
              </a:rPr>
              <a:t>-injection:                    # real bank — 6 questions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questions: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- "Quote the EXACT sink statement (</a:t>
            </a:r>
            <a:r>
              <a:rPr sz="1400" b="0" dirty="0" err="1">
                <a:solidFill>
                  <a:srgbClr val="ECE8F5"/>
                </a:solidFill>
                <a:latin typeface="Consolas"/>
              </a:rPr>
              <a:t>cursor.execute</a:t>
            </a:r>
            <a:r>
              <a:rPr sz="1400" b="0" dirty="0">
                <a:solidFill>
                  <a:srgbClr val="ECE8F5"/>
                </a:solidFill>
                <a:latin typeface="Consolas"/>
              </a:rPr>
              <a:t> /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   </a:t>
            </a:r>
            <a:r>
              <a:rPr sz="1400" b="0" dirty="0" err="1">
                <a:solidFill>
                  <a:srgbClr val="ECE8F5"/>
                </a:solidFill>
                <a:latin typeface="Consolas"/>
              </a:rPr>
              <a:t>session.execute</a:t>
            </a:r>
            <a:r>
              <a:rPr sz="1400" b="0" dirty="0">
                <a:solidFill>
                  <a:srgbClr val="ECE8F5"/>
                </a:solidFill>
                <a:latin typeface="Consolas"/>
              </a:rPr>
              <a:t>) and name the variable. Do not paraphrase."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- "List EVERY assignment to that variable on each path that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   reaches the sink, with line numbers — and the LAST one."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- "What specific defense </a:t>
            </a:r>
            <a:r>
              <a:rPr sz="1400" b="0" dirty="0" err="1">
                <a:solidFill>
                  <a:srgbClr val="ECE8F5"/>
                </a:solidFill>
                <a:latin typeface="Consolas"/>
              </a:rPr>
              <a:t>sanitises</a:t>
            </a:r>
            <a:r>
              <a:rPr sz="1400" b="0" dirty="0">
                <a:solidFill>
                  <a:srgbClr val="ECE8F5"/>
                </a:solidFill>
                <a:latin typeface="Consolas"/>
              </a:rPr>
              <a:t> the value before the sink?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   Name it concretely. Vague '</a:t>
            </a:r>
            <a:r>
              <a:rPr sz="1400" b="0" dirty="0" err="1">
                <a:solidFill>
                  <a:srgbClr val="ECE8F5"/>
                </a:solidFill>
                <a:latin typeface="Consolas"/>
              </a:rPr>
              <a:t>sanitisation</a:t>
            </a:r>
            <a:r>
              <a:rPr sz="1400" b="0" dirty="0">
                <a:solidFill>
                  <a:srgbClr val="ECE8F5"/>
                </a:solidFill>
                <a:latin typeface="Consolas"/>
              </a:rPr>
              <a:t>' is not acceptable."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- "If you cannot point to the tainted value reaching the sink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7A00FF"/>
                </a:solidFill>
                <a:latin typeface="Consolas"/>
              </a:rPr>
              <a:t>       AND the absence of every defense → verdict False Positive."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B98AFF"/>
                </a:solidFill>
                <a:latin typeface="Consolas"/>
              </a:rPr>
              <a:t>  </a:t>
            </a:r>
            <a:r>
              <a:rPr sz="1400" b="0" dirty="0" err="1">
                <a:solidFill>
                  <a:srgbClr val="B98AFF"/>
                </a:solidFill>
                <a:latin typeface="Consolas"/>
              </a:rPr>
              <a:t>additional_context</a:t>
            </a:r>
            <a:r>
              <a:rPr sz="1400" b="0" dirty="0">
                <a:solidFill>
                  <a:srgbClr val="B98AFF"/>
                </a:solidFill>
                <a:latin typeface="Consolas"/>
              </a:rPr>
              <a:t>: [caller, callees]    </a:t>
            </a:r>
            <a:r>
              <a:rPr sz="1400" b="0" dirty="0" err="1">
                <a:solidFill>
                  <a:srgbClr val="B98AFF"/>
                </a:solidFill>
                <a:latin typeface="Consolas"/>
              </a:rPr>
              <a:t>min_iterations</a:t>
            </a:r>
            <a:r>
              <a:rPr sz="1400" b="0" dirty="0">
                <a:solidFill>
                  <a:srgbClr val="B98AFF"/>
                </a:solidFill>
                <a:latin typeface="Consolas"/>
              </a:rPr>
              <a:t>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74920"/>
            <a:ext cx="10789920" cy="3495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7A00FF"/>
                </a:solidFill>
                <a:latin typeface="Calibri"/>
              </a:rPr>
              <a:t>evidence-bound</a:t>
            </a:r>
            <a:r>
              <a:rPr sz="1600" b="0">
                <a:solidFill>
                  <a:srgbClr val="8E869E"/>
                </a:solidFill>
                <a:latin typeface="Calibri"/>
              </a:rPr>
              <a:t> cite lines   ·   </a:t>
            </a:r>
            <a:r>
              <a:rPr sz="1600" b="1">
                <a:solidFill>
                  <a:srgbClr val="7A00FF"/>
                </a:solidFill>
                <a:latin typeface="Calibri"/>
              </a:rPr>
              <a:t>atomic</a:t>
            </a:r>
            <a:r>
              <a:rPr sz="1600" b="0">
                <a:solidFill>
                  <a:srgbClr val="8E869E"/>
                </a:solidFill>
                <a:latin typeface="Calibri"/>
              </a:rPr>
              <a:t> one fact / question   ·   </a:t>
            </a:r>
            <a:r>
              <a:rPr sz="1600" b="1">
                <a:solidFill>
                  <a:srgbClr val="7A00FF"/>
                </a:solidFill>
                <a:latin typeface="Calibri"/>
              </a:rPr>
              <a:t>refusal allowed</a:t>
            </a:r>
            <a:r>
              <a:rPr sz="1600" b="0">
                <a:solidFill>
                  <a:srgbClr val="8E869E"/>
                </a:solidFill>
                <a:latin typeface="Calibri"/>
              </a:rPr>
              <a:t> "not visible" → fetch 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10789920" cy="3495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dirty="0">
                <a:solidFill>
                  <a:srgbClr val="B98AFF"/>
                </a:solidFill>
                <a:latin typeface="Calibri"/>
              </a:rPr>
              <a:t>Why: 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answer ALL questions BEFORE the verdict — this forces step-by-step reasoning instead of pattern-matching.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8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THE METHOD   ·   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Second example — C/C++ use-after-free (CWE-416)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07040" cy="3383280"/>
          </a:xfrm>
          <a:prstGeom prst="rect">
            <a:avLst/>
          </a:prstGeom>
          <a:solidFill>
            <a:srgbClr val="161220"/>
          </a:solidFill>
          <a:ln w="9525">
            <a:solidFill>
              <a:srgbClr val="392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863448"/>
            <a:ext cx="10149840" cy="32557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 err="1">
                <a:solidFill>
                  <a:srgbClr val="B98AFF"/>
                </a:solidFill>
                <a:latin typeface="Consolas"/>
              </a:rPr>
              <a:t>cpp</a:t>
            </a:r>
            <a:r>
              <a:rPr sz="1400" b="0" dirty="0">
                <a:solidFill>
                  <a:srgbClr val="B98AFF"/>
                </a:solidFill>
                <a:latin typeface="Consolas"/>
              </a:rPr>
              <a:t>/use-after-free:          # lifetime, not taint — 10 questions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questions: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- "ANCHOR FIRST: quote the flagged line; classify it as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   pointer USE / </a:t>
            </a:r>
            <a:r>
              <a:rPr sz="1400" b="0" dirty="0" err="1">
                <a:solidFill>
                  <a:srgbClr val="ECE8F5"/>
                </a:solidFill>
                <a:latin typeface="Consolas"/>
              </a:rPr>
              <a:t>free·delete</a:t>
            </a:r>
            <a:r>
              <a:rPr sz="1400" b="0" dirty="0">
                <a:solidFill>
                  <a:srgbClr val="ECE8F5"/>
                </a:solidFill>
                <a:latin typeface="Consolas"/>
              </a:rPr>
              <a:t> / </a:t>
            </a:r>
            <a:r>
              <a:rPr sz="1400" b="0" dirty="0" err="1">
                <a:solidFill>
                  <a:srgbClr val="ECE8F5"/>
                </a:solidFill>
                <a:latin typeface="Consolas"/>
              </a:rPr>
              <a:t>signature·declaration</a:t>
            </a:r>
            <a:r>
              <a:rPr sz="1400" b="0" dirty="0">
                <a:solidFill>
                  <a:srgbClr val="ECE8F5"/>
                </a:solidFill>
                <a:latin typeface="Consolas"/>
              </a:rPr>
              <a:t>."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- "List ALL free()/delete reaching the use, with </a:t>
            </a:r>
            <a:r>
              <a:rPr sz="1400" b="0" dirty="0" err="1">
                <a:solidFill>
                  <a:srgbClr val="ECE8F5"/>
                </a:solidFill>
                <a:latin typeface="Consolas"/>
              </a:rPr>
              <a:t>file+line</a:t>
            </a:r>
            <a:r>
              <a:rPr sz="1400" b="0" dirty="0">
                <a:solidFill>
                  <a:srgbClr val="ECE8F5"/>
                </a:solidFill>
                <a:latin typeface="Consola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   If you can't enumerate them, request </a:t>
            </a:r>
            <a:r>
              <a:rPr sz="1400" b="0" dirty="0" err="1">
                <a:solidFill>
                  <a:srgbClr val="ECE8F5"/>
                </a:solidFill>
                <a:latin typeface="Consolas"/>
              </a:rPr>
              <a:t>free_sites</a:t>
            </a:r>
            <a:r>
              <a:rPr sz="1400" b="0" dirty="0">
                <a:solidFill>
                  <a:srgbClr val="ECE8F5"/>
                </a:solidFill>
                <a:latin typeface="Consolas"/>
              </a:rPr>
              <a:t>:&lt;</a:t>
            </a:r>
            <a:r>
              <a:rPr sz="1400" b="0" dirty="0" err="1">
                <a:solidFill>
                  <a:srgbClr val="ECE8F5"/>
                </a:solidFill>
                <a:latin typeface="Consolas"/>
              </a:rPr>
              <a:t>ptr</a:t>
            </a:r>
            <a:r>
              <a:rPr sz="1400" b="0" dirty="0">
                <a:solidFill>
                  <a:srgbClr val="ECE8F5"/>
                </a:solidFill>
                <a:latin typeface="Consolas"/>
              </a:rPr>
              <a:t>&gt;."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- "Shortest control-flow path free → use: reachable? NULL-set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   or re-allocated in between?"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ECE8F5"/>
                </a:solidFill>
                <a:latin typeface="Consolas"/>
              </a:rPr>
              <a:t>    - "DECISION RULE: mark FP ONLY with POSITIVE evidence of a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7A00FF"/>
                </a:solidFill>
                <a:latin typeface="Consolas"/>
              </a:rPr>
              <a:t>       defense. Pattern-only reasoning is NOT enough → prefer NMD."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B98AFF"/>
                </a:solidFill>
                <a:latin typeface="Consolas"/>
              </a:rPr>
              <a:t>  </a:t>
            </a:r>
            <a:r>
              <a:rPr sz="1400" b="0" dirty="0" err="1">
                <a:solidFill>
                  <a:srgbClr val="B98AFF"/>
                </a:solidFill>
                <a:latin typeface="Consolas"/>
              </a:rPr>
              <a:t>additional_context</a:t>
            </a:r>
            <a:r>
              <a:rPr sz="1400" b="0" dirty="0">
                <a:solidFill>
                  <a:srgbClr val="B98AFF"/>
                </a:solidFill>
                <a:latin typeface="Consolas"/>
              </a:rPr>
              <a:t>: [</a:t>
            </a:r>
            <a:r>
              <a:rPr sz="1400" b="0" dirty="0" err="1">
                <a:solidFill>
                  <a:srgbClr val="B98AFF"/>
                </a:solidFill>
                <a:latin typeface="Consolas"/>
              </a:rPr>
              <a:t>free_sites</a:t>
            </a:r>
            <a:r>
              <a:rPr sz="1400" b="0" dirty="0">
                <a:solidFill>
                  <a:srgbClr val="B98AFF"/>
                </a:solidFill>
                <a:latin typeface="Consolas"/>
              </a:rPr>
              <a:t>, caller, </a:t>
            </a:r>
            <a:r>
              <a:rPr sz="1400" b="0" dirty="0" err="1">
                <a:solidFill>
                  <a:srgbClr val="B98AFF"/>
                </a:solidFill>
                <a:latin typeface="Consolas"/>
              </a:rPr>
              <a:t>all_callers</a:t>
            </a:r>
            <a:r>
              <a:rPr sz="1400" b="0" dirty="0">
                <a:solidFill>
                  <a:srgbClr val="B98AFF"/>
                </a:solidFill>
                <a:latin typeface="Consolas"/>
              </a:rPr>
              <a:t>, struct,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0" dirty="0">
                <a:solidFill>
                  <a:srgbClr val="B98AFF"/>
                </a:solidFill>
                <a:latin typeface="Consolas"/>
              </a:rPr>
              <a:t>       callees, destructor, </a:t>
            </a:r>
            <a:r>
              <a:rPr sz="1400" b="0" dirty="0" err="1">
                <a:solidFill>
                  <a:srgbClr val="B98AFF"/>
                </a:solidFill>
                <a:latin typeface="Consolas"/>
              </a:rPr>
              <a:t>field_writes</a:t>
            </a:r>
            <a:r>
              <a:rPr sz="1400" b="0" dirty="0">
                <a:solidFill>
                  <a:srgbClr val="B98AFF"/>
                </a:solidFill>
                <a:latin typeface="Consolas"/>
              </a:rPr>
              <a:t>]      </a:t>
            </a:r>
            <a:r>
              <a:rPr sz="1400" b="0" dirty="0" err="1">
                <a:solidFill>
                  <a:srgbClr val="B98AFF"/>
                </a:solidFill>
                <a:latin typeface="Consolas"/>
              </a:rPr>
              <a:t>min_iterations</a:t>
            </a:r>
            <a:r>
              <a:rPr sz="1400" b="0" dirty="0">
                <a:solidFill>
                  <a:srgbClr val="B98AFF"/>
                </a:solidFill>
                <a:latin typeface="Consolas"/>
              </a:rPr>
              <a:t>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035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dirty="0">
                <a:solidFill>
                  <a:srgbClr val="ECE8F5"/>
                </a:solidFill>
                <a:latin typeface="Calibri"/>
              </a:rPr>
              <a:t>Injection asks  </a:t>
            </a:r>
            <a:r>
              <a:rPr sz="1600" b="1" dirty="0">
                <a:solidFill>
                  <a:srgbClr val="7A00FF"/>
                </a:solidFill>
                <a:latin typeface="Calibri"/>
              </a:rPr>
              <a:t>"where is the taint?"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     use-after-free asks  </a:t>
            </a:r>
            <a:r>
              <a:rPr sz="1600" b="1" dirty="0">
                <a:solidFill>
                  <a:srgbClr val="7A00FF"/>
                </a:solidFill>
                <a:latin typeface="Calibri"/>
              </a:rPr>
              <a:t>"who owns the lifetime?"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881360" cy="6204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dirty="0">
                <a:solidFill>
                  <a:srgbClr val="B98AFF"/>
                </a:solidFill>
                <a:latin typeface="Calibri"/>
              </a:rPr>
              <a:t>Why: 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a lifetime question needs free-site evidence, not a sink match — so the default for an undefended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free→use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is TP, and FP demands a cited defense.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5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THE METHOD   ·   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6001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dirty="0">
                <a:solidFill>
                  <a:srgbClr val="ECE8F5"/>
                </a:solidFill>
                <a:latin typeface="Calibri"/>
              </a:rPr>
              <a:t>The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468880"/>
            <a:ext cx="2057400" cy="1097280"/>
          </a:xfrm>
          <a:prstGeom prst="rect">
            <a:avLst/>
          </a:prstGeom>
          <a:solidFill>
            <a:srgbClr val="161220"/>
          </a:solidFill>
          <a:ln w="19050">
            <a:solidFill>
              <a:srgbClr val="B98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B98AFF"/>
                </a:solidFill>
                <a:latin typeface="Calibri"/>
              </a:rPr>
              <a:t>1 prepare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89782" y="2468880"/>
            <a:ext cx="2057400" cy="1097280"/>
          </a:xfrm>
          <a:prstGeom prst="rect">
            <a:avLst/>
          </a:prstGeom>
          <a:solidFill>
            <a:srgbClr val="161220"/>
          </a:solidFill>
          <a:ln w="19050">
            <a:solidFill>
              <a:srgbClr val="B98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89782" y="269748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dirty="0">
                <a:solidFill>
                  <a:srgbClr val="B98AFF"/>
                </a:solidFill>
                <a:latin typeface="Calibri"/>
              </a:rPr>
              <a:t>2 analyze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7549" y="2468880"/>
            <a:ext cx="2057400" cy="1097280"/>
          </a:xfrm>
          <a:prstGeom prst="rect">
            <a:avLst/>
          </a:prstGeom>
          <a:solidFill>
            <a:srgbClr val="161220"/>
          </a:solidFill>
          <a:ln w="19050">
            <a:solidFill>
              <a:srgbClr val="7A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97549" y="269748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dirty="0">
                <a:solidFill>
                  <a:srgbClr val="7A00FF"/>
                </a:solidFill>
                <a:latin typeface="Calibri"/>
              </a:rPr>
              <a:t>3 verify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6741" y="2468880"/>
            <a:ext cx="2057400" cy="1097280"/>
          </a:xfrm>
          <a:prstGeom prst="rect">
            <a:avLst/>
          </a:prstGeom>
          <a:solidFill>
            <a:srgbClr val="161220"/>
          </a:solidFill>
          <a:ln w="19050">
            <a:solidFill>
              <a:srgbClr val="B98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76741" y="2697480"/>
            <a:ext cx="2057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B98AFF"/>
                </a:solidFill>
                <a:latin typeface="Calibri"/>
              </a:rPr>
              <a:t>4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77639"/>
            <a:ext cx="10607040" cy="13988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2000" b="1" dirty="0">
                <a:solidFill>
                  <a:srgbClr val="B98AFF"/>
                </a:solidFill>
                <a:latin typeface="Calibri"/>
              </a:rPr>
              <a:t>Stages 1–2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 ordinary SAST (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CodeQL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/ 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Semgrep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/ 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OpenGrep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)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2000" b="1" dirty="0">
                <a:solidFill>
                  <a:srgbClr val="7A00FF"/>
                </a:solidFill>
                <a:latin typeface="Calibri"/>
              </a:rPr>
              <a:t>Stage 3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 the LLM verification this talk is about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2000" b="1" dirty="0">
                <a:solidFill>
                  <a:srgbClr val="3FB950"/>
                </a:solidFill>
                <a:latin typeface="Calibri"/>
              </a:rPr>
              <a:t>Stages 5–8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 optional: PROVE the bug with a crash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6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THE METHOD   ·   1.5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Stages 1–4 · detection → verified triage</a:t>
            </a:r>
          </a:p>
        </p:txBody>
      </p:sp>
      <p:pic>
        <p:nvPicPr>
          <p:cNvPr id="7" name="Picture 6" descr="pipeline-2s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77965"/>
            <a:ext cx="10881360" cy="14164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97880"/>
            <a:ext cx="10881360" cy="317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 dirty="0">
                <a:solidFill>
                  <a:srgbClr val="8E869E"/>
                </a:solidFill>
                <a:latin typeface="Calibri"/>
              </a:rPr>
              <a:t>Dotted line = pre-extracted context CSVs feeding multi-turn verification.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9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THE METHOD   ·   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Answer-before-verdict — the core trick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07040" cy="2926080"/>
          </a:xfrm>
          <a:prstGeom prst="rect">
            <a:avLst/>
          </a:prstGeom>
          <a:solidFill>
            <a:srgbClr val="161220"/>
          </a:solidFill>
          <a:ln w="9525">
            <a:solidFill>
              <a:srgbClr val="392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267712"/>
            <a:ext cx="10149840" cy="2461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ECE8F5"/>
                </a:solidFill>
                <a:latin typeface="Consolas"/>
              </a:rPr>
              <a:t>{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B98AFF"/>
                </a:solidFill>
                <a:latin typeface="Consolas"/>
              </a:rPr>
              <a:t>  "answers":   [ "sink at L88; var=path", ... ],   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B98AFF"/>
                </a:solidFill>
                <a:latin typeface="Consolas"/>
              </a:rPr>
              <a:t>  "</a:t>
            </a:r>
            <a:r>
              <a:rPr sz="1600" b="0" dirty="0" err="1">
                <a:solidFill>
                  <a:srgbClr val="B98AFF"/>
                </a:solidFill>
                <a:latin typeface="Consolas"/>
              </a:rPr>
              <a:t>data_flow</a:t>
            </a:r>
            <a:r>
              <a:rPr sz="1600" b="0" dirty="0">
                <a:solidFill>
                  <a:srgbClr val="B98AFF"/>
                </a:solidFill>
                <a:latin typeface="Consolas"/>
              </a:rPr>
              <a:t>": "</a:t>
            </a:r>
            <a:r>
              <a:rPr sz="1600" b="0" dirty="0" err="1">
                <a:solidFill>
                  <a:srgbClr val="B98AFF"/>
                </a:solidFill>
                <a:latin typeface="Consolas"/>
              </a:rPr>
              <a:t>req.args</a:t>
            </a:r>
            <a:r>
              <a:rPr sz="1600" b="0" dirty="0">
                <a:solidFill>
                  <a:srgbClr val="B98AFF"/>
                </a:solidFill>
                <a:latin typeface="Consolas"/>
              </a:rPr>
              <a:t> (L10) → join (L15) → open (L88)",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8E869E"/>
                </a:solidFill>
                <a:latin typeface="Consolas"/>
              </a:rPr>
              <a:t>  // ^ evidence is generated FIRST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7A00FF"/>
                </a:solidFill>
                <a:latin typeface="Consolas"/>
              </a:rPr>
              <a:t>  "verdict":    "False Positive",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7A00FF"/>
                </a:solidFill>
                <a:latin typeface="Consolas"/>
              </a:rPr>
              <a:t>  "confidence": "High",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ECE8F5"/>
                </a:solidFill>
                <a:latin typeface="Consolas"/>
              </a:rPr>
              <a:t>  "reasoning":  "</a:t>
            </a:r>
            <a:r>
              <a:rPr sz="1600" b="0" dirty="0" err="1">
                <a:solidFill>
                  <a:srgbClr val="ECE8F5"/>
                </a:solidFill>
                <a:latin typeface="Consolas"/>
              </a:rPr>
              <a:t>secure_filename</a:t>
            </a:r>
            <a:r>
              <a:rPr sz="1600" b="0" dirty="0">
                <a:solidFill>
                  <a:srgbClr val="ECE8F5"/>
                </a:solidFill>
                <a:latin typeface="Consolas"/>
              </a:rPr>
              <a:t> neutralizes traversal (L14)"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ECE8F5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578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dirty="0">
                <a:solidFill>
                  <a:srgbClr val="8E869E"/>
                </a:solidFill>
                <a:latin typeface="Calibri"/>
              </a:rPr>
              <a:t>Verdict token is conditioned on cited evidence. No citation → confidence downgraded.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10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THE METHOD   ·   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Context broker + multi-turn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607040" cy="21083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400" b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>
                <a:solidFill>
                  <a:srgbClr val="ECE8F5"/>
                </a:solidFill>
                <a:latin typeface="Calibri"/>
              </a:rPr>
              <a:t>Need more? Model requests from a FIXED vocabulary: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b="0">
                <a:solidFill>
                  <a:srgbClr val="B98AFF"/>
                </a:solidFill>
                <a:latin typeface="Calibri"/>
              </a:rPr>
              <a:t>      ·  </a:t>
            </a:r>
            <a:r>
              <a:rPr b="0">
                <a:solidFill>
                  <a:srgbClr val="8E869E"/>
                </a:solidFill>
                <a:latin typeface="Calibri"/>
              </a:rPr>
              <a:t>caller:  ·  struct:  ·  global:  ·  free_sites:  ·  callees:  ·  destructor: …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400" b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>
                <a:solidFill>
                  <a:srgbClr val="ECE8F5"/>
                </a:solidFill>
                <a:latin typeface="Calibri"/>
              </a:rPr>
              <a:t>Resolved from pre-extracted CSVs (tree-sitter fallback) — never re-runs SAST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400" b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>
                <a:solidFill>
                  <a:srgbClr val="ECE8F5"/>
                </a:solidFill>
                <a:latin typeface="Calibri"/>
              </a:rPr>
              <a:t>So multi-turn costs tokens, not another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00600"/>
            <a:ext cx="5120640" cy="1280160"/>
          </a:xfrm>
          <a:prstGeom prst="rect">
            <a:avLst/>
          </a:prstGeom>
          <a:solidFill>
            <a:srgbClr val="16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4983480"/>
            <a:ext cx="4754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7A00FF"/>
                </a:solidFill>
                <a:latin typeface="Calibri"/>
              </a:rPr>
              <a:t>2.74</a:t>
            </a:r>
            <a:r>
              <a:rPr sz="1700" b="0">
                <a:solidFill>
                  <a:srgbClr val="ECE8F5"/>
                </a:solidFill>
                <a:latin typeface="Calibri"/>
              </a:rPr>
              <a:t>  mean turns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4800600"/>
            <a:ext cx="5120640" cy="1280160"/>
          </a:xfrm>
          <a:prstGeom prst="rect">
            <a:avLst/>
          </a:prstGeom>
          <a:solidFill>
            <a:srgbClr val="16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4983480"/>
            <a:ext cx="4754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7A00FF"/>
                </a:solidFill>
                <a:latin typeface="Calibri"/>
              </a:rPr>
              <a:t>0.8%</a:t>
            </a:r>
            <a:r>
              <a:rPr sz="1700" b="0">
                <a:solidFill>
                  <a:srgbClr val="ECE8F5"/>
                </a:solidFill>
                <a:latin typeface="Calibri"/>
              </a:rPr>
              <a:t>  forced decisions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11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THE METHOD   ·   1.5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Where context comes from · context_extractor.py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057400"/>
            <a:ext cx="2331720" cy="960120"/>
          </a:xfrm>
          <a:prstGeom prst="rect">
            <a:avLst/>
          </a:prstGeom>
          <a:solidFill>
            <a:srgbClr val="161220"/>
          </a:solidFill>
          <a:ln w="19050">
            <a:solidFill>
              <a:srgbClr val="B98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B98AFF"/>
                </a:solidFill>
                <a:latin typeface="Calibri"/>
              </a:rPr>
              <a:t>CodeQL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B98AFF"/>
                </a:solidFill>
                <a:latin typeface="Calibri"/>
              </a:rPr>
              <a:t>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2194560"/>
            <a:ext cx="5669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0">
                <a:solidFill>
                  <a:srgbClr val="8E869E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057400"/>
            <a:ext cx="2331720" cy="960120"/>
          </a:xfrm>
          <a:prstGeom prst="rect">
            <a:avLst/>
          </a:prstGeom>
          <a:solidFill>
            <a:srgbClr val="161220"/>
          </a:solidFill>
          <a:ln w="19050">
            <a:solidFill>
              <a:srgbClr val="7A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205740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7A00FF"/>
                </a:solidFill>
                <a:latin typeface="Calibri"/>
              </a:rPr>
              <a:t>codeql query run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7A00FF"/>
                </a:solidFill>
                <a:latin typeface="Calibri"/>
              </a:rPr>
              <a:t>→ bqrs decode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61303" y="2194560"/>
            <a:ext cx="5669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0">
                <a:solidFill>
                  <a:srgbClr val="8E869E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79" y="2057400"/>
            <a:ext cx="2331720" cy="960120"/>
          </a:xfrm>
          <a:prstGeom prst="rect">
            <a:avLst/>
          </a:prstGeom>
          <a:solidFill>
            <a:srgbClr val="161220"/>
          </a:solidFill>
          <a:ln w="19050">
            <a:solidFill>
              <a:srgbClr val="B98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79" y="205740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B98AFF"/>
                </a:solidFill>
                <a:latin typeface="Calibri"/>
              </a:rPr>
              <a:t>per-type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B98AFF"/>
                </a:solidFill>
                <a:latin typeface="Calibri"/>
              </a:rPr>
              <a:t>*.csv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0224" y="2194560"/>
            <a:ext cx="5669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0">
                <a:solidFill>
                  <a:srgbClr val="8E869E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2057400"/>
            <a:ext cx="2331720" cy="960120"/>
          </a:xfrm>
          <a:prstGeom prst="rect">
            <a:avLst/>
          </a:prstGeom>
          <a:solidFill>
            <a:srgbClr val="161220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0" y="205740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3FB950"/>
                </a:solidFill>
                <a:latin typeface="Calibri"/>
              </a:rPr>
              <a:t>multi-turn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3FB950"/>
                </a:solidFill>
                <a:latin typeface="Calibri"/>
              </a:rPr>
              <a:t>broker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520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ECE8F5"/>
                </a:solidFill>
                <a:latin typeface="Calibri"/>
              </a:rPr>
              <a:t>Context types extracted per language  </a:t>
            </a:r>
            <a:r>
              <a:rPr sz="1500" b="0">
                <a:solidFill>
                  <a:srgbClr val="8E869E"/>
                </a:solidFill>
                <a:latin typeface="Consolas"/>
              </a:rPr>
              <a:t>(QUERIES_BY_LANG)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069080"/>
            <a:ext cx="10698480" cy="960120"/>
          </a:xfrm>
          <a:prstGeom prst="rect">
            <a:avLst/>
          </a:prstGeom>
          <a:solidFill>
            <a:srgbClr val="161220"/>
          </a:solidFill>
          <a:ln w="12700">
            <a:solidFill>
              <a:srgbClr val="7A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4176218"/>
            <a:ext cx="10332720" cy="7458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1" dirty="0">
                <a:solidFill>
                  <a:srgbClr val="7A00FF"/>
                </a:solidFill>
                <a:latin typeface="Calibri"/>
              </a:rPr>
              <a:t>C / C++  (8)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b="0" dirty="0">
                <a:solidFill>
                  <a:srgbClr val="ECE8F5"/>
                </a:solidFill>
                <a:latin typeface="Calibri"/>
              </a:rPr>
              <a:t>functions · callers · structs · </a:t>
            </a:r>
            <a:r>
              <a:rPr b="0" dirty="0" err="1">
                <a:solidFill>
                  <a:srgbClr val="ECE8F5"/>
                </a:solidFill>
                <a:latin typeface="Calibri"/>
              </a:rPr>
              <a:t>globals</a:t>
            </a:r>
            <a:r>
              <a:rPr b="0" dirty="0">
                <a:solidFill>
                  <a:srgbClr val="ECE8F5"/>
                </a:solidFill>
                <a:latin typeface="Calibri"/>
              </a:rPr>
              <a:t> · macros · </a:t>
            </a:r>
            <a:r>
              <a:rPr b="1" dirty="0" err="1">
                <a:solidFill>
                  <a:srgbClr val="B98AFF"/>
                </a:solidFill>
                <a:latin typeface="Calibri"/>
              </a:rPr>
              <a:t>free_sites</a:t>
            </a:r>
            <a:r>
              <a:rPr b="1" dirty="0">
                <a:solidFill>
                  <a:srgbClr val="B98AFF"/>
                </a:solidFill>
                <a:latin typeface="Calibri"/>
              </a:rPr>
              <a:t> · destructors · </a:t>
            </a:r>
            <a:r>
              <a:rPr b="1" dirty="0" err="1">
                <a:solidFill>
                  <a:srgbClr val="B98AFF"/>
                </a:solidFill>
                <a:latin typeface="Calibri"/>
              </a:rPr>
              <a:t>field_writes</a:t>
            </a:r>
            <a:endParaRPr b="1" dirty="0">
              <a:solidFill>
                <a:srgbClr val="B98AFF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solidFill>
            <a:srgbClr val="16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5190873"/>
            <a:ext cx="10332720" cy="6824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b="1" dirty="0">
                <a:solidFill>
                  <a:srgbClr val="7A00FF"/>
                </a:solidFill>
                <a:latin typeface="Calibri"/>
              </a:rPr>
              <a:t>Python / JS / Java / Go / PHP  (3)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 dirty="0">
                <a:solidFill>
                  <a:srgbClr val="ECE8F5"/>
                </a:solidFill>
                <a:latin typeface="Calibri"/>
              </a:rPr>
              <a:t>functions · callers · classes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0350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8E869E"/>
                </a:solidFill>
                <a:latin typeface="Calibri"/>
              </a:rPr>
              <a:t>The use-after-free questions request free_sites / destructors / field_writes — exactly these CSVs.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32D5C4-C5EE-239F-E06D-D925802CD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4E1335-0839-3F8F-3F46-30C0A512779E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EC19B4-946C-C0C2-E87E-57CB91B9A81C}"/>
              </a:ext>
            </a:extLst>
          </p:cNvPr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github.com/vinsoc-cyber/VulnHunterX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81A47-4F59-BB99-70EE-BEB6DEBCA63F}"/>
              </a:ext>
            </a:extLst>
          </p:cNvPr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32 / 33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1A1274-E6CC-2C8B-E1CF-BD4457CB92CF}"/>
              </a:ext>
            </a:extLst>
          </p:cNvPr>
          <p:cNvSpPr txBox="1"/>
          <p:nvPr/>
        </p:nvSpPr>
        <p:spPr>
          <a:xfrm>
            <a:off x="502920" y="384048"/>
            <a:ext cx="8229600" cy="2933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 dirty="0">
                <a:ln>
                  <a:noFill/>
                </a:ln>
                <a:solidFill>
                  <a:srgbClr val="7A00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INSIDE THE CONVERSATION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6B7F91-22D9-C50D-D606-BF91270FF393}"/>
              </a:ext>
            </a:extLst>
          </p:cNvPr>
          <p:cNvSpPr txBox="1"/>
          <p:nvPr/>
        </p:nvSpPr>
        <p:spPr>
          <a:xfrm>
            <a:off x="7498079" y="384048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>
                <a:ln>
                  <a:noFill/>
                </a:ln>
                <a:solidFill>
                  <a:srgbClr val="B98A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FP · conf 0.95 · 2 turns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C426CD-70C9-C74B-EBA5-C7DA978B4224}"/>
              </a:ext>
            </a:extLst>
          </p:cNvPr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Real trace #1 — log-injection → False Positive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A8F50B-8693-41B3-B7F2-191F11A99DA0}"/>
              </a:ext>
            </a:extLst>
          </p:cNvPr>
          <p:cNvSpPr/>
          <p:nvPr/>
        </p:nvSpPr>
        <p:spPr>
          <a:xfrm>
            <a:off x="777240" y="1965960"/>
            <a:ext cx="10607040" cy="3200400"/>
          </a:xfrm>
          <a:prstGeom prst="rect">
            <a:avLst/>
          </a:prstGeom>
          <a:solidFill>
            <a:srgbClr val="161220"/>
          </a:solidFill>
          <a:ln w="9525">
            <a:solidFill>
              <a:srgbClr val="392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0E66C9-63BA-32D8-5B1A-6D7B246BD306}"/>
              </a:ext>
            </a:extLst>
          </p:cNvPr>
          <p:cNvSpPr txBox="1"/>
          <p:nvPr/>
        </p:nvSpPr>
        <p:spPr>
          <a:xfrm>
            <a:off x="1005840" y="2130552"/>
            <a:ext cx="10149840" cy="2988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go/log-injection · merchant_be.go:92 · "depends on a user-provided value"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98A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T1  answer the 6 guided Qs  →  verdict: Needs More Data  (Low, 0.30)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context_needed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: [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callees:MaskMerchantKey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               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callees:MaskSensitive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               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callees:extractContextFields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]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⟶ engine resolves each from pre-extracted CSVs: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callees:MaskSensitive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→  "[No callees found]"   (×3)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3FB95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T2  re-examine with new context  →  verdict: False Positive  (High, 0.95)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488502-5A35-E908-6B9E-C3A744447AF5}"/>
              </a:ext>
            </a:extLst>
          </p:cNvPr>
          <p:cNvSpPr txBox="1"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3FB95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Reasoning  </a:t>
            </a: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user input is logged exclusively as structured zap fields (zap.String) — never interpolated into the message. zap's encoder escapes control characters, so newline injection can't forge log entries.</a:t>
            </a:r>
          </a:p>
        </p:txBody>
      </p:sp>
    </p:spTree>
    <p:extLst>
      <p:ext uri="{BB962C8B-B14F-4D97-AF65-F5344CB8AC3E}">
        <p14:creationId xmlns:p14="http://schemas.microsoft.com/office/powerpoint/2010/main" val="3198186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61E8BE-522A-410D-D862-165A6BA14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1AEA79-5D77-69A5-FFC9-B21E4FB61ACD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10D54E-20D0-D537-3858-8ADE5181B0DE}"/>
              </a:ext>
            </a:extLst>
          </p:cNvPr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github.com/vinsoc-cyber/VulnHunterX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D667B5-77DF-4EF7-B99E-2B218B51A546}"/>
              </a:ext>
            </a:extLst>
          </p:cNvPr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33 / 33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2F479C-B1E6-BB7B-93CA-2A56061298F6}"/>
              </a:ext>
            </a:extLst>
          </p:cNvPr>
          <p:cNvSpPr txBox="1"/>
          <p:nvPr/>
        </p:nvSpPr>
        <p:spPr>
          <a:xfrm>
            <a:off x="502920" y="384048"/>
            <a:ext cx="8229600" cy="2933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 dirty="0">
                <a:ln>
                  <a:noFill/>
                </a:ln>
                <a:solidFill>
                  <a:srgbClr val="7A00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INSIDE THE CONVERSATION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2479E8-EC57-0F7E-B5C0-54ED7333AB61}"/>
              </a:ext>
            </a:extLst>
          </p:cNvPr>
          <p:cNvSpPr txBox="1"/>
          <p:nvPr/>
        </p:nvSpPr>
        <p:spPr>
          <a:xfrm>
            <a:off x="7498079" y="384048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>
                <a:ln>
                  <a:noFill/>
                </a:ln>
                <a:solidFill>
                  <a:srgbClr val="B98A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TP · conf 0.65 · 2 turns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94BCDB-9393-B9FC-6AE4-BF0F0DC58936}"/>
              </a:ext>
            </a:extLst>
          </p:cNvPr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Real trace #2 — clear-text-logging → True Positive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2CC15F-8C6B-AEE6-0A56-73F90C8C23A0}"/>
              </a:ext>
            </a:extLst>
          </p:cNvPr>
          <p:cNvSpPr/>
          <p:nvPr/>
        </p:nvSpPr>
        <p:spPr>
          <a:xfrm>
            <a:off x="777240" y="1965960"/>
            <a:ext cx="10607040" cy="3200400"/>
          </a:xfrm>
          <a:prstGeom prst="rect">
            <a:avLst/>
          </a:prstGeom>
          <a:solidFill>
            <a:srgbClr val="161220"/>
          </a:solidFill>
          <a:ln w="9525">
            <a:solidFill>
              <a:srgbClr val="392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75CCAE-62AE-6C30-D186-253FF40145F1}"/>
              </a:ext>
            </a:extLst>
          </p:cNvPr>
          <p:cNvSpPr txBox="1"/>
          <p:nvPr/>
        </p:nvSpPr>
        <p:spPr>
          <a:xfrm>
            <a:off x="1005840" y="2130552"/>
            <a:ext cx="10149840" cy="27218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go/clear-text-logging · logger.go:46 · HTTP headers →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cl.logger.Info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(…)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B98A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T1  answer the 10 guided Qs  →  verdict: Needs More Data  (Medium, 0.60)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context_needed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: [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callees:extractContextFields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                code lines 30-31, 41-44 ]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⟶ engine resolves from pre-extracted CSVs: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callees:extractContextFields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→  "[No callees found]"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ECE8F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</a:t>
            </a:r>
          </a:p>
          <a:p>
            <a:pPr marL="0" marR="0" lvl="0" indent="0" algn="l" defTabSz="4572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85149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T2  re-examine with new context  →  verdict: True Positive  (Medium, 0.65)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D3A2A3-6876-6A5A-65A2-7687828AB427}"/>
              </a:ext>
            </a:extLst>
          </p:cNvPr>
          <p:cNvSpPr txBox="1"/>
          <p:nvPr/>
        </p:nvSpPr>
        <p:spPr>
          <a:xfrm>
            <a:off x="777240" y="5212080"/>
            <a:ext cx="10698480" cy="61183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F8514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Reasoning 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HTTP-header data reaches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cl.logger.Info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with no visible sanitization; the only transform, </a:t>
            </a:r>
            <a:r>
              <a:rPr kumimoji="0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extractContextFields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has no known callees — so no defense can be confirmed. Evidence supports information disclosure.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0B77C5-5545-7D49-6C40-BA4789F152B6}"/>
              </a:ext>
            </a:extLst>
          </p:cNvPr>
          <p:cNvSpPr txBox="1"/>
          <p:nvPr/>
        </p:nvSpPr>
        <p:spPr>
          <a:xfrm>
            <a:off x="777240" y="5989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 dirty="0">
                <a:ln>
                  <a:noFill/>
                </a:ln>
                <a:solidFill>
                  <a:srgbClr val="B98A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Same mechanism, same “[No callees found]” — opposite verdicts.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8E869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verdict follows the reasoning about the visible defense, not a pattern.</a:t>
            </a:r>
          </a:p>
        </p:txBody>
      </p:sp>
    </p:spTree>
    <p:extLst>
      <p:ext uri="{BB962C8B-B14F-4D97-AF65-F5344CB8AC3E}">
        <p14:creationId xmlns:p14="http://schemas.microsoft.com/office/powerpoint/2010/main" val="2846811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12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THE EVIDENCE   ·   2.5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Precision roughly doubles; FP load collapses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476117"/>
              </p:ext>
            </p:extLst>
          </p:nvPr>
        </p:nvGraphicFramePr>
        <p:xfrm>
          <a:off x="777240" y="2286000"/>
          <a:ext cx="10607038" cy="2139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80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50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31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83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7939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raw-SAST  P / F1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VulnHunterX  P / F1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FP-reduction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ECE8F5"/>
                          </a:solidFill>
                          <a:latin typeface="Calibri"/>
                        </a:rPr>
                        <a:t>OWASP-Python (300)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ECE8F5"/>
                          </a:solidFill>
                          <a:latin typeface="Calibri"/>
                        </a:rPr>
                        <a:t>37.7 / 54.7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87.3 / 92.4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91.4%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ECE8F5"/>
                          </a:solidFill>
                          <a:latin typeface="Calibri"/>
                        </a:rPr>
                        <a:t>OWASP-Java (full)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ECE8F5"/>
                          </a:solidFill>
                          <a:latin typeface="Calibri"/>
                        </a:rPr>
                        <a:t>90.0 / 94.7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97.7 / 96.6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ECE8F5"/>
                          </a:solidFill>
                          <a:latin typeface="Calibri"/>
                        </a:rPr>
                        <a:t>Juliet C/C++ (full)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ECE8F5"/>
                          </a:solidFill>
                          <a:latin typeface="Calibri"/>
                        </a:rPr>
                        <a:t>50.0 / 66.7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83.8 / 88.5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82.2%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40">
                <a:tc>
                  <a:txBody>
                    <a:bodyPr/>
                    <a:lstStyle/>
                    <a:p>
                      <a:pPr algn="l"/>
                      <a:r>
                        <a:rPr sz="2000" b="1" dirty="0" err="1">
                          <a:solidFill>
                            <a:srgbClr val="ECE8F5"/>
                          </a:solidFill>
                          <a:latin typeface="Calibri"/>
                        </a:rPr>
                        <a:t>SecLLMHolmes</a:t>
                      </a:r>
                      <a:r>
                        <a:rPr sz="2000" b="1" dirty="0">
                          <a:solidFill>
                            <a:srgbClr val="ECE8F5"/>
                          </a:solidFill>
                          <a:latin typeface="Calibri"/>
                        </a:rPr>
                        <a:t> (228)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ECE8F5"/>
                          </a:solidFill>
                          <a:latin typeface="Calibri"/>
                        </a:rPr>
                        <a:t>52.3 / 68.7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82.1 / 84.7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B98AFF"/>
                          </a:solidFill>
                          <a:latin typeface="Calibri"/>
                        </a:rPr>
                        <a:t>79.4%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2120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8E869E"/>
                </a:solidFill>
                <a:latin typeface="Calibri"/>
              </a:rPr>
              <a:t>Every cell is quoted from a published run file (vulnhunterx, best model per row).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13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THE EVIDENCE   ·   2.5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Small beats big · cheap beats expensive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7330230"/>
              </p:ext>
            </p:extLst>
          </p:nvPr>
        </p:nvGraphicFramePr>
        <p:xfrm>
          <a:off x="1005840" y="2377440"/>
          <a:ext cx="10058399" cy="2139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122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30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30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7939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OWASP-Python F1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ECE8F5"/>
                          </a:solidFill>
                          <a:latin typeface="Calibri"/>
                        </a:rPr>
                        <a:t>DeepSeek-v4-flash  ($0 pass-through)</a:t>
                      </a:r>
                    </a:p>
                  </a:txBody>
                  <a:tcPr marT="25400" marB="25400">
                    <a:solidFill>
                      <a:srgbClr val="122A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92.4%</a:t>
                      </a:r>
                    </a:p>
                  </a:txBody>
                  <a:tcPr marT="25400" marB="25400">
                    <a:solidFill>
                      <a:srgbClr val="122A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ECE8F5"/>
                          </a:solidFill>
                          <a:latin typeface="Calibri"/>
                        </a:rPr>
                        <a:t>~$0.40 / 300</a:t>
                      </a:r>
                    </a:p>
                  </a:txBody>
                  <a:tcPr marT="25400" marB="25400">
                    <a:solidFill>
                      <a:srgbClr val="122A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algn="l"/>
                      <a:r>
                        <a:rPr sz="2000" b="1" dirty="0">
                          <a:solidFill>
                            <a:srgbClr val="ECE8F5"/>
                          </a:solidFill>
                          <a:latin typeface="Calibri"/>
                        </a:rPr>
                        <a:t>gpt-4.1-mini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89.4%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ECE8F5"/>
                          </a:solidFill>
                          <a:latin typeface="Calibri"/>
                        </a:rPr>
                        <a:t>~$1.10 / 300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ECE8F5"/>
                          </a:solidFill>
                          <a:latin typeface="Calibri"/>
                        </a:rPr>
                        <a:t>Qwen3-Coder  (local)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78.7%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ECE8F5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40">
                <a:tc>
                  <a:txBody>
                    <a:bodyPr/>
                    <a:lstStyle/>
                    <a:p>
                      <a:pPr algn="l"/>
                      <a:r>
                        <a:rPr sz="2000" b="1" dirty="0">
                          <a:solidFill>
                            <a:srgbClr val="ECE8F5"/>
                          </a:solidFill>
                          <a:latin typeface="Calibri"/>
                        </a:rPr>
                        <a:t>GPT-5  (</a:t>
                      </a:r>
                      <a:r>
                        <a:rPr sz="2000" b="1" dirty="0" err="1">
                          <a:solidFill>
                            <a:srgbClr val="ECE8F5"/>
                          </a:solidFill>
                          <a:latin typeface="Calibri"/>
                        </a:rPr>
                        <a:t>SecLLMHolmes</a:t>
                      </a:r>
                      <a:r>
                        <a:rPr sz="2000" b="1" dirty="0">
                          <a:solidFill>
                            <a:srgbClr val="ECE8F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T="25400" marB="25400">
                    <a:solidFill>
                      <a:srgbClr val="2A14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B98AFF"/>
                          </a:solidFill>
                          <a:latin typeface="Calibri"/>
                        </a:rPr>
                        <a:t>82.0%</a:t>
                      </a:r>
                    </a:p>
                  </a:txBody>
                  <a:tcPr marT="25400" marB="25400">
                    <a:solidFill>
                      <a:srgbClr val="2A14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ECE8F5"/>
                          </a:solidFill>
                          <a:latin typeface="Calibri"/>
                        </a:rPr>
                        <a:t>~$16.75 / 228</a:t>
                      </a:r>
                    </a:p>
                  </a:txBody>
                  <a:tcPr marT="25400" marB="25400">
                    <a:solidFill>
                      <a:srgbClr val="2A1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05840" y="52120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ECE8F5"/>
                </a:solidFill>
                <a:latin typeface="Calibri"/>
              </a:rPr>
              <a:t>The $0 model wins. GPT-5 costs ~$17 / 228 findings and doesn't lead.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14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THE EVIDENCE   ·   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Ablation honesty — where it doesn't dominate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10607040" cy="27380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Biggest jump: raw-SAST → ANY multi-turn LLM  (~20 F1 points)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Zero-shot is already surprisingly strong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Guided questions add the hard-case tail  (~3–5 pts recall)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b="0" dirty="0">
                <a:solidFill>
                  <a:srgbClr val="B98AFF"/>
                </a:solidFill>
                <a:latin typeface="Calibri"/>
              </a:rPr>
              <a:t>      ·  </a:t>
            </a:r>
            <a:r>
              <a:rPr b="0" dirty="0">
                <a:solidFill>
                  <a:srgbClr val="8E869E"/>
                </a:solidFill>
                <a:latin typeface="Calibri"/>
              </a:rPr>
              <a:t>On synthetic Juliet, generic questions even edge out specific ones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Saying where you DON'T win is what earns the room's trust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15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LIVE DEMO   ·   1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Live demo — the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607040" cy="314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Two targets side-by-side (mirrors examples/pipeline_python.py):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b="0" dirty="0">
                <a:solidFill>
                  <a:srgbClr val="B98AFF"/>
                </a:solidFill>
                <a:latin typeface="Calibri"/>
              </a:rPr>
              <a:t>      ·  </a:t>
            </a:r>
            <a:r>
              <a:rPr b="0" dirty="0">
                <a:solidFill>
                  <a:srgbClr val="8E869E"/>
                </a:solidFill>
                <a:latin typeface="Calibri"/>
              </a:rPr>
              <a:t>a benign real-world library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b="0" dirty="0">
                <a:solidFill>
                  <a:srgbClr val="B98AFF"/>
                </a:solidFill>
                <a:latin typeface="Calibri"/>
              </a:rPr>
              <a:t>      ·  </a:t>
            </a:r>
            <a:r>
              <a:rPr b="0" dirty="0">
                <a:solidFill>
                  <a:srgbClr val="8E869E"/>
                </a:solidFill>
                <a:latin typeface="Calibri"/>
              </a:rPr>
              <a:t>a deliberately vulnerable app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Success criteria, stated out loud: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b="0" dirty="0">
                <a:solidFill>
                  <a:srgbClr val="B98AFF"/>
                </a:solidFill>
                <a:latin typeface="Calibri"/>
              </a:rPr>
              <a:t>      ·  </a:t>
            </a:r>
            <a:r>
              <a:rPr b="0" dirty="0">
                <a:solidFill>
                  <a:srgbClr val="8E869E"/>
                </a:solidFill>
                <a:latin typeface="Calibri"/>
              </a:rPr>
              <a:t>the real bug SURVIVES as a TP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b="0" dirty="0">
                <a:solidFill>
                  <a:srgbClr val="B98AFF"/>
                </a:solidFill>
                <a:latin typeface="Calibri"/>
              </a:rPr>
              <a:t>      ·  </a:t>
            </a:r>
            <a:r>
              <a:rPr b="0" dirty="0">
                <a:solidFill>
                  <a:srgbClr val="8E869E"/>
                </a:solidFill>
                <a:latin typeface="Calibri"/>
              </a:rPr>
              <a:t>a scary-looking benign finding (like the FPs on slide 3) gets KILLED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b="0" dirty="0">
                <a:solidFill>
                  <a:srgbClr val="B98AFF"/>
                </a:solidFill>
                <a:latin typeface="Calibri"/>
              </a:rPr>
              <a:t>      ·  </a:t>
            </a:r>
            <a:r>
              <a:rPr b="0" dirty="0">
                <a:solidFill>
                  <a:srgbClr val="8E869E"/>
                </a:solidFill>
                <a:latin typeface="Calibri"/>
              </a:rPr>
              <a:t>both with cited reasoning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16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LIVE DEMO   ·   6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Live demo — run  ·  vuln-hunter-x verify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10607040" cy="23619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1.  A benign finding — KILLED as FP, with the cited reason</a:t>
            </a:r>
          </a:p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2.  A real bug — SURVIVES as TP, with a data-flow trace</a:t>
            </a:r>
          </a:p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3.  A live multi-turn context request (caller: / struct:) → revised verdict</a:t>
            </a:r>
          </a:p>
          <a:p>
            <a:pPr algn="l">
              <a:lnSpc>
                <a:spcPct val="108000"/>
              </a:lnSpc>
              <a:spcAft>
                <a:spcPts val="18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4.  Confidence downgrade catching a thin, pattern-matched verdict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29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85149"/>
                </a:solidFill>
                <a:latin typeface="Calibri"/>
              </a:rPr>
              <a:t>BACKUP (rehearse): </a:t>
            </a:r>
            <a:r>
              <a:rPr sz="1700" b="0">
                <a:solidFill>
                  <a:srgbClr val="8E869E"/>
                </a:solidFill>
                <a:latin typeface="Calibri"/>
              </a:rPr>
              <a:t>pre-recorded screencast + cached verdict JSON — floor network WILL flake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17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LIVE DEMO   ·   2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Payoff: from opinion to crashing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10607040" cy="21852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For a C/C++ true positive, stages 5–8 run automatically: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b="0" dirty="0">
                <a:solidFill>
                  <a:srgbClr val="B98AFF"/>
                </a:solidFill>
                <a:latin typeface="Calibri"/>
              </a:rPr>
              <a:t>      ·  </a:t>
            </a:r>
            <a:r>
              <a:rPr b="0" dirty="0">
                <a:solidFill>
                  <a:srgbClr val="8E869E"/>
                </a:solidFill>
                <a:latin typeface="Calibri"/>
              </a:rPr>
              <a:t>generate </a:t>
            </a:r>
            <a:r>
              <a:rPr b="0" dirty="0" err="1">
                <a:solidFill>
                  <a:srgbClr val="8E869E"/>
                </a:solidFill>
                <a:latin typeface="Calibri"/>
              </a:rPr>
              <a:t>libFuzzer</a:t>
            </a:r>
            <a:r>
              <a:rPr b="0" dirty="0">
                <a:solidFill>
                  <a:srgbClr val="8E869E"/>
                </a:solidFill>
                <a:latin typeface="Calibri"/>
              </a:rPr>
              <a:t> harness  →  </a:t>
            </a:r>
            <a:r>
              <a:rPr b="0" dirty="0" err="1">
                <a:solidFill>
                  <a:srgbClr val="8E869E"/>
                </a:solidFill>
                <a:latin typeface="Calibri"/>
              </a:rPr>
              <a:t>ASan</a:t>
            </a:r>
            <a:r>
              <a:rPr b="0" dirty="0">
                <a:solidFill>
                  <a:srgbClr val="8E869E"/>
                </a:solidFill>
                <a:latin typeface="Calibri"/>
              </a:rPr>
              <a:t> crash  →  triaged crashing input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"The LLM says use-after-free"  →  "here is the input that crashes it"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24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400" b="0" dirty="0">
                <a:solidFill>
                  <a:srgbClr val="ECE8F5"/>
                </a:solidFill>
                <a:latin typeface="Calibri"/>
              </a:rPr>
              <a:t>That's the difference between a triage opinion and a filed, reproducible 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377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8E869E"/>
                </a:solidFill>
                <a:latin typeface="Calibri"/>
              </a:rPr>
              <a:t>(Pre-recorded — fuzzing live on stage is slow.)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github.com/tuonglnc/VHX-real-bug-confirmed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19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B98AFF"/>
                </a:solidFill>
                <a:latin typeface="Calibri"/>
              </a:rPr>
              <a:t>manually confirmed · PoC + vendor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>
                <a:solidFill>
                  <a:srgbClr val="ECE8F5"/>
                </a:solidFill>
                <a:latin typeface="Calibri"/>
              </a:rPr>
              <a:t>Five confirmed real-world vulnerabilities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081756"/>
              </p:ext>
            </p:extLst>
          </p:nvPr>
        </p:nvGraphicFramePr>
        <p:xfrm>
          <a:off x="502920" y="2011679"/>
          <a:ext cx="11201399" cy="30759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6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69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00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Vulnerability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CWE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Vendor status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8F5"/>
                          </a:solidFill>
                          <a:latin typeface="Calibri"/>
                        </a:rPr>
                        <a:t>flac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TOCTOU race condition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CWE-367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file.c:116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xiph/flac #902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8F5"/>
                          </a:solidFill>
                          <a:latin typeface="Calibri"/>
                        </a:rPr>
                        <a:t>libevent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Compiler-elided memset()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CWE-14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sha1.c:202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advance-security triage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8F5"/>
                          </a:solidFill>
                          <a:latin typeface="Calibri"/>
                        </a:rPr>
                        <a:t>vorbis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Stack overflow — alloca() in loop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CWE-770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vorbisfile.c:2290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xiph/vorbis MR !43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800" b="1" dirty="0" err="1">
                          <a:solidFill>
                            <a:srgbClr val="ECE8F5"/>
                          </a:solidFill>
                          <a:latin typeface="Calibri"/>
                        </a:rPr>
                        <a:t>gradio</a:t>
                      </a:r>
                      <a:endParaRPr sz="1800" b="1" dirty="0">
                        <a:solidFill>
                          <a:srgbClr val="ECE8F5"/>
                        </a:solidFill>
                        <a:latin typeface="Calibri"/>
                      </a:endParaRP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ECE8F5"/>
                          </a:solidFill>
                          <a:latin typeface="Calibri"/>
                        </a:rPr>
                        <a:t>Full SSRF via user URL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CWE-918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image_utils.py:253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GitHub Security triage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8F5"/>
                          </a:solidFill>
                          <a:latin typeface="Calibri"/>
                        </a:rPr>
                        <a:t>safety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Credential leak — URL sanitization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CWE-295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uv/command.py:72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ECE8F5"/>
                          </a:solidFill>
                          <a:latin typeface="Calibri"/>
                        </a:rPr>
                        <a:t>email triage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8064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8E869E"/>
                </a:solidFill>
                <a:latin typeface="Calibri"/>
              </a:rPr>
              <a:t>Memory-safety, crypto-hygiene, DoS, SSRF, and credential-leak — five distinct bug classes across C and Python, each with a manual PoC.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github.com/tuonglnc/VHX-real-bug-confirmed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20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B98AFF"/>
                </a:solidFill>
                <a:latin typeface="Calibri"/>
              </a:rPr>
              <a:t>the funnel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>
                <a:solidFill>
                  <a:srgbClr val="ECE8F5"/>
                </a:solidFill>
                <a:latin typeface="Calibri"/>
              </a:rPr>
              <a:t>175 findings in · 5 real bugs out · $0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5628594"/>
              </p:ext>
            </p:extLst>
          </p:nvPr>
        </p:nvGraphicFramePr>
        <p:xfrm>
          <a:off x="502920" y="1965960"/>
          <a:ext cx="11201398" cy="2980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5849">
                <a:tc>
                  <a:txBody>
                    <a:bodyPr/>
                    <a:lstStyle/>
                    <a:p>
                      <a:pPr algn="l"/>
                      <a:r>
                        <a:rPr sz="1800" b="1" dirty="0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Findings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True Pos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False Pos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Scan time</a:t>
                      </a:r>
                    </a:p>
                  </a:txBody>
                  <a:tcPr marT="38100" marB="38100">
                    <a:solidFill>
                      <a:srgbClr val="7A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849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8F5"/>
                          </a:solidFill>
                          <a:latin typeface="Calibri"/>
                        </a:rPr>
                        <a:t>flac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54.6 min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849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8F5"/>
                          </a:solidFill>
                          <a:latin typeface="Calibri"/>
                        </a:rPr>
                        <a:t>gradio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12  (+12 err)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27.0 min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849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8F5"/>
                          </a:solidFill>
                          <a:latin typeface="Calibri"/>
                        </a:rPr>
                        <a:t>vorbis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17.1 min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849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8F5"/>
                          </a:solidFill>
                          <a:latin typeface="Calibri"/>
                        </a:rPr>
                        <a:t>libevent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5.3 min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5849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8F5"/>
                          </a:solidFill>
                          <a:latin typeface="Calibri"/>
                        </a:rPr>
                        <a:t>safety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7.2 min</a:t>
                      </a:r>
                    </a:p>
                  </a:txBody>
                  <a:tcPr marT="25400" marB="25400">
                    <a:solidFill>
                      <a:srgbClr val="161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58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CE8F5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175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98AFF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CE8F5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ECE8F5"/>
                          </a:solidFill>
                          <a:latin typeface="Calibri"/>
                        </a:rPr>
                        <a:t>~1 h 51 m</a:t>
                      </a:r>
                    </a:p>
                  </a:txBody>
                  <a:tcPr marT="25400" marB="25400">
                    <a:solidFill>
                      <a:srgbClr val="0E0B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5321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ECE8F5"/>
                </a:solidFill>
                <a:latin typeface="Calibri"/>
              </a:rPr>
              <a:t>flac: the real TOCTOU bug was 1 of 94 findings — the LLM filtered 82 false positives to surface it.   </a:t>
            </a:r>
            <a:r>
              <a:rPr sz="1500" b="1">
                <a:solidFill>
                  <a:srgbClr val="3FB950"/>
                </a:solidFill>
                <a:latin typeface="Calibri"/>
              </a:rPr>
              <a:t>Model GLM-5.1 · ~2.7K–9.5K tokens/finding · $0.00.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github.com/tuonglnc/VHX-real-bug-confirmed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21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DEEP DIVE ·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B98AFF"/>
                </a:solidFill>
                <a:latin typeface="Calibri"/>
              </a:rPr>
              <a:t>TP · conf 0.72 · 3 turns · xiph/flac #902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>
                <a:solidFill>
                  <a:srgbClr val="ECE8F5"/>
                </a:solidFill>
                <a:latin typeface="Calibri"/>
              </a:rPr>
              <a:t>flac — TOCTOU race condition (CWE-367)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11680"/>
            <a:ext cx="10607040" cy="1783080"/>
          </a:xfrm>
          <a:prstGeom prst="rect">
            <a:avLst/>
          </a:prstGeom>
          <a:solidFill>
            <a:srgbClr val="161220"/>
          </a:solidFill>
          <a:ln w="9525">
            <a:solidFill>
              <a:srgbClr val="392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176272"/>
            <a:ext cx="10149840" cy="12562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>
                <a:solidFill>
                  <a:srgbClr val="8E869E"/>
                </a:solidFill>
                <a:latin typeface="Consolas"/>
              </a:rPr>
              <a:t>// grabbag__file_change_stats(filename, ...)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>
                <a:solidFill>
                  <a:srgbClr val="ECE8F5"/>
                </a:solidFill>
                <a:latin typeface="Consolas"/>
              </a:rPr>
              <a:t>stat(filename, &amp;st);     // line 100  — CHECK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>
                <a:solidFill>
                  <a:srgbClr val="F85149"/>
                </a:solidFill>
                <a:latin typeface="Consolas"/>
              </a:rPr>
              <a:t>...                       // attacker swaps file → symlink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>
                <a:solidFill>
                  <a:srgbClr val="7A00FF"/>
                </a:solidFill>
                <a:latin typeface="Consolas"/>
              </a:rPr>
              <a:t>flac_chmod(filename, mode);  // line 116 — USE (no fd held)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114800"/>
            <a:ext cx="10698480" cy="868680"/>
          </a:xfrm>
          <a:prstGeom prst="rect">
            <a:avLst/>
          </a:prstGeom>
          <a:solidFill>
            <a:srgbClr val="16122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249699"/>
            <a:ext cx="10241280" cy="5988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dirty="0">
                <a:solidFill>
                  <a:srgbClr val="F85149"/>
                </a:solidFill>
                <a:latin typeface="Calibri"/>
              </a:rPr>
              <a:t>Impact  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Local attacker controlling the parent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dir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wins the race →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chmod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arbitrary files as the elevated user (e.g. /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etc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/shadow). Reachable from 2 production paths. PoC won on attempt 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97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LLM verdict  </a:t>
            </a:r>
            <a:r>
              <a:rPr sz="1300" b="0">
                <a:solidFill>
                  <a:srgbClr val="8E869E"/>
                </a:solidFill>
                <a:latin typeface="Calibri"/>
              </a:rPr>
              <a:t>True Positive · confidence 0.72 (Medium) · 3 multi-turn iterations — the engine pulled extra context before committing.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github.com/tuonglnc/VHX-real-bug-confirmed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22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DEEP DIVE ·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B98AFF"/>
                </a:solidFill>
                <a:latin typeface="Calibri"/>
              </a:rPr>
              <a:t>TP · conf 0.85 · 1 turn · xiph/vorbis MR !43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>
                <a:solidFill>
                  <a:srgbClr val="ECE8F5"/>
                </a:solidFill>
                <a:latin typeface="Calibri"/>
              </a:rPr>
              <a:t>vorbis — stack overflow via alloca() in loop (CWE-770)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11680"/>
            <a:ext cx="10607040" cy="1783080"/>
          </a:xfrm>
          <a:prstGeom prst="rect">
            <a:avLst/>
          </a:prstGeom>
          <a:solidFill>
            <a:srgbClr val="161220"/>
          </a:solidFill>
          <a:ln w="9525">
            <a:solidFill>
              <a:srgbClr val="392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176272"/>
            <a:ext cx="10149840" cy="12562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8E869E"/>
                </a:solidFill>
                <a:latin typeface="Consolas"/>
              </a:rPr>
              <a:t>// </a:t>
            </a:r>
            <a:r>
              <a:rPr sz="1600" b="0" dirty="0" err="1">
                <a:solidFill>
                  <a:srgbClr val="8E869E"/>
                </a:solidFill>
                <a:latin typeface="Consolas"/>
              </a:rPr>
              <a:t>ov_crosslap</a:t>
            </a:r>
            <a:r>
              <a:rPr sz="1600" b="0" dirty="0">
                <a:solidFill>
                  <a:srgbClr val="8E869E"/>
                </a:solidFill>
                <a:latin typeface="Consolas"/>
              </a:rPr>
              <a:t>() — lib/</a:t>
            </a:r>
            <a:r>
              <a:rPr sz="1600" b="0" dirty="0" err="1">
                <a:solidFill>
                  <a:srgbClr val="8E869E"/>
                </a:solidFill>
                <a:latin typeface="Consolas"/>
              </a:rPr>
              <a:t>vorbisfile.c</a:t>
            </a:r>
            <a:endParaRPr sz="1600" b="0" dirty="0">
              <a:solidFill>
                <a:srgbClr val="8E869E"/>
              </a:solidFill>
              <a:latin typeface="Consolas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ECE8F5"/>
                </a:solidFill>
                <a:latin typeface="Consolas"/>
              </a:rPr>
              <a:t>for (</a:t>
            </a:r>
            <a:r>
              <a:rPr sz="1600" b="0" dirty="0" err="1">
                <a:solidFill>
                  <a:srgbClr val="ECE8F5"/>
                </a:solidFill>
                <a:latin typeface="Consolas"/>
              </a:rPr>
              <a:t>i</a:t>
            </a:r>
            <a:r>
              <a:rPr sz="1600" b="0" dirty="0">
                <a:solidFill>
                  <a:srgbClr val="ECE8F5"/>
                </a:solidFill>
                <a:latin typeface="Consolas"/>
              </a:rPr>
              <a:t> = 0; </a:t>
            </a:r>
            <a:r>
              <a:rPr sz="1600" b="0" dirty="0" err="1">
                <a:solidFill>
                  <a:srgbClr val="ECE8F5"/>
                </a:solidFill>
                <a:latin typeface="Consolas"/>
              </a:rPr>
              <a:t>i</a:t>
            </a:r>
            <a:r>
              <a:rPr sz="1600" b="0" dirty="0">
                <a:solidFill>
                  <a:srgbClr val="ECE8F5"/>
                </a:solidFill>
                <a:latin typeface="Consolas"/>
              </a:rPr>
              <a:t> &lt; vi1-&gt;channels; </a:t>
            </a:r>
            <a:r>
              <a:rPr sz="1600" b="0" dirty="0" err="1">
                <a:solidFill>
                  <a:srgbClr val="ECE8F5"/>
                </a:solidFill>
                <a:latin typeface="Consolas"/>
              </a:rPr>
              <a:t>i</a:t>
            </a:r>
            <a:r>
              <a:rPr sz="1600" b="0" dirty="0">
                <a:solidFill>
                  <a:srgbClr val="ECE8F5"/>
                </a:solidFill>
                <a:latin typeface="Consolas"/>
              </a:rPr>
              <a:t>++)        // channels from file header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7A00FF"/>
                </a:solidFill>
                <a:latin typeface="Consolas"/>
              </a:rPr>
              <a:t>    </a:t>
            </a:r>
            <a:r>
              <a:rPr sz="1600" b="0" dirty="0" err="1">
                <a:solidFill>
                  <a:srgbClr val="7A00FF"/>
                </a:solidFill>
                <a:latin typeface="Consolas"/>
              </a:rPr>
              <a:t>lappcm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[</a:t>
            </a:r>
            <a:r>
              <a:rPr sz="1600" b="0" dirty="0" err="1">
                <a:solidFill>
                  <a:srgbClr val="7A00FF"/>
                </a:solidFill>
                <a:latin typeface="Consolas"/>
              </a:rPr>
              <a:t>i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] = </a:t>
            </a:r>
            <a:r>
              <a:rPr sz="1600" b="0" dirty="0" err="1">
                <a:solidFill>
                  <a:srgbClr val="7A00FF"/>
                </a:solidFill>
                <a:latin typeface="Consolas"/>
              </a:rPr>
              <a:t>alloca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(</a:t>
            </a:r>
            <a:r>
              <a:rPr sz="1600" b="0" dirty="0" err="1">
                <a:solidFill>
                  <a:srgbClr val="7A00FF"/>
                </a:solidFill>
                <a:latin typeface="Consolas"/>
              </a:rPr>
              <a:t>sizeof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(**</a:t>
            </a:r>
            <a:r>
              <a:rPr sz="1600" b="0" dirty="0" err="1">
                <a:solidFill>
                  <a:srgbClr val="7A00FF"/>
                </a:solidFill>
                <a:latin typeface="Consolas"/>
              </a:rPr>
              <a:t>lappcm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) * n1);  // line 2290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F85149"/>
                </a:solidFill>
                <a:latin typeface="Consolas"/>
              </a:rPr>
              <a:t>// channels only checked &gt;= 1 (no upper bound); </a:t>
            </a:r>
            <a:r>
              <a:rPr sz="1600" b="0" dirty="0" err="1">
                <a:solidFill>
                  <a:srgbClr val="F85149"/>
                </a:solidFill>
                <a:latin typeface="Consolas"/>
              </a:rPr>
              <a:t>blocksize</a:t>
            </a:r>
            <a:r>
              <a:rPr sz="1600" b="0" dirty="0">
                <a:solidFill>
                  <a:srgbClr val="F85149"/>
                </a:solidFill>
                <a:latin typeface="Consolas"/>
              </a:rPr>
              <a:t> &lt;= 8192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114800"/>
            <a:ext cx="10698480" cy="868680"/>
          </a:xfrm>
          <a:prstGeom prst="rect">
            <a:avLst/>
          </a:prstGeom>
          <a:solidFill>
            <a:srgbClr val="16122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249699"/>
            <a:ext cx="10241280" cy="5988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dirty="0">
                <a:solidFill>
                  <a:srgbClr val="F85149"/>
                </a:solidFill>
                <a:latin typeface="Calibri"/>
              </a:rPr>
              <a:t>Impact  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channels=255 ×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blocksize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=8192 → ~4.17 MB stack on a crafted .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ogg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→ overflows a 1 MB worker thread → DoS. Media players / game engines decode audio on small-stack threads.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97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LLM verdict  </a:t>
            </a:r>
            <a:r>
              <a:rPr sz="1300" b="0">
                <a:solidFill>
                  <a:srgbClr val="8E869E"/>
                </a:solidFill>
                <a:latin typeface="Calibri"/>
              </a:rPr>
              <a:t>True Positive · confidence 0.85 (High) · 1 iteration · ~2.7K tokens · $0.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github.com/tuonglnc/VHX-real-bug-confirmed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23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DEEP DIVE ·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B98AFF"/>
                </a:solidFill>
                <a:latin typeface="Calibri"/>
              </a:rPr>
              <a:t>TP · conf 0.90 · 1 turn · advance-security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>
                <a:solidFill>
                  <a:srgbClr val="ECE8F5"/>
                </a:solidFill>
                <a:latin typeface="Calibri"/>
              </a:rPr>
              <a:t>libevent — compiler-elided memset() (CWE-14)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11680"/>
            <a:ext cx="10607040" cy="1783080"/>
          </a:xfrm>
          <a:prstGeom prst="rect">
            <a:avLst/>
          </a:prstGeom>
          <a:solidFill>
            <a:srgbClr val="161220"/>
          </a:solidFill>
          <a:ln w="9525">
            <a:solidFill>
              <a:srgbClr val="392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176272"/>
            <a:ext cx="10149840" cy="12562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8E869E"/>
                </a:solidFill>
                <a:latin typeface="Consolas"/>
              </a:rPr>
              <a:t>// sha1.c — clearing sensitive state before return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 err="1">
                <a:solidFill>
                  <a:srgbClr val="7A00FF"/>
                </a:solidFill>
                <a:latin typeface="Consolas"/>
              </a:rPr>
              <a:t>memset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(block,  0, </a:t>
            </a:r>
            <a:r>
              <a:rPr sz="1600" b="0" dirty="0" err="1">
                <a:solidFill>
                  <a:srgbClr val="7A00FF"/>
                </a:solidFill>
                <a:latin typeface="Consolas"/>
              </a:rPr>
              <a:t>sizeof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(block));     // L202  raw SHA1 input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 err="1">
                <a:solidFill>
                  <a:srgbClr val="7A00FF"/>
                </a:solidFill>
                <a:latin typeface="Consolas"/>
              </a:rPr>
              <a:t>memset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(context,0, </a:t>
            </a:r>
            <a:r>
              <a:rPr sz="1600" b="0" dirty="0" err="1">
                <a:solidFill>
                  <a:srgbClr val="7A00FF"/>
                </a:solidFill>
                <a:latin typeface="Consolas"/>
              </a:rPr>
              <a:t>sizeof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(*context));  // L287  hash state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F85149"/>
                </a:solidFill>
                <a:latin typeface="Consolas"/>
              </a:rPr>
              <a:t>// buffers never read again → Dead Store Elimination removes all 3 at -O1+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114800"/>
            <a:ext cx="10698480" cy="868680"/>
          </a:xfrm>
          <a:prstGeom prst="rect">
            <a:avLst/>
          </a:prstGeom>
          <a:solidFill>
            <a:srgbClr val="16122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249699"/>
            <a:ext cx="10241280" cy="5988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dirty="0">
                <a:solidFill>
                  <a:srgbClr val="F85149"/>
                </a:solidFill>
                <a:latin typeface="Calibri"/>
              </a:rPr>
              <a:t>Impact  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SHA1 input blocks, hash state, and counters persist on the stack after return. A memory-read primitive (core dump, /proc/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pid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/mem, swap) recovers secrets. Elevated in nginx /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memcached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/ 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97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LLM verdict  </a:t>
            </a:r>
            <a:r>
              <a:rPr sz="1300" b="0">
                <a:solidFill>
                  <a:srgbClr val="8E869E"/>
                </a:solidFill>
                <a:latin typeface="Calibri"/>
              </a:rPr>
              <a:t>True Positive · confidence 0.90 (High) · 1 iteration. PoC: objdump shows zero memset in the -O2 binary; stack remnant recovered.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github.com/tuonglnc/VHX-real-bug-confirmed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24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DEEP DIVE ·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B98AFF"/>
                </a:solidFill>
                <a:latin typeface="Calibri"/>
              </a:rPr>
              <a:t>TP · conf 0.92 · 1 turn · GitHub Security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>
                <a:solidFill>
                  <a:srgbClr val="ECE8F5"/>
                </a:solidFill>
                <a:latin typeface="Calibri"/>
              </a:rPr>
              <a:t>gradio — full SSRF via user-controlled URL (CWE-918)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11680"/>
            <a:ext cx="10607040" cy="1783080"/>
          </a:xfrm>
          <a:prstGeom prst="rect">
            <a:avLst/>
          </a:prstGeom>
          <a:solidFill>
            <a:srgbClr val="161220"/>
          </a:solidFill>
          <a:ln w="9525">
            <a:solidFill>
              <a:srgbClr val="392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176272"/>
            <a:ext cx="10149840" cy="12562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8E869E"/>
                </a:solidFill>
                <a:latin typeface="Consolas"/>
              </a:rPr>
              <a:t># gradio/image_utils.py — </a:t>
            </a:r>
            <a:r>
              <a:rPr sz="1600" b="0" dirty="0" err="1">
                <a:solidFill>
                  <a:srgbClr val="8E869E"/>
                </a:solidFill>
                <a:latin typeface="Consolas"/>
              </a:rPr>
              <a:t>extract_svg_content</a:t>
            </a:r>
            <a:r>
              <a:rPr sz="1600" b="0" dirty="0">
                <a:solidFill>
                  <a:srgbClr val="8E869E"/>
                </a:solidFill>
                <a:latin typeface="Consolas"/>
              </a:rPr>
              <a:t>()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ECE8F5"/>
                </a:solidFill>
                <a:latin typeface="Consolas"/>
              </a:rPr>
              <a:t>if </a:t>
            </a:r>
            <a:r>
              <a:rPr sz="1600" b="0" dirty="0" err="1">
                <a:solidFill>
                  <a:srgbClr val="ECE8F5"/>
                </a:solidFill>
                <a:latin typeface="Consolas"/>
              </a:rPr>
              <a:t>is_http_url_like</a:t>
            </a:r>
            <a:r>
              <a:rPr sz="1600" b="0" dirty="0">
                <a:solidFill>
                  <a:srgbClr val="ECE8F5"/>
                </a:solidFill>
                <a:latin typeface="Consolas"/>
              </a:rPr>
              <a:t>(</a:t>
            </a:r>
            <a:r>
              <a:rPr sz="1600" b="0" dirty="0" err="1">
                <a:solidFill>
                  <a:srgbClr val="ECE8F5"/>
                </a:solidFill>
                <a:latin typeface="Consolas"/>
              </a:rPr>
              <a:t>image_file</a:t>
            </a:r>
            <a:r>
              <a:rPr sz="1600" b="0" dirty="0">
                <a:solidFill>
                  <a:srgbClr val="ECE8F5"/>
                </a:solidFill>
                <a:latin typeface="Consolas"/>
              </a:rPr>
              <a:t>):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7A00FF"/>
                </a:solidFill>
                <a:latin typeface="Consolas"/>
              </a:rPr>
              <a:t>    response = </a:t>
            </a:r>
            <a:r>
              <a:rPr sz="1600" b="0" dirty="0" err="1">
                <a:solidFill>
                  <a:srgbClr val="7A00FF"/>
                </a:solidFill>
                <a:latin typeface="Consolas"/>
              </a:rPr>
              <a:t>httpx.get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(</a:t>
            </a:r>
            <a:r>
              <a:rPr sz="1600" b="0" dirty="0" err="1">
                <a:solidFill>
                  <a:srgbClr val="7A00FF"/>
                </a:solidFill>
                <a:latin typeface="Consolas"/>
              </a:rPr>
              <a:t>image_file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)   # line 253 — no SSRF guard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F85149"/>
                </a:solidFill>
                <a:latin typeface="Consolas"/>
              </a:rPr>
              <a:t># sibling processing_utils.py uses </a:t>
            </a:r>
            <a:r>
              <a:rPr sz="1600" b="0" dirty="0" err="1">
                <a:solidFill>
                  <a:srgbClr val="F85149"/>
                </a:solidFill>
                <a:latin typeface="Consolas"/>
              </a:rPr>
              <a:t>safehttpx</a:t>
            </a:r>
            <a:r>
              <a:rPr sz="1600" b="0" dirty="0">
                <a:solidFill>
                  <a:srgbClr val="F85149"/>
                </a:solidFill>
                <a:latin typeface="Consolas"/>
              </a:rPr>
              <a:t> — this path was overlooked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114800"/>
            <a:ext cx="10698480" cy="868680"/>
          </a:xfrm>
          <a:prstGeom prst="rect">
            <a:avLst/>
          </a:prstGeom>
          <a:solidFill>
            <a:srgbClr val="16122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249699"/>
            <a:ext cx="10241280" cy="5988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dirty="0">
                <a:solidFill>
                  <a:srgbClr val="F85149"/>
                </a:solidFill>
                <a:latin typeface="Calibri"/>
              </a:rPr>
              <a:t>Impact  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A user URL ending in .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svg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passed to a Gallery/Image component → server fetches any address, including internal IPs and cloud-metadata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endp</a:t>
            </a:r>
            <a:r>
              <a:rPr lang="vi-VN" sz="1600" b="0" dirty="0">
                <a:solidFill>
                  <a:srgbClr val="ECE8F5"/>
                </a:solidFill>
                <a:latin typeface="Calibri"/>
              </a:rPr>
              <a:t>o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ints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(169.254.169.254). Confirmed on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Gradio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6.9.0.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97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LLM verdict  </a:t>
            </a:r>
            <a:r>
              <a:rPr sz="1300" b="0">
                <a:solidFill>
                  <a:srgbClr val="8E869E"/>
                </a:solidFill>
                <a:latin typeface="Calibri"/>
              </a:rPr>
              <a:t>True Positive · confidence 0.92 (High) · 1 iteration. The LLM noted the sibling module already uses safehttpx — this one didn't.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github.com/tuonglnc/VHX-real-bug-confirmed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25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DEEP DIVE ·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B98AFF"/>
                </a:solidFill>
                <a:latin typeface="Calibri"/>
              </a:rPr>
              <a:t>TP · conf 0.70 · 1 turn · email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>
                <a:solidFill>
                  <a:srgbClr val="ECE8F5"/>
                </a:solidFill>
                <a:latin typeface="Calibri"/>
              </a:rPr>
              <a:t>safety — credential leak via URL sanitization (CWE-295)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11680"/>
            <a:ext cx="10607040" cy="1783080"/>
          </a:xfrm>
          <a:prstGeom prst="rect">
            <a:avLst/>
          </a:prstGeom>
          <a:solidFill>
            <a:srgbClr val="161220"/>
          </a:solidFill>
          <a:ln w="9525">
            <a:solidFill>
              <a:srgbClr val="392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TextBox 8"/>
          <p:cNvSpPr txBox="1"/>
          <p:nvPr/>
        </p:nvSpPr>
        <p:spPr>
          <a:xfrm>
            <a:off x="1005840" y="2176272"/>
            <a:ext cx="10149840" cy="12562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8E869E"/>
                </a:solidFill>
                <a:latin typeface="Consolas"/>
              </a:rPr>
              <a:t># safety/tool/uv/command.py — before()  (L72)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7A00FF"/>
                </a:solidFill>
                <a:latin typeface="Consolas"/>
              </a:rPr>
              <a:t>if </a:t>
            </a:r>
            <a:r>
              <a:rPr sz="1600" b="0" dirty="0" err="1">
                <a:solidFill>
                  <a:srgbClr val="7A00FF"/>
                </a:solidFill>
                <a:latin typeface="Consolas"/>
              </a:rPr>
              <a:t>index_value.startswith</a:t>
            </a:r>
            <a:r>
              <a:rPr sz="1600" b="0" dirty="0">
                <a:solidFill>
                  <a:srgbClr val="7A00FF"/>
                </a:solidFill>
                <a:latin typeface="Consolas"/>
              </a:rPr>
              <a:t>("https://pkgs.safetycli.com"):  # prefix only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ECE8F5"/>
                </a:solidFill>
                <a:latin typeface="Consolas"/>
              </a:rPr>
              <a:t>    self.__</a:t>
            </a:r>
            <a:r>
              <a:rPr sz="1600" b="0" dirty="0" err="1">
                <a:solidFill>
                  <a:srgbClr val="ECE8F5"/>
                </a:solidFill>
                <a:latin typeface="Consolas"/>
              </a:rPr>
              <a:t>index_url</a:t>
            </a:r>
            <a:r>
              <a:rPr sz="1600" b="0" dirty="0">
                <a:solidFill>
                  <a:srgbClr val="ECE8F5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ECE8F5"/>
                </a:solidFill>
                <a:latin typeface="Consolas"/>
              </a:rPr>
              <a:t>index_value</a:t>
            </a:r>
            <a:endParaRPr sz="1600" b="0" dirty="0">
              <a:solidFill>
                <a:srgbClr val="ECE8F5"/>
              </a:solidFill>
              <a:latin typeface="Consolas"/>
            </a:endParaRP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600" b="0" dirty="0">
                <a:solidFill>
                  <a:srgbClr val="F85149"/>
                </a:solidFill>
                <a:latin typeface="Consolas"/>
              </a:rPr>
              <a:t># bypass: https://pkgs.safetycli.com.attacker.com  → JWT injected into </a:t>
            </a:r>
            <a:r>
              <a:rPr sz="1600" b="0" dirty="0" err="1">
                <a:solidFill>
                  <a:srgbClr val="F85149"/>
                </a:solidFill>
                <a:latin typeface="Consolas"/>
              </a:rPr>
              <a:t>netloc</a:t>
            </a:r>
            <a:endParaRPr sz="1600" b="0" dirty="0">
              <a:solidFill>
                <a:srgbClr val="F85149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77240" y="4114800"/>
            <a:ext cx="10698480" cy="868680"/>
          </a:xfrm>
          <a:prstGeom prst="rect">
            <a:avLst/>
          </a:prstGeom>
          <a:solidFill>
            <a:srgbClr val="161220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249699"/>
            <a:ext cx="10241280" cy="5988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 dirty="0">
                <a:solidFill>
                  <a:srgbClr val="F85149"/>
                </a:solidFill>
                <a:latin typeface="Calibri"/>
              </a:rPr>
              <a:t>Impact  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Bypassable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prefix check → live JWT embedded into attacker URL → leaked via Authorization header (</a:t>
            </a:r>
            <a:r>
              <a:rPr sz="1600" b="0" dirty="0" err="1">
                <a:solidFill>
                  <a:srgbClr val="ECE8F5"/>
                </a:solidFill>
                <a:latin typeface="Calibri"/>
              </a:rPr>
              <a:t>uv</a:t>
            </a:r>
            <a:r>
              <a:rPr sz="1600" b="0" dirty="0">
                <a:solidFill>
                  <a:srgbClr val="ECE8F5"/>
                </a:solidFill>
                <a:latin typeface="Calibri"/>
              </a:rPr>
              <a:t> request). CI/CD argument injection harvests ~24 h tokens for the Safety Platform.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97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LLM verdict  </a:t>
            </a:r>
            <a:r>
              <a:rPr sz="1300" b="0">
                <a:solidFill>
                  <a:srgbClr val="8E869E"/>
                </a:solidFill>
                <a:latin typeface="Calibri"/>
              </a:rPr>
              <a:t>True Positive · confidence 0.70 (Medium). Fix: validate urlsplit().hostname == exact host and block userinfo.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github.com/tuonglnc/VHX-real-bug-confirmed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26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>
                <a:solidFill>
                  <a:srgbClr val="ECE8F5"/>
                </a:solidFill>
                <a:latin typeface="Calibri"/>
              </a:rPr>
              <a:t>Why a triage layer made the difference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789920" cy="3786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1" dirty="0">
                <a:solidFill>
                  <a:srgbClr val="ECE8F5"/>
                </a:solidFill>
                <a:latin typeface="Calibri"/>
              </a:rPr>
              <a:t>Needle in a haystack: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the 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flac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TOCTOU was 1 real bug among 94 findings (82 FPs). The verdict + reasoning surfaced it.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1" dirty="0">
                <a:solidFill>
                  <a:srgbClr val="ECE8F5"/>
                </a:solidFill>
                <a:latin typeface="Calibri"/>
              </a:rPr>
              <a:t>Reasoning, not pattern-matching: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the LLM noted 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gradio's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sibling module already uses 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safehttpx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, and that 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vorbis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channels lacks an upper bound — facts that separate real from benign.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1" dirty="0">
                <a:solidFill>
                  <a:srgbClr val="ECE8F5"/>
                </a:solidFill>
                <a:latin typeface="Calibri"/>
              </a:rPr>
              <a:t>Multi-turn earns its keep: 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flac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needed 3 iterations of context expansion before committing to a verdict.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1" dirty="0">
                <a:solidFill>
                  <a:srgbClr val="ECE8F5"/>
                </a:solidFill>
                <a:latin typeface="Calibri"/>
              </a:rPr>
              <a:t>Calibrated confidence: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0.70–0.92 across the set — Medium where context was truncated (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flac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, safety), High where the flow was fully visible (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gradio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libevent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1" dirty="0">
                <a:solidFill>
                  <a:srgbClr val="ECE8F5"/>
                </a:solidFill>
                <a:latin typeface="Calibri"/>
              </a:rPr>
              <a:t>Evidence to act on: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each verdict shipped a data-flow trace that fed straight into a working PoC.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27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LIMITS &amp; RED-TEAM   ·   2.5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Limits &amp; failure modes (be candid)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106070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Snippet-blind spots — e.g. weak-hash judged from a snippet → low recall on that class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Context-heavy classes like XXE are inherently hard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NMD when context is missing — it declines rather than guesses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Batch latency, not real-time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Prompt-injection: the analyzed code is untrusted input to the model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29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WRAP-UP   ·   1.5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Extensibility — bring your 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106070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SARIF is the only contract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59 custom 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CodeQL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queries  +  89 custom </a:t>
            </a:r>
            <a:r>
              <a:rPr sz="2000" b="0" dirty="0" err="1">
                <a:solidFill>
                  <a:srgbClr val="ECE8F5"/>
                </a:solidFill>
                <a:latin typeface="Calibri"/>
              </a:rPr>
              <a:t>Semgrep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 rules ship in-repo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New rules tag a CWE → route through the same verification core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audit_rule_coverage.py --fail-on-gaps  fails CI if a rule isn't wired to a question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2000" b="0" dirty="0">
                <a:solidFill>
                  <a:srgbClr val="B98AFF"/>
                </a:solidFill>
                <a:latin typeface="Calibri"/>
              </a:rPr>
              <a:t>—  </a:t>
            </a:r>
            <a:r>
              <a:rPr sz="2000" b="0" dirty="0">
                <a:solidFill>
                  <a:srgbClr val="ECE8F5"/>
                </a:solidFill>
                <a:latin typeface="Calibri"/>
              </a:rPr>
              <a:t>No core changes to add a rule, engine, or language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6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github.com/vinsoc-cyber/VulnHunterX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190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8E869E"/>
                </a:solidFill>
                <a:latin typeface="Calibri"/>
              </a:rPr>
              <a:t>30 /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7A00FF"/>
                </a:solidFill>
                <a:latin typeface="Calibri"/>
              </a:rPr>
              <a:t>WRAP-UP   ·   1.5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>
                <a:solidFill>
                  <a:srgbClr val="ECE8F5"/>
                </a:solidFill>
                <a:latin typeface="Calibri"/>
              </a:rPr>
              <a:t>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1600"/>
              </a:spcAft>
            </a:pPr>
            <a:r>
              <a:rPr sz="2500" b="1" dirty="0">
                <a:solidFill>
                  <a:srgbClr val="7A00FF"/>
                </a:solidFill>
                <a:latin typeface="Calibri"/>
              </a:rPr>
              <a:t>1   </a:t>
            </a:r>
            <a:r>
              <a:rPr sz="2200" b="1" dirty="0">
                <a:solidFill>
                  <a:srgbClr val="ECE8F5"/>
                </a:solidFill>
                <a:latin typeface="Calibri"/>
              </a:rPr>
              <a:t>Reasoning STRUCTURE beats model SIZE</a:t>
            </a:r>
          </a:p>
          <a:p>
            <a:pPr algn="l">
              <a:lnSpc>
                <a:spcPct val="104000"/>
              </a:lnSpc>
              <a:spcAft>
                <a:spcPts val="1600"/>
              </a:spcAft>
            </a:pPr>
            <a:r>
              <a:rPr sz="2500" b="1" dirty="0">
                <a:solidFill>
                  <a:srgbClr val="7A00FF"/>
                </a:solidFill>
                <a:latin typeface="Calibri"/>
              </a:rPr>
              <a:t>2   </a:t>
            </a:r>
            <a:r>
              <a:rPr sz="2200" b="1" dirty="0">
                <a:solidFill>
                  <a:srgbClr val="ECE8F5"/>
                </a:solidFill>
                <a:latin typeface="Calibri"/>
              </a:rPr>
              <a:t>FP-reduction is the ROI security teams actually feel</a:t>
            </a:r>
          </a:p>
          <a:p>
            <a:pPr algn="l">
              <a:lnSpc>
                <a:spcPct val="104000"/>
              </a:lnSpc>
              <a:spcAft>
                <a:spcPts val="1600"/>
              </a:spcAft>
            </a:pPr>
            <a:r>
              <a:rPr sz="2500" b="1" dirty="0">
                <a:solidFill>
                  <a:srgbClr val="7A00FF"/>
                </a:solidFill>
                <a:latin typeface="Calibri"/>
              </a:rPr>
              <a:t>3   </a:t>
            </a:r>
            <a:r>
              <a:rPr sz="2200" b="1" dirty="0">
                <a:solidFill>
                  <a:srgbClr val="ECE8F5"/>
                </a:solidFill>
                <a:latin typeface="Calibri"/>
              </a:rPr>
              <a:t>Open source (MIT) + full benchmark harness — reproduce every number</a:t>
            </a:r>
          </a:p>
          <a:p>
            <a:pPr algn="l">
              <a:lnSpc>
                <a:spcPct val="104000"/>
              </a:lnSpc>
              <a:spcAft>
                <a:spcPts val="1600"/>
              </a:spcAft>
            </a:pPr>
            <a:r>
              <a:rPr sz="2500" b="1" dirty="0">
                <a:solidFill>
                  <a:srgbClr val="7A00FF"/>
                </a:solidFill>
                <a:latin typeface="Calibri"/>
              </a:rPr>
              <a:t>4   </a:t>
            </a:r>
            <a:r>
              <a:rPr sz="2200" b="1" dirty="0">
                <a:solidFill>
                  <a:srgbClr val="ECE8F5"/>
                </a:solidFill>
                <a:latin typeface="Calibri"/>
              </a:rPr>
              <a:t>Validated in the wild — 5 confirmed bugs (</a:t>
            </a:r>
            <a:r>
              <a:rPr sz="2200" b="1" dirty="0" err="1">
                <a:solidFill>
                  <a:srgbClr val="ECE8F5"/>
                </a:solidFill>
                <a:latin typeface="Calibri"/>
              </a:rPr>
              <a:t>flac</a:t>
            </a:r>
            <a:r>
              <a:rPr sz="2200" b="1" dirty="0">
                <a:solidFill>
                  <a:srgbClr val="ECE8F5"/>
                </a:solidFill>
                <a:latin typeface="Calibri"/>
              </a:rPr>
              <a:t> · </a:t>
            </a:r>
            <a:r>
              <a:rPr sz="2200" b="1" dirty="0" err="1">
                <a:solidFill>
                  <a:srgbClr val="ECE8F5"/>
                </a:solidFill>
                <a:latin typeface="Calibri"/>
              </a:rPr>
              <a:t>libevent</a:t>
            </a:r>
            <a:r>
              <a:rPr sz="2200" b="1" dirty="0">
                <a:solidFill>
                  <a:srgbClr val="ECE8F5"/>
                </a:solidFill>
                <a:latin typeface="Calibri"/>
              </a:rPr>
              <a:t> · </a:t>
            </a:r>
            <a:r>
              <a:rPr sz="2200" b="1" dirty="0" err="1">
                <a:solidFill>
                  <a:srgbClr val="ECE8F5"/>
                </a:solidFill>
                <a:latin typeface="Calibri"/>
              </a:rPr>
              <a:t>vorbis</a:t>
            </a:r>
            <a:r>
              <a:rPr sz="2200" b="1" dirty="0">
                <a:solidFill>
                  <a:srgbClr val="ECE8F5"/>
                </a:solidFill>
                <a:latin typeface="Calibri"/>
              </a:rPr>
              <a:t> · </a:t>
            </a:r>
            <a:r>
              <a:rPr sz="2200" b="1" dirty="0" err="1">
                <a:solidFill>
                  <a:srgbClr val="ECE8F5"/>
                </a:solidFill>
                <a:latin typeface="Calibri"/>
              </a:rPr>
              <a:t>gradio</a:t>
            </a:r>
            <a:r>
              <a:rPr sz="2200" b="1" dirty="0">
                <a:solidFill>
                  <a:srgbClr val="ECE8F5"/>
                </a:solidFill>
                <a:latin typeface="Calibri"/>
              </a:rPr>
              <a:t> · safety), all vendor-engaged, on a $0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49240"/>
            <a:ext cx="8778240" cy="1005840"/>
          </a:xfrm>
          <a:prstGeom prst="rect">
            <a:avLst/>
          </a:prstGeom>
          <a:solidFill>
            <a:srgbClr val="16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5666468"/>
            <a:ext cx="8412480" cy="371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1" dirty="0">
                <a:solidFill>
                  <a:srgbClr val="B98AFF"/>
                </a:solidFill>
                <a:latin typeface="Calibri"/>
              </a:rPr>
              <a:t>github.com/</a:t>
            </a:r>
            <a:r>
              <a:rPr sz="1800" b="1" dirty="0" err="1">
                <a:solidFill>
                  <a:srgbClr val="B98AFF"/>
                </a:solidFill>
                <a:latin typeface="Calibri"/>
              </a:rPr>
              <a:t>vinsoc</a:t>
            </a:r>
            <a:r>
              <a:rPr sz="1800" b="1" dirty="0">
                <a:solidFill>
                  <a:srgbClr val="B98AFF"/>
                </a:solidFill>
                <a:latin typeface="Calibri"/>
              </a:rPr>
              <a:t>-cyber/VulnHunterX</a:t>
            </a:r>
          </a:p>
        </p:txBody>
      </p:sp>
      <p:pic>
        <p:nvPicPr>
          <p:cNvPr id="10" name="Picture 9" descr="hk-hack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525780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6337</Words>
  <Application>Microsoft Office PowerPoint</Application>
  <PresentationFormat>Màn hình rộng</PresentationFormat>
  <Paragraphs>581</Paragraphs>
  <Slides>30</Slides>
  <Notes>30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30</vt:i4>
      </vt:variant>
    </vt:vector>
  </HeadingPairs>
  <TitlesOfParts>
    <vt:vector size="34" baseType="lpstr">
      <vt:lpstr>Arial</vt:lpstr>
      <vt:lpstr>Calibri</vt:lpstr>
      <vt:lpstr>Consolas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Chi Thien Tran</cp:lastModifiedBy>
  <cp:revision>8</cp:revision>
  <dcterms:created xsi:type="dcterms:W3CDTF">2013-01-27T09:14:16Z</dcterms:created>
  <dcterms:modified xsi:type="dcterms:W3CDTF">2026-06-08T15:50:54Z</dcterms:modified>
  <cp:category/>
</cp:coreProperties>
</file>