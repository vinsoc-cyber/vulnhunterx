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In 60 minutes you'll learn what VulnHunterX is, how it works, how to</a:t>
            </a:r>
          </a:p>
          <a:p>
            <a:r>
              <a:t>install the whole toolchain (including on Windows), and you'll run it yourself.</a:t>
            </a:r>
          </a:p>
          <a:p>
            <a:r>
              <a:t>We finish with exercises and homework. Audience: developers — you don't need to</a:t>
            </a:r>
          </a:p>
          <a:p>
            <a:r>
              <a:t>be a security expert.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expectations. Parts 6 and 7 are hands-on — have laptops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SAST flags everything that might be vulnerable. The dominant production cost is</a:t>
            </a:r>
          </a:p>
          <a:p>
            <a:r>
              <a:t>a human triaging the results — alert fatigue means real bugs get buried.</a:t>
            </a:r>
          </a:p>
          <a:p>
            <a:r>
              <a:t>VulnHunterX inserts an LLM verification stage to cut the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Vulnhalla is a CyberArk methodology (reference at the end). The distinction vs</a:t>
            </a:r>
          </a:p>
          <a:p>
            <a:r>
              <a:t>"just ask ChatGPT": the LLM answers a rule-specific checklist BEFORE a verdict</a:t>
            </a:r>
          </a:p>
          <a:p>
            <a:r>
              <a:t>and fetches real surrounding code instead of guessing from one snippet.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C# is the newest language — buildless CodeQL extraction, no dotnet build needed.</a:t>
            </a:r>
          </a:p>
          <a:p>
            <a:r>
              <a:t>Most of the room will have at least one of these 8 languages in their stack.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README "Pipeline Stages". prepare → analyze → verify → report are the core four;</a:t>
            </a:r>
          </a:p>
          <a:p>
            <a:r>
              <a:t>`scan` runs them in one command. Fuzz stages only apply to C/C++ and only on</a:t>
            </a:r>
          </a:p>
          <a:p>
            <a:r>
              <a:t>Linux/macOS (covered under Windows support).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stages individually or all at once with `scan`. Stages 2-3 accept</a:t>
            </a:r>
          </a:p>
          <a:p>
            <a:r>
              <a:t>--local-path to run directly on any directory without a config entry.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Anchor: docs/context-extraction-flow.md. Two-phase context: pre-fetched upfront</a:t>
            </a:r>
          </a:p>
          <a:p>
            <a:r>
              <a:t>(function-name keyed) vs reactive (only when the LLM asks). 11 context types;</a:t>
            </a:r>
          </a:p>
          <a:p>
            <a:r>
              <a:t>the last three are C/C++-specific (use-after-free / TOCTOU). The loop</a:t>
            </a:r>
          </a:p>
          <a:p>
            <a:r>
              <a:t>deduplicates requests and can force a decision if the LLM stalls.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Verdicts are JSON, rendered into report.md. Confidence is downgraded when the</a:t>
            </a:r>
          </a:p>
          <a:p>
            <a:r>
              <a:t>model reasons in pattern-matching language without citing actual code — a</a:t>
            </a:r>
          </a:p>
          <a:p>
            <a:r>
              <a:t>deliberate guard against confident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numbers are computed by generate_deck.py from the live config/ tree (the</a:t>
            </a:r>
          </a:p>
          <a:p>
            <a:r>
              <a:t>README summary table is stale). CodeQL custom = 64, Semgrep custom =</a:t>
            </a:r>
          </a:p>
          <a:p>
            <a:r>
              <a:t>103, guided-question rule-sets ~= 366 across</a:t>
            </a:r>
          </a:p>
          <a:p>
            <a:r>
              <a:t>8 banks. Custom rules are only layered on under --profile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CodeQL is the backbone. Semgrep/OpenGrep add breadth and run without a DB.</a:t>
            </a:r>
          </a:p>
          <a:p>
            <a:r>
              <a:t>tree-sitter is the safety net — pure Python, ships with the pip install.</a:t>
            </a:r>
          </a:p>
          <a:p>
            <a:r>
              <a:t>`check-env` verifies all of them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Exact commands from README "Install". uv is recommended but optional. Run</a:t>
            </a:r>
          </a:p>
          <a:p>
            <a:r>
              <a:t>check-env first — it reports which engines and provider keys are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Priority: CLI args &gt; env vars &gt; config file &gt; defaults. Local Ollama needs no</a:t>
            </a:r>
          </a:p>
          <a:p>
            <a:r>
              <a:t>key. C/C++ need a build_command; C# uses buildless extraction so it doesn't.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Native Windows is partial. pathlib keeps paths fine, but C/C++ build automation</a:t>
            </a:r>
          </a:p>
          <a:p>
            <a:r>
              <a:t>writes POSIX shell scripts and fuzz stages assume clang sanitizers. CodeQL has a</a:t>
            </a:r>
          </a:p>
          <a:p>
            <a:r>
              <a:t>Windows binary; tree-sitter and the LLM layer are fully cross-platform.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on Windows should use WSL2 — one-command install, removes every caveat.</a:t>
            </a:r>
          </a:p>
          <a:p>
            <a:r>
              <a:t>Don't fight native Windows for the C/C++ or fuzzing paths.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the demo with `interactive` — it validates inputs and live-tests the</a:t>
            </a:r>
          </a:p>
          <a:p>
            <a:r>
              <a:t>provider so you don't fail halfway. --limit keeps the LLM cost small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best demo. The real-world repo should come back mostly clean</a:t>
            </a:r>
          </a:p>
          <a:p>
            <a:r>
              <a:t>(FPs suppressed) while the vulnerable repo surfaces TPs. csharp uses buildless</a:t>
            </a:r>
          </a:p>
          <a:p>
            <a:r>
              <a:t>CodeQL. Flags: --dry-run, --skip-clone.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E2 is the core skill: run + read a report. E3 shows the multi-turn loop in</a:t>
            </a:r>
          </a:p>
          <a:p>
            <a:r>
              <a:t>action — more iterations can flip a "Needs More Data" into a confident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H1 makes it real — running it on their own code. H3 teaches rule authoring +</a:t>
            </a:r>
          </a:p>
          <a:p>
            <a:r>
              <a:t>CWE routing and the audit script that keeps rules wired to guided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one command to remember: vuln-hunter-x interactive. References are</a:t>
            </a:r>
          </a:p>
          <a:p>
            <a:r>
              <a:t>in the repo README. Point them at WORKSHOP.md for copy-paste commands.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80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645920"/>
            <a:ext cx="5852160" cy="5852160"/>
          </a:xfrm>
          <a:prstGeom prst="ellipse">
            <a:avLst/>
          </a:prstGeom>
          <a:solidFill>
            <a:srgbClr val="6366F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291840"/>
            <a:ext cx="4206240" cy="4206240"/>
          </a:xfrm>
          <a:prstGeom prst="ellipse">
            <a:avLst/>
          </a:prstGeom>
          <a:solidFill>
            <a:srgbClr val="06B6D4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777240"/>
            <a:ext cx="868680" cy="86868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VX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932688"/>
            <a:ext cx="6400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Segoe UI"/>
              </a:rPr>
              <a:t>VulnHunterX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2468880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1328" y="2249424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59E0B"/>
                </a:solidFill>
                <a:latin typeface="Segoe UI"/>
              </a:rPr>
              <a:t>LLM-VERIFIED SAST  ·  HANDS-ON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10789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Find real bugs.</a:t>
            </a:r>
          </a:p>
          <a:p>
            <a:pPr algn="l">
              <a:spcAft>
                <a:spcPts val="200"/>
              </a:spcAft>
            </a:pPr>
            <a:r>
              <a:rPr sz="5400" b="1" i="0">
                <a:solidFill>
                  <a:srgbClr val="06B6D4"/>
                </a:solidFill>
                <a:latin typeface="Segoe UI"/>
              </a:rPr>
              <a:t>Skip the false alarms.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572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0" i="0">
                <a:solidFill>
                  <a:srgbClr val="909CAB"/>
                </a:solidFill>
                <a:latin typeface="Segoe UI"/>
              </a:rPr>
              <a:t>Static analysis finds candidates — an LLM decides which are real.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257800"/>
            <a:ext cx="3246120" cy="640080"/>
          </a:xfrm>
          <a:prstGeom prst="roundRect">
            <a:avLst/>
          </a:prstGeom>
          <a:solidFill>
            <a:srgbClr val="1C2C4A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97316"/>
                </a:solidFill>
                <a:latin typeface="Segoe UI"/>
              </a:rPr>
              <a:t>64  </a:t>
            </a:r>
            <a:r>
              <a:rPr sz="1250" b="0" i="0">
                <a:solidFill>
                  <a:srgbClr val="FFFFFF"/>
                </a:solidFill>
                <a:latin typeface="Segoe UI"/>
              </a:rPr>
              <a:t>custom CodeQL queries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5257800"/>
            <a:ext cx="3246120" cy="640080"/>
          </a:xfrm>
          <a:prstGeom prst="roundRect">
            <a:avLst/>
          </a:prstGeom>
          <a:solidFill>
            <a:srgbClr val="1C2C4A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97316"/>
                </a:solidFill>
                <a:latin typeface="Segoe UI"/>
              </a:rPr>
              <a:t>103  </a:t>
            </a:r>
            <a:r>
              <a:rPr sz="1250" b="0" i="0">
                <a:solidFill>
                  <a:srgbClr val="FFFFFF"/>
                </a:solidFill>
                <a:latin typeface="Segoe UI"/>
              </a:rPr>
              <a:t>custom Semgrep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5257800"/>
            <a:ext cx="3246120" cy="640080"/>
          </a:xfrm>
          <a:prstGeom prst="roundRect">
            <a:avLst/>
          </a:prstGeom>
          <a:solidFill>
            <a:srgbClr val="1C2C4A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97316"/>
                </a:solidFill>
                <a:latin typeface="Segoe UI"/>
              </a:rPr>
              <a:t>8  </a:t>
            </a:r>
            <a:r>
              <a:rPr sz="1250" b="0" i="0">
                <a:solidFill>
                  <a:srgbClr val="FFFFFF"/>
                </a:solidFill>
                <a:latin typeface="Segoe UI"/>
              </a:rPr>
              <a:t>languages  ·  5 profiles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909CAB"/>
                </a:solidFill>
                <a:latin typeface="Segoe UI"/>
              </a:rPr>
              <a:t>60-minute workshop  ·  for developers  ·  CodeQL + Semgrep + LLM triage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Agenda — 60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00584" cy="1078992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17320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1 · The problem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Why SAST drowns you in false positives  ·  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417320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417320"/>
            <a:ext cx="100584" cy="107899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55664" y="1417320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2 · What VulnHunterX is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The one-sentence pitch  ·  5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52344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2752344"/>
            <a:ext cx="100584" cy="1078992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752344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3 · How it works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Pipeline + the multi-turn loop  ·  12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2752344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54496" y="2752344"/>
            <a:ext cx="100584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5664" y="2752344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4 · Toolchain &amp; install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CodeQL, Semgrep, tree-sitter  ·  10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87368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087368"/>
            <a:ext cx="100584" cy="1078992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87368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5 · Windows?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What runs natively, what needs WSL2  ·  5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4496" y="4087368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54496" y="4087368"/>
            <a:ext cx="100584" cy="1078992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4087368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6 · Workshop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Live demo — run it together  ·  10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22392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5422392"/>
            <a:ext cx="100584" cy="107899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5422392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7 · Exercises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Hands-on + homework  ·  5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4496" y="5422392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54496" y="5422392"/>
            <a:ext cx="100584" cy="107899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55664" y="5422392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Wrap-up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Recap &amp; references  ·  3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0" y="640080"/>
            <a:ext cx="502920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32000" b="1" i="0">
                <a:solidFill>
                  <a:srgbClr val="1C2C4A"/>
                </a:solidFill>
                <a:latin typeface="Segoe U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7218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19656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7128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1460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207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954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From noise to signal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0" i="1">
                <a:solidFill>
                  <a:srgbClr val="525F70"/>
                </a:solidFill>
                <a:latin typeface="Segoe UI"/>
              </a:rPr>
              <a:t>SAST over-approximates by design — the cost is human triage, not the scan.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55648" y="1874519"/>
            <a:ext cx="8686800" cy="105156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Hundreds of raw SAST findings</a:t>
            </a:r>
          </a:p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FFFFFF"/>
                </a:solidFill>
                <a:latin typeface="Segoe UI"/>
              </a:rPr>
              <a:t>every program point that *might* be vulnerable</a:t>
            </a:r>
          </a:p>
        </p:txBody>
      </p:sp>
      <p:sp>
        <p:nvSpPr>
          <p:cNvPr id="9" name="Down Arrow 8"/>
          <p:cNvSpPr/>
          <p:nvPr/>
        </p:nvSpPr>
        <p:spPr>
          <a:xfrm>
            <a:off x="5779008" y="2962655"/>
            <a:ext cx="640080" cy="41148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07208" y="3428999"/>
            <a:ext cx="6583680" cy="105156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LLM verification — Vulnhalla guided triage</a:t>
            </a:r>
          </a:p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FFFFFF"/>
                </a:solidFill>
                <a:latin typeface="Segoe UI"/>
              </a:rPr>
              <a:t>evidence-anchored, multi-turn reasoning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779008" y="4517135"/>
            <a:ext cx="640080" cy="41148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995928" y="4983479"/>
            <a:ext cx="4206240" cy="10515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A handful of real, exploitable bugs</a:t>
            </a:r>
          </a:p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FFFFFF"/>
                </a:solidFill>
                <a:latin typeface="Segoe UI"/>
              </a:rPr>
              <a:t>what your team should actually fix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1874519"/>
            <a:ext cx="2331720" cy="352044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Real bugs get</a:t>
            </a:r>
          </a:p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59E0B"/>
                </a:solidFill>
                <a:latin typeface="Segoe UI"/>
              </a:rPr>
              <a:t>buried.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Teams stop</a:t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reading the</a:t>
            </a:r>
          </a:p>
          <a:p>
            <a:pPr algn="ctr">
              <a:spcAft>
                <a:spcPts val="200"/>
              </a:spcAft>
            </a:pPr>
            <a:r>
              <a:rPr sz="2200" b="1" i="0">
                <a:solidFill>
                  <a:srgbClr val="F43F5E"/>
                </a:solidFill>
                <a:latin typeface="Segoe UI"/>
              </a:rPr>
              <a:t>report.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0" y="640080"/>
            <a:ext cx="502920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32000" b="1" i="0">
                <a:solidFill>
                  <a:srgbClr val="1C2C4A"/>
                </a:solidFill>
                <a:latin typeface="Segoe U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What VulnHunterX is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19656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7128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1460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207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954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VulnHunterX in one sentence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554480"/>
            <a:ext cx="105156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274320"/>
          <a:lstStyle/>
          <a:p>
            <a:pPr algn="ctr">
              <a:spcAft>
                <a:spcPts val="200"/>
              </a:spcAft>
            </a:pPr>
            <a:r>
              <a:rPr sz="2600" b="0" i="0">
                <a:solidFill>
                  <a:srgbClr val="0F172A"/>
                </a:solidFill>
                <a:latin typeface="Segoe UI"/>
              </a:rPr>
              <a:t>A Python framework that pairs </a:t>
            </a:r>
            <a:r>
              <a:rPr sz="2600" b="1" i="0">
                <a:solidFill>
                  <a:srgbClr val="6366F1"/>
                </a:solidFill>
                <a:latin typeface="Segoe UI"/>
              </a:rPr>
              <a:t>SAST engines</a:t>
            </a:r>
            <a:r>
              <a:rPr sz="2600" b="0" i="0">
                <a:solidFill>
                  <a:srgbClr val="0F172A"/>
                </a:solidFill>
                <a:latin typeface="Segoe UI"/>
              </a:rPr>
              <a:t> with </a:t>
            </a:r>
            <a:r>
              <a:rPr sz="2600" b="1" i="0">
                <a:solidFill>
                  <a:srgbClr val="F97316"/>
                </a:solidFill>
                <a:latin typeface="Segoe UI"/>
              </a:rPr>
              <a:t>multi-turn LLM verification</a:t>
            </a:r>
          </a:p>
          <a:p>
            <a:pPr algn="ctr">
              <a:spcAft>
                <a:spcPts val="200"/>
              </a:spcAft>
            </a:pPr>
            <a:r>
              <a:rPr sz="2600" b="0" i="0">
                <a:solidFill>
                  <a:srgbClr val="0F172A"/>
                </a:solidFill>
                <a:latin typeface="Segoe UI"/>
              </a:rPr>
              <a:t>to suppress false positives — the </a:t>
            </a:r>
            <a:r>
              <a:rPr sz="2600" b="1" i="0">
                <a:solidFill>
                  <a:srgbClr val="06B6D4"/>
                </a:solidFill>
                <a:latin typeface="Segoe UI"/>
              </a:rPr>
              <a:t>Vulnhalla</a:t>
            </a:r>
            <a:r>
              <a:rPr sz="2600" b="0" i="0">
                <a:solidFill>
                  <a:srgbClr val="0F172A"/>
                </a:solidFill>
                <a:latin typeface="Segoe UI"/>
              </a:rPr>
              <a:t> guided-question methodology.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46304" cy="228600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6366F1"/>
                </a:solidFill>
                <a:latin typeface="Segoe UI"/>
              </a:rPr>
              <a:t>Cite evidence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the LLM must point at real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41605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06B6D4"/>
                </a:solidFill>
                <a:latin typeface="Segoe UI"/>
              </a:rPr>
              <a:t>Pull context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callers, structs, globals on demand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160520"/>
            <a:ext cx="338328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97316"/>
                </a:solidFill>
                <a:latin typeface="Segoe UI"/>
              </a:rPr>
              <a:t>Reason in turns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not pattern-match one snippet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00584" cy="107899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17320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8 languages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C, C++, Python, JavaScript, PHP, Java, Go, C#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4496" y="1417320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417320"/>
            <a:ext cx="100584" cy="1078992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55664" y="1417320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3 SAST engines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CodeQL · Semgrep · OpenGrep  (--tool …)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52344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2752344"/>
            <a:ext cx="100584" cy="1078992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752344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5 rule profiles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standard → extended → maximum → … → full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54496" y="2752344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54496" y="2752344"/>
            <a:ext cx="100584" cy="1078992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5664" y="2752344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LLM providers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OpenAI · Anthropic · Ollama — via LiteLLM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87368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" y="4087368"/>
            <a:ext cx="100584" cy="107899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4087368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Multi-turn verification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context expansion → verdict + confidence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4496" y="4087368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54496" y="4087368"/>
            <a:ext cx="100584" cy="1078992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4087368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Flexible inputs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Git URL · local dir · batch repos.yaml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22392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5422392"/>
            <a:ext cx="100584" cy="107899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8" y="5422392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Reports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Markdown EN/VI — summary + per-finding detail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4496" y="5422392"/>
            <a:ext cx="5449824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54496" y="5422392"/>
            <a:ext cx="100584" cy="1078992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55664" y="5422392"/>
            <a:ext cx="5138928" cy="1078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Fuzzing (C/C++)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25F70"/>
                </a:solidFill>
                <a:latin typeface="Segoe UI"/>
              </a:rPr>
              <a:t>libFuzzer / Atheris / Jazzer + crash triage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0" y="640080"/>
            <a:ext cx="502920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32000" b="1" i="0">
                <a:solidFill>
                  <a:srgbClr val="1C2C4A"/>
                </a:solidFill>
                <a:latin typeface="Segoe U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How it 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63624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167128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1460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207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954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pipeline — 5 steps, 1 command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1938528" cy="118872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Source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git / local / repos.yaml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59736" y="2519172"/>
            <a:ext cx="292608" cy="402336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70632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770632" y="2011680"/>
            <a:ext cx="1938528" cy="11887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70632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Static Analysis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CodeQL · Semgrep · OpenGrep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727448" y="2519172"/>
            <a:ext cx="292608" cy="402336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38344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38344" y="2011680"/>
            <a:ext cx="1938528" cy="118872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38344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SARIF findings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rule · file · line · CWE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995160" y="2519172"/>
            <a:ext cx="292608" cy="402336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06056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06056" y="2011680"/>
            <a:ext cx="1938528" cy="118872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06056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LLM Verification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guided Qs · multi-turn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262872" y="2519172"/>
            <a:ext cx="292608" cy="402336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73768" y="2011680"/>
            <a:ext cx="1938528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73768" y="2011680"/>
            <a:ext cx="1938528" cy="11887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73768" y="2157984"/>
            <a:ext cx="1938528" cy="1271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Verdicts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TP / FP / NMD + confidence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" y="3657600"/>
            <a:ext cx="1371600" cy="38404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prepare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054096" y="3657600"/>
            <a:ext cx="1371600" cy="38404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analyze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21808" y="3657600"/>
            <a:ext cx="1371600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525F70"/>
                </a:solidFill>
                <a:latin typeface="Segoe UI"/>
              </a:rPr>
              <a:t>(SARIF)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89520" y="3657600"/>
            <a:ext cx="1371600" cy="38404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verify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857232" y="3657600"/>
            <a:ext cx="1371600" cy="38404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report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74920"/>
            <a:ext cx="11155680" cy="1051560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175504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25F70"/>
                </a:solidFill>
                <a:latin typeface="Segoe UI"/>
              </a:rPr>
              <a:t>+ 4 optional fuzz stages  (C/C++ only)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559552"/>
            <a:ext cx="2377440" cy="42062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build-sanitized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72968" y="559612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7288" y="5559552"/>
            <a:ext cx="2377440" cy="42062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extract-fuzz-context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43016" y="559612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17336" y="5559552"/>
            <a:ext cx="2377440" cy="42062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generate-fuzz-drivers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13064" y="5596128"/>
            <a:ext cx="274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787384" y="5559552"/>
            <a:ext cx="2377440" cy="420624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fuzz-run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4 core stages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2606040"/>
            <a:ext cx="8686800" cy="5486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3040" y="2194560"/>
            <a:ext cx="822960" cy="822960"/>
          </a:xfrm>
          <a:prstGeom prst="ellipse">
            <a:avLst/>
          </a:prstGeom>
          <a:solidFill>
            <a:srgbClr val="6366F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83280"/>
            <a:ext cx="21031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6366F1"/>
                </a:solidFill>
                <a:latin typeface="Segoe UI"/>
              </a:rPr>
              <a:t>prepare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Clone + CodeQL DB +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context CSVs</a:t>
            </a:r>
          </a:p>
        </p:txBody>
      </p:sp>
      <p:sp>
        <p:nvSpPr>
          <p:cNvPr id="10" name="Oval 9"/>
          <p:cNvSpPr/>
          <p:nvPr/>
        </p:nvSpPr>
        <p:spPr>
          <a:xfrm>
            <a:off x="4325112" y="2194560"/>
            <a:ext cx="822960" cy="822960"/>
          </a:xfrm>
          <a:prstGeom prst="ellipse">
            <a:avLst/>
          </a:prstGeom>
          <a:solidFill>
            <a:srgbClr val="06B6D4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85032" y="3383280"/>
            <a:ext cx="21031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06B6D4"/>
                </a:solidFill>
                <a:latin typeface="Segoe UI"/>
              </a:rPr>
              <a:t>analyze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Run engines →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SARIF findings</a:t>
            </a:r>
          </a:p>
        </p:txBody>
      </p:sp>
      <p:sp>
        <p:nvSpPr>
          <p:cNvPr id="12" name="Oval 11"/>
          <p:cNvSpPr/>
          <p:nvPr/>
        </p:nvSpPr>
        <p:spPr>
          <a:xfrm>
            <a:off x="7187184" y="2194560"/>
            <a:ext cx="822960" cy="822960"/>
          </a:xfrm>
          <a:prstGeom prst="ellipse">
            <a:avLst/>
          </a:prstGeom>
          <a:solidFill>
            <a:srgbClr val="F9731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7104" y="3383280"/>
            <a:ext cx="21031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F97316"/>
                </a:solidFill>
                <a:latin typeface="Segoe UI"/>
              </a:rPr>
              <a:t>verify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LLM triage →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JSON verdicts</a:t>
            </a:r>
          </a:p>
        </p:txBody>
      </p:sp>
      <p:sp>
        <p:nvSpPr>
          <p:cNvPr id="14" name="Oval 13"/>
          <p:cNvSpPr/>
          <p:nvPr/>
        </p:nvSpPr>
        <p:spPr>
          <a:xfrm>
            <a:off x="10049256" y="2194560"/>
            <a:ext cx="822960" cy="82296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3383280"/>
            <a:ext cx="210312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900" b="1" i="0">
                <a:solidFill>
                  <a:srgbClr val="10B981"/>
                </a:solidFill>
                <a:latin typeface="Segoe UI"/>
              </a:rPr>
              <a:t>report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Markdown report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25F70"/>
                </a:solidFill>
                <a:latin typeface="Segoe UI"/>
              </a:rPr>
              <a:t>(EN / VI)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Vulnhalla multi-turn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508760"/>
            <a:ext cx="2011680" cy="118872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55064"/>
            <a:ext cx="2011680" cy="9509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SARIF finding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rule + code snippet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15184" y="1874519"/>
            <a:ext cx="384048" cy="365760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72384" y="1508760"/>
            <a:ext cx="2011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72384" y="1508760"/>
            <a:ext cx="2011680" cy="118872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2384" y="1655064"/>
            <a:ext cx="2011680" cy="9509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Guided questions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rule-specific checklist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38928" y="1874519"/>
            <a:ext cx="384048" cy="365760"/>
          </a:xfrm>
          <a:prstGeom prst="rightArrow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96128" y="1508760"/>
            <a:ext cx="210312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596128" y="1508760"/>
            <a:ext cx="2103120" cy="118872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96128" y="1655064"/>
            <a:ext cx="2103120" cy="95097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LLM reasoning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25F70"/>
                </a:solidFill>
                <a:latin typeface="Segoe UI"/>
              </a:rPr>
              <a:t>answer + decide</a:t>
            </a:r>
          </a:p>
        </p:txBody>
      </p:sp>
      <p:sp>
        <p:nvSpPr>
          <p:cNvPr id="18" name="Diamond 17"/>
          <p:cNvSpPr/>
          <p:nvPr/>
        </p:nvSpPr>
        <p:spPr>
          <a:xfrm>
            <a:off x="8229600" y="1325880"/>
            <a:ext cx="1828800" cy="146304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Verdict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02A4A"/>
                </a:solidFill>
                <a:latin typeface="Segoe UI"/>
              </a:rPr>
              <a:t>ready?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400" y="2057400"/>
            <a:ext cx="502920" cy="0"/>
          </a:xfrm>
          <a:prstGeom prst="line">
            <a:avLst/>
          </a:prstGeom>
          <a:ln w="28575">
            <a:solidFill>
              <a:srgbClr val="10B98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0058400" y="1645920"/>
            <a:ext cx="1463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10B981"/>
                </a:solidFill>
                <a:latin typeface="Segoe UI"/>
              </a:rPr>
              <a:t>yes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0" y="1508760"/>
            <a:ext cx="1325880" cy="10972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Verdict</a:t>
            </a:r>
          </a:p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TP / FP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144000" y="2788920"/>
            <a:ext cx="0" cy="1188719"/>
          </a:xfrm>
          <a:prstGeom prst="bentConnector3">
            <a:avLst/>
          </a:prstGeom>
          <a:ln w="28575">
            <a:solidFill>
              <a:srgbClr val="F59E0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9235440" y="297180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F59E0B"/>
                </a:solidFill>
                <a:latin typeface="Segoe UI"/>
              </a:rPr>
              <a:t>needs more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72384" y="3840480"/>
            <a:ext cx="5852160" cy="114300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Fetch context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callers · all_callers · callees · struct · global · macro ·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Segoe UI"/>
              </a:rPr>
              <a:t>typedef · enum · free_sites · destructor · field_writes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943600" y="2606040"/>
            <a:ext cx="457200" cy="1234440"/>
          </a:xfrm>
          <a:prstGeom prst="bentConnector3">
            <a:avLst/>
          </a:prstGeom>
          <a:ln w="28575">
            <a:solidFill>
              <a:srgbClr val="06B6D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480560" y="5074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25F70"/>
                </a:solidFill>
                <a:latin typeface="Segoe UI"/>
              </a:rPr>
              <a:t>Loop up to </a:t>
            </a:r>
            <a:r>
              <a:rPr sz="1400" b="1" i="0">
                <a:solidFill>
                  <a:srgbClr val="F97316"/>
                </a:solidFill>
                <a:latin typeface="Segoe UI"/>
              </a:rPr>
              <a:t>max_iterations (default 3)</a:t>
            </a:r>
            <a:r>
              <a:rPr sz="1400" b="0" i="0">
                <a:solidFill>
                  <a:srgbClr val="525F70"/>
                </a:solidFill>
                <a:latin typeface="Segoe UI"/>
              </a:rPr>
              <a:t>  until the LLM commits.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What a verdict looks like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76656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766560" cy="64008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Finding #12  ·  cpp/use-after-free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481328"/>
            <a:ext cx="1417320" cy="420624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Segoe UI"/>
              </a:rPr>
              <a:t>TRUE POSITIVE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402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25F70"/>
                </a:solidFill>
                <a:latin typeface="Segoe UI"/>
              </a:rPr>
              <a:t>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6126480" cy="347472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2651760"/>
            <a:ext cx="5266944" cy="347472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7004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High · 0.86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46120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25F70"/>
                </a:solidFill>
                <a:latin typeface="Segoe UI"/>
              </a:rPr>
              <a:t>Reasoning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611880"/>
            <a:ext cx="6309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Tainted length from recv() reaches memcpy() with no bounds check;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attacker-controlled. Confirmed by fetching caller parse_packet(),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0F172A"/>
                </a:solidFill>
                <a:latin typeface="Segoe UI"/>
              </a:rPr>
              <a:t>which frees buf before the copy. Reachable on the error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440680"/>
            <a:ext cx="1371600" cy="38404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2 turns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5440680"/>
            <a:ext cx="2011680" cy="38404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CWE-416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1554480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verdict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TP / FP / Needs More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0" y="2441448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confidence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High / Medium / Low + score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0" y="3328416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reasoning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evidence-anchored, cites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4215384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iterations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turns the LLM took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5102352"/>
            <a:ext cx="406908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F97316"/>
                </a:solidFill>
                <a:latin typeface="Segoe UI"/>
              </a:rPr>
              <a:t>data_flow</a:t>
            </a:r>
            <a:r>
              <a:rPr sz="1250" b="0" i="0">
                <a:solidFill>
                  <a:srgbClr val="525F70"/>
                </a:solidFill>
                <a:latin typeface="Segoe UI"/>
              </a:rPr>
              <a:t>   source→sink trace (CodeQL)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Rules &amp; coverage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 i="1">
                <a:solidFill>
                  <a:srgbClr val="909CAB"/>
                </a:solidFill>
                <a:latin typeface="Segoe UI"/>
              </a:rPr>
              <a:t>Counted from config/ at build time — not copied from the README.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6366F1"/>
                </a:solidFill>
                <a:latin typeface="Segoe UI"/>
              </a:rPr>
              <a:t>64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custom CodeQL queries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cpp 16 · csharp 5 · go 8 · java 10 · javascript 14 · python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37360"/>
            <a:ext cx="3566160" cy="128016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5196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06B6D4"/>
                </a:solidFill>
                <a:latin typeface="Segoe UI"/>
              </a:rPr>
              <a:t>103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custom Semgrep rules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cpp 4 · csharp 14 · go 19 · java 16 · javascript 14 · php 14 · python 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737360"/>
            <a:ext cx="3566160" cy="128016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955280" y="173736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5200" b="1" i="0">
                <a:solidFill>
                  <a:srgbClr val="F97316"/>
                </a:solidFill>
                <a:latin typeface="Segoe UI"/>
              </a:rPr>
              <a:t>~366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02A4A"/>
                </a:solidFill>
                <a:latin typeface="Segoe UI"/>
              </a:rPr>
              <a:t>guided-question sets · 8 banks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25F70"/>
                </a:solidFill>
                <a:latin typeface="Segoe UI"/>
              </a:rPr>
              <a:t>rule-specific checklists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737360"/>
            <a:ext cx="3566160" cy="128016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11109960" cy="141732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5 rule profiles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standard → extended → maximum → extended-registry → full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06B6D4"/>
                </a:solidFill>
                <a:latin typeface="Segoe UI"/>
              </a:rPr>
              <a:t>124-entry CWE routing map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routes findings to the right guided questions</a:t>
            </a:r>
          </a:p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0B981"/>
                </a:solidFill>
                <a:latin typeface="Segoe UI"/>
              </a:rPr>
              <a:t>~5–10× more rules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   from --profile standard to --profile full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0" y="640080"/>
            <a:ext cx="502920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32000" b="1" i="0">
                <a:solidFill>
                  <a:srgbClr val="1C2C4A"/>
                </a:solidFill>
                <a:latin typeface="Segoe U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The toolchain &amp; installation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6362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11096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1460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207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954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four tools — what each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00584" cy="1783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630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02A4A"/>
                </a:solidFill>
                <a:latin typeface="Segoe UI"/>
              </a:rPr>
              <a:t>CodeQL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Semantic, database-driven taint analysis — the deepest engine. Needs a DB build.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45736" y="1591056"/>
            <a:ext cx="1097280" cy="36576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100584" cy="178308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64808" y="14630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02A4A"/>
                </a:solidFill>
                <a:latin typeface="Segoe UI"/>
              </a:rPr>
              <a:t>Semgrep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Fast pattern-based rules across many languages. No DB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60736" y="1591056"/>
            <a:ext cx="1097280" cy="3657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breadth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100584" cy="1783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35204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02A4A"/>
                </a:solidFill>
                <a:latin typeface="Segoe UI"/>
              </a:rPr>
              <a:t>OpenGrep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Semgrep-compatible fork — same rules, drop-in alternative.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45736" y="3648456"/>
            <a:ext cx="1097280" cy="3657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alt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5204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520440"/>
            <a:ext cx="100584" cy="1783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4808" y="35204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02A4A"/>
                </a:solidFill>
                <a:latin typeface="Segoe UI"/>
              </a:rPr>
              <a:t>tree-sitter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Syntactic context extraction — pip-installed fallback when there's no CodeQL DB.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0736" y="364845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fallback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Install VulnHunterX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498348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566928"/>
          <a:lstStyle/>
          <a:p>
            <a:pPr algn="ctr"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Prerequisites: Python 3.12+, CodeQL CLI 2.15+, an LLM provider key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git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clone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https://github.com/vinsoc-cyber/VulnHunterX.git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&amp;&amp;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cd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VulnHunterX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uv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venv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python3.12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.venv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&amp;&amp;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1" i="0">
                <a:solidFill>
                  <a:srgbClr val="4FC9A8"/>
                </a:solidFill>
                <a:latin typeface="Consolas"/>
              </a:rPr>
              <a:t>source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.venv/bin/activate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uv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pip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install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".[dev]"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plain  python3.12 -m venv + pip  also works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cp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env.example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.env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add OPENAI / ANTHROPIC / OLLAMA keys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check-env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verify the whole toolchain is green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7276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727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7276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Configuration you need to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498348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566928"/>
          <a:lstStyle/>
          <a:p>
            <a:pPr algn="ctr"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.env  — provider keys + optional tool paths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LLM_PROVIDER=openai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openai | anthropic | ollama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LLM_MODEL=gpt-4o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OPENAI_API_KEY=sk-...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   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or ANTHROPIC_API_KEY / OLLAMA_API_BASE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CODEQL_PATH=/path/to/codeql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only if codeql isn't on your PATH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SEMGREP_PATH=/path/to/semgrep</a:t>
            </a:r>
            <a:r>
              <a:rPr sz="1550" b="0" i="1">
                <a:solidFill>
                  <a:srgbClr val="6E8BA3"/>
                </a:solidFill>
                <a:latin typeface="Consolas"/>
              </a:rPr>
              <a:t>  # only if semgrep isn't on your PATH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config/confirm_findings.yaml  — verification tuning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provider: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openai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model: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gpt-4o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temperature: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0.2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max_iterations: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3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config/repos.yaml  — batch targets (name, url, language, build_command)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7276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727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7276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0" y="640080"/>
            <a:ext cx="502920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32000" b="1" i="0">
                <a:solidFill>
                  <a:srgbClr val="1C2C4A"/>
                </a:solidFill>
                <a:latin typeface="Segoe U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Does it run on Windows?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6362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11096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58568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207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954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Windows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47725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00584" cy="9601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371600"/>
            <a:ext cx="516636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VulnHunterX core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POSIX build scripts break C/C++ build automation natively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82312" y="1499616"/>
            <a:ext cx="1097280" cy="36576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Partial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371600"/>
            <a:ext cx="547725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27064" y="1371600"/>
            <a:ext cx="100584" cy="9601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28232" y="1371600"/>
            <a:ext cx="516636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CodeQL CLI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Official win64 binary; build cmd must be Windows-friendly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60736" y="149961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Yes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32888"/>
            <a:ext cx="547725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532888"/>
            <a:ext cx="100584" cy="96012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532888"/>
            <a:ext cx="516636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Semgrep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Use Docker or WSL2 for reliable runs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82312" y="2660904"/>
            <a:ext cx="1097280" cy="36576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Limited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2532888"/>
            <a:ext cx="547725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27064" y="2532888"/>
            <a:ext cx="100584" cy="96012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28232" y="2532888"/>
            <a:ext cx="516636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OpenGrep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Same as Semgrep — check releases / use WSL2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0736" y="2660904"/>
            <a:ext cx="1097280" cy="36576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Limited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694176"/>
            <a:ext cx="547725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3694176"/>
            <a:ext cx="100584" cy="9601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9808" y="3694176"/>
            <a:ext cx="516636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tree-sitter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Pure-Python wheels — works everywhere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82312" y="3822192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Full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27064" y="3694176"/>
            <a:ext cx="547725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227064" y="3694176"/>
            <a:ext cx="100584" cy="96012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28232" y="3694176"/>
            <a:ext cx="516636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Fuzz stages 5–8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Need clang ASan/UBSan — Linux/macOS 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60736" y="3822192"/>
            <a:ext cx="1097280" cy="36576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No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855464"/>
            <a:ext cx="5477256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8640" y="4855464"/>
            <a:ext cx="100584" cy="96012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9808" y="4855464"/>
            <a:ext cx="516636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02A4A"/>
                </a:solidFill>
                <a:latin typeface="Segoe UI"/>
              </a:rPr>
              <a:t>LLM providers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525F70"/>
                </a:solidFill>
                <a:latin typeface="Segoe UI"/>
              </a:rPr>
              <a:t>HTTP-based — no platform dependency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82312" y="4983480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Full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Recommendation for Windows users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881360" cy="146304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400" b="0" i="0">
                <a:solidFill>
                  <a:srgbClr val="FFFFFF"/>
                </a:solidFill>
                <a:latin typeface="Segoe UI"/>
              </a:rPr>
              <a:t>Run VulnHunterX inside  </a:t>
            </a:r>
            <a:r>
              <a:rPr sz="2400" b="1" i="0">
                <a:solidFill>
                  <a:srgbClr val="06B6D4"/>
                </a:solidFill>
                <a:latin typeface="Segoe UI"/>
              </a:rPr>
              <a:t>WSL2</a:t>
            </a:r>
            <a:r>
              <a:rPr sz="2400" b="0" i="0">
                <a:solidFill>
                  <a:srgbClr val="FFFFFF"/>
                </a:solidFill>
                <a:latin typeface="Segoe UI"/>
              </a:rPr>
              <a:t>  (Ubuntu) or a Linux  </a:t>
            </a:r>
            <a:r>
              <a:rPr sz="2400" b="1" i="0">
                <a:solidFill>
                  <a:srgbClr val="06B6D4"/>
                </a:solidFill>
                <a:latin typeface="Segoe UI"/>
              </a:rPr>
              <a:t>Docker</a:t>
            </a:r>
            <a:r>
              <a:rPr sz="2400" b="0" i="0">
                <a:solidFill>
                  <a:srgbClr val="FFFFFF"/>
                </a:solidFill>
                <a:latin typeface="Segoe UI"/>
              </a:rPr>
              <a:t>  container.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59E0B"/>
                </a:solidFill>
                <a:latin typeface="Segoe UI"/>
              </a:rPr>
              <a:t>Full toolchain — Semgrep, CodeQL, fuzzing — with no caveats.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108813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64748B"/>
                </a:solidFill>
                <a:latin typeface="Segoe UI"/>
              </a:rPr>
              <a:t>Native Windows is fine for:   </a:t>
            </a:r>
            <a:r>
              <a:rPr sz="1500" b="0" i="0">
                <a:solidFill>
                  <a:srgbClr val="525F70"/>
                </a:solidFill>
                <a:latin typeface="Segoe UI"/>
              </a:rPr>
              <a:t>editing code · reading reports · calling the 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246120"/>
            <a:ext cx="118872" cy="77724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4160520"/>
            <a:ext cx="108813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0B981"/>
                </a:solidFill>
                <a:latin typeface="Segoe UI"/>
              </a:rPr>
              <a:t>Linux / macOS users:   </a:t>
            </a:r>
            <a:r>
              <a:rPr sz="1500" b="0" i="0">
                <a:solidFill>
                  <a:srgbClr val="525F70"/>
                </a:solidFill>
                <a:latin typeface="Segoe UI"/>
              </a:rPr>
              <a:t>install natively — see Part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160520"/>
            <a:ext cx="118872" cy="77724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5074920"/>
            <a:ext cx="108813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6B6D4"/>
                </a:solidFill>
                <a:latin typeface="Segoe UI"/>
              </a:rPr>
              <a:t>Windows users:   </a:t>
            </a:r>
            <a:r>
              <a:rPr sz="1500" b="0" i="0">
                <a:solidFill>
                  <a:srgbClr val="525F70"/>
                </a:solidFill>
                <a:latin typeface="Segoe UI"/>
              </a:rPr>
              <a:t>wsl --install, then follow the same steps inside WSL2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74920"/>
            <a:ext cx="118872" cy="77724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0" y="640080"/>
            <a:ext cx="502920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32000" b="1" i="0">
                <a:solidFill>
                  <a:srgbClr val="1C2C4A"/>
                </a:solidFill>
                <a:latin typeface="Segoe U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Workshop — let's run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6362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11096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58568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06040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0954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Three ways to start a scan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27080" cy="498348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566928"/>
          <a:lstStyle/>
          <a:p>
            <a:pPr algn="ctr"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1) Friendliest: a guided wizard (prompts for everything, live-tests your LLM)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interactive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2) One-shot: the whole pipeline in a single command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scan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--url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https://github.com/org/app.git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\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                 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--lang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--profile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extended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--limit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5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3) Stage by stage (full control)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prepare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pyyaml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analyze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pyyaml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--profile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extended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verify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pyyaml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--limit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5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vuln-hunter-x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report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--repo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pyyaml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--lang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7276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7276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7276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The fastest demo: an example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6400800" cy="2743200"/>
          </a:xfrm>
          <a:prstGeom prst="roundRect">
            <a:avLst/>
          </a:prstGeom>
          <a:solidFill>
            <a:srgbClr val="0D1726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548640"/>
          <a:lstStyle/>
          <a:p>
            <a:pPr algn="ctr"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real-world repo + vulnerable repo, full pipeline on both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examples/pipeline_python.py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50" b="0" i="1">
                <a:solidFill>
                  <a:srgbClr val="6E8BA3"/>
                </a:solidFill>
                <a:latin typeface="Consolas"/>
              </a:rPr>
              <a:t># smoke-test without spending LLM calls: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python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examples/pipeline_python.py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F59E0B"/>
                </a:solidFill>
                <a:latin typeface="Consolas"/>
              </a:rPr>
              <a:t>--dry-run</a:t>
            </a:r>
          </a:p>
          <a:p>
            <a:pPr>
              <a:spcAft>
                <a:spcPts val="200"/>
              </a:spcAft>
            </a:pP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50" b="1" i="0">
                <a:solidFill>
                  <a:srgbClr val="4FC9A8"/>
                </a:solidFill>
                <a:latin typeface="Consolas"/>
              </a:rPr>
              <a:t>cat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 </a:t>
            </a:r>
            <a:r>
              <a:rPr sz="1550" b="0" i="0">
                <a:solidFill>
                  <a:srgbClr val="CCD8E6"/>
                </a:solidFill>
                <a:latin typeface="Consolas"/>
              </a:rPr>
              <a:t>output/python/pyyaml/verification_results/report.md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1527048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4712" y="1527048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80744" y="1527048"/>
            <a:ext cx="146304" cy="14630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0" y="1325880"/>
            <a:ext cx="43434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02A4A"/>
                </a:solidFill>
                <a:latin typeface="Segoe UI"/>
              </a:rPr>
              <a:t>PyYAML</a:t>
            </a:r>
            <a:r>
              <a:rPr sz="1200" b="0" i="1">
                <a:solidFill>
                  <a:srgbClr val="525F70"/>
                </a:solidFill>
                <a:latin typeface="Segoe UI"/>
              </a:rPr>
              <a:t>  — real-world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0B981"/>
                </a:solidFill>
                <a:latin typeface="Segoe UI"/>
              </a:rPr>
              <a:t>mostly clean → false positives suppressed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1325880"/>
            <a:ext cx="118872" cy="1298448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0" y="2770632"/>
            <a:ext cx="43434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02A4A"/>
                </a:solidFill>
                <a:latin typeface="Segoe UI"/>
              </a:rPr>
              <a:t>dvpwa</a:t>
            </a:r>
            <a:r>
              <a:rPr sz="1200" b="0" i="1">
                <a:solidFill>
                  <a:srgbClr val="525F70"/>
                </a:solidFill>
                <a:latin typeface="Segoe UI"/>
              </a:rPr>
              <a:t>  — vulnerable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43F5E"/>
                </a:solidFill>
                <a:latin typeface="Segoe UI"/>
              </a:rPr>
              <a:t>surfaces real true positives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770632"/>
            <a:ext cx="118872" cy="129844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1018520" cy="1371600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59E0B"/>
                </a:solidFill>
                <a:latin typeface="Segoe UI"/>
              </a:rPr>
              <a:t>The whole value proposition in one screen: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Segoe UI"/>
              </a:rPr>
              <a:t>the contrast between a clean real-world repo and a vulnerable one.</a:t>
            </a:r>
          </a:p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909CAB"/>
                </a:solidFill>
                <a:latin typeface="Segoe UI"/>
              </a:rPr>
              <a:t>Per-language scripts exist for all 8 languages.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B1120"/>
              </a:gs>
              <a:gs pos="100000">
                <a:srgbClr val="1B2947"/>
              </a:gs>
            </a:gsLst>
            <a:lin scaled="0" ang="19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0" y="640080"/>
            <a:ext cx="5029200" cy="5303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32000" b="1" i="0">
                <a:solidFill>
                  <a:srgbClr val="1C2C4A"/>
                </a:solidFill>
                <a:latin typeface="Segoe U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670048"/>
            <a:ext cx="502920" cy="10972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08760" y="2450592"/>
            <a:ext cx="7315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F59E0B"/>
                </a:solidFill>
                <a:latin typeface="Segoe UI"/>
              </a:rPr>
              <a:t>PART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44368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Exercises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60520"/>
            <a:ext cx="2926080" cy="4572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216152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63624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911096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58568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06040" y="6126480"/>
            <a:ext cx="201168" cy="146304"/>
          </a:xfrm>
          <a:prstGeom prst="roundRect">
            <a:avLst/>
          </a:prstGeom>
          <a:solidFill>
            <a:srgbClr val="1C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53512" y="6126480"/>
            <a:ext cx="457200" cy="146304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In-session exercises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00584" cy="1783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630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E1 · Green toolchain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vuln-hunter-x check-env until every engine + provider is OK. (Windows: in WSL2/Docker.)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45736" y="1591056"/>
            <a:ext cx="1097280" cy="36576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100584" cy="178308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64808" y="14630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E2 · First scan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pipeline_python.py --dry-run, then a real --limit 3 run; open report.md, find 1 TP + 1 FP.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60736" y="1591056"/>
            <a:ext cx="1097280" cy="36576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3520440"/>
            <a:ext cx="100584" cy="178308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35204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E3 · Iterations matter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Re-run verify --max-iterations 5; compare verdicts/confidence vs the default 3.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45736" y="3648456"/>
            <a:ext cx="1097280" cy="36576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loop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5204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63640" y="3520440"/>
            <a:ext cx="100584" cy="178308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64808" y="35204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E4 · Another language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Run examples/pipeline_go.py (or java/php) and read its report.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60736" y="3648456"/>
            <a:ext cx="1097280" cy="36576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explore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Homework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100584" cy="178308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4630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H1 · Scan your own code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vuln-hunter-x scan --local-path &lt;repo&gt; --lang &lt;lang&gt; --profile full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45736" y="1591056"/>
            <a:ext cx="1097280" cy="365760"/>
          </a:xfrm>
          <a:prstGeom prst="round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do this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630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1463040"/>
            <a:ext cx="100584" cy="178308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64808" y="14630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H2 · Compare providers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Verify the same SARIF with --provider openai vs ollama; note where verdicts differ.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04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3520440"/>
            <a:ext cx="100584" cy="178308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49808" y="35204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H3 · Write a custom rule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Add to semgrep-custom/&lt;lang&gt;.yaml (metadata.cwe), run --profile full, then audit_rule_coverage.py --fail-on-gaps.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520440"/>
            <a:ext cx="54406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3520440"/>
            <a:ext cx="100584" cy="178308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64808" y="3520440"/>
            <a:ext cx="5129784" cy="1783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102A4A"/>
                </a:solidFill>
                <a:latin typeface="Segoe UI"/>
              </a:rPr>
              <a:t>H4 · Stretch (Linux/macOS)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25F70"/>
                </a:solidFill>
                <a:latin typeface="Segoe UI"/>
              </a:rPr>
              <a:t>Fuzz a C target: build-sanitized → fuzz-run on libucl.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0736" y="3648456"/>
            <a:ext cx="1097280" cy="36576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optional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9692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 i="0">
                <a:solidFill>
                  <a:srgbClr val="102A4A"/>
                </a:solidFill>
                <a:latin typeface="Segoe UI"/>
              </a:rPr>
              <a:t>Recap &amp;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42415"/>
            <a:ext cx="1371600" cy="41148"/>
          </a:xfrm>
          <a:prstGeom prst="rect">
            <a:avLst/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0" y="3840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200" b="1" i="0">
                <a:solidFill>
                  <a:srgbClr val="909CAB"/>
                </a:solidFill>
                <a:latin typeface="Segoe UI"/>
              </a:rPr>
              <a:t>VulnHunterX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 i="0">
                <a:solidFill>
                  <a:srgbClr val="909CAB"/>
                </a:solidFill>
                <a:latin typeface="Segoe UI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108813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6366F1"/>
                </a:solidFill>
                <a:latin typeface="Segoe UI"/>
              </a:rPr>
              <a:t>SAST over-approximates:   </a:t>
            </a:r>
            <a:r>
              <a:rPr sz="1500" b="0" i="0">
                <a:solidFill>
                  <a:srgbClr val="525F70"/>
                </a:solidFill>
                <a:latin typeface="Segoe UI"/>
              </a:rPr>
              <a:t>VulnHunterX adds an LLM triage stage, with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18872" cy="749808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286000"/>
            <a:ext cx="108813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6B6D4"/>
                </a:solidFill>
                <a:latin typeface="Segoe UI"/>
              </a:rPr>
              <a:t>Pipeline:   </a:t>
            </a:r>
            <a:r>
              <a:rPr sz="1500" b="0" i="0">
                <a:solidFill>
                  <a:srgbClr val="525F70"/>
                </a:solidFill>
                <a:latin typeface="Segoe UI"/>
              </a:rPr>
              <a:t>prepare → analyze → verify → report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18872" cy="749808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154680"/>
            <a:ext cx="108813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F59E0B"/>
                </a:solidFill>
                <a:latin typeface="Segoe UI"/>
              </a:rPr>
              <a:t>64 CodeQL + 103 Semgrep rules:   </a:t>
            </a:r>
            <a:r>
              <a:rPr sz="1500" b="0" i="0">
                <a:solidFill>
                  <a:srgbClr val="525F70"/>
                </a:solidFill>
                <a:latin typeface="Segoe UI"/>
              </a:rPr>
              <a:t>8 languages · 5 profiles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118872" cy="74980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88136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E4EC"/>
            </a:solidFill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64748B"/>
                </a:solidFill>
                <a:latin typeface="Segoe UI"/>
              </a:rPr>
              <a:t>Windows:   </a:t>
            </a:r>
            <a:r>
              <a:rPr sz="1500" b="0" i="0">
                <a:solidFill>
                  <a:srgbClr val="525F70"/>
                </a:solidFill>
                <a:latin typeface="Segoe UI"/>
              </a:rPr>
              <a:t>use WSL2 / Docker for the full toolchain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23360"/>
            <a:ext cx="118872" cy="749808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892040"/>
            <a:ext cx="10881360" cy="749808"/>
          </a:xfrm>
          <a:prstGeom prst="roundRect">
            <a:avLst/>
          </a:prstGeom>
          <a:solidFill>
            <a:srgbClr val="0B1120"/>
          </a:solidFill>
          <a:ln>
            <a:noFill/>
          </a:ln>
          <a:effectLst>
            <a:outerShdw blurRad="80000" dist="38000" dir="5400000" rotWithShape="0">
              <a:srgbClr val="0F172A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59E0B"/>
                </a:solidFill>
                <a:latin typeface="Segoe UI"/>
              </a:rPr>
              <a:t>Start here →  </a:t>
            </a:r>
            <a:r>
              <a:rPr sz="1700" b="1" i="0">
                <a:solidFill>
                  <a:srgbClr val="10B981"/>
                </a:solidFill>
                <a:latin typeface="Segoe UI"/>
              </a:rPr>
              <a:t>vuln-hunter-x interactive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250" b="0" i="1">
                <a:solidFill>
                  <a:srgbClr val="909CAB"/>
                </a:solidFill>
                <a:latin typeface="Segoe UI"/>
              </a:rPr>
              <a:t>References:  Vulnhalla (CyberArk) · CodeQL docs · Semgrep docs · SARIF spec · repo README + config/RULES.md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