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Four parts: what VulnHunterX is (features, architecture, methodology and</a:t>
            </a:r>
          </a:p>
          <a:p>
            <a:r>
              <a:t>benchmark results), how to install and use it, a real worked example on dvpwa, then</a:t>
            </a:r>
          </a:p>
          <a:p>
            <a:r>
              <a:t>homework on dvcp. Audience: developers — no security expertise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parts: understand it, install it, watch it work on dvpwa, then do it yourself on dvcp.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SAST flags everything that might be vulnerable. The dominant production cost is</a:t>
            </a:r>
          </a:p>
          <a:p>
            <a:r>
              <a:t>a human triaging the results — alert fatigue means real bugs get buried.</a:t>
            </a:r>
          </a:p>
          <a:p>
            <a:r>
              <a:t>VulnHunterX inserts an LLM verification stage to cut the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Vulnhalla is a CyberArk methodology (reference at the end). The distinction vs</a:t>
            </a:r>
          </a:p>
          <a:p>
            <a:r>
              <a:t>"just ask ChatGPT": the LLM answers a rule-specific checklist BEFORE a verdict</a:t>
            </a:r>
          </a:p>
          <a:p>
            <a:r>
              <a:t>and fetches real surrounding code instead of guessing from one snippet.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C# is the newest language — buildless CodeQL extraction, no dotnet build needed.</a:t>
            </a:r>
          </a:p>
          <a:p>
            <a:r>
              <a:t>Most of the room will have at least one of these 8 languages in their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README "Pipeline Stages". prepare → analyze → verify → report are the four</a:t>
            </a:r>
          </a:p>
          <a:p>
            <a:r>
              <a:t>supported stages; `scan` runs them in one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stages individually or all at once with `scan`. Stages 2-3 accept</a:t>
            </a:r>
          </a:p>
          <a:p>
            <a:r>
              <a:t>--local-path to run directly on any directory without a config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Anchor: docs/context-extraction-flow.md. Two-phase context: pre-fetched upfront</a:t>
            </a:r>
          </a:p>
          <a:p>
            <a:r>
              <a:t>(function-name keyed) vs reactive (only when the LLM asks). 11 context types;</a:t>
            </a:r>
          </a:p>
          <a:p>
            <a:r>
              <a:t>the last three are C/C++-specific (use-after-free / TOCTOU). The loop</a:t>
            </a:r>
          </a:p>
          <a:p>
            <a:r>
              <a:t>deduplicates requests and can force a decision if the LLM stalls.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*_questions.yaml is a per-language bank of rule-specific checklists, loaded by</a:t>
            </a:r>
          </a:p>
          <a:p>
            <a:r>
              <a:t>QuestionsLoader (src/vuln_hunter_x/questions/loader.py). The questions are written to</a:t>
            </a:r>
          </a:p>
          <a:p>
            <a:r>
              <a:t>force EXACT sink quoting, full assignment tracing, and concrete defense naming — the</a:t>
            </a:r>
          </a:p>
          <a:p>
            <a:r>
              <a:t>opposite of pattern-matching a snippet. additional_context drives the multi-turn fetch</a:t>
            </a:r>
          </a:p>
          <a:p>
            <a:r>
              <a:t>loop; min_iterations forces a second look on FP-prone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common CWE like SQL injection (CWE-89) gets a bank in every framework language. The</a:t>
            </a:r>
          </a:p>
          <a:p>
            <a:r>
              <a:t>checklists share structure but name the REAL APIs of each language — that is what makes</a:t>
            </a:r>
          </a:p>
          <a:p>
            <a:r>
              <a:t>the LLM cite concrete evidence. C/C++ has no native SQL, so there is no SQL bank there;</a:t>
            </a:r>
          </a:p>
          <a:p>
            <a:r>
              <a:t>the C/C++ banks target memory-safety classes instead (use-after-free, integer-overflow).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a Semgrep finding (no CodeQL id) still lands on a rule-specific checklist —</a:t>
            </a:r>
          </a:p>
          <a:p>
            <a:r>
              <a:t>it routes by its CWE tag. And why path-traversal / SQLi verdicts get a forced second</a:t>
            </a:r>
          </a:p>
          <a:p>
            <a:r>
              <a:t>pass: the _CWE_MIN_ITERATIONS_OVERRIDE table (loader.py) raises min_iterations to 2 for</a:t>
            </a:r>
          </a:p>
          <a:p>
            <a:r>
              <a:t>FP-prone classes. Measured on the OWASP-python benchmark: CWE-22 accuracy jumped from</a:t>
            </a:r>
          </a:p>
          <a:p>
            <a:r>
              <a:t>57.1% to 95.8% with the second iteration. Taint overrides are gated to framework</a:t>
            </a:r>
          </a:p>
          <a:p>
            <a:r>
              <a:t>languages (no benefit on C); access-control applies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Verdicts are JSON, rendered into report.md. Confidence is downgraded when the</a:t>
            </a:r>
          </a:p>
          <a:p>
            <a:r>
              <a:t>model reasons in pattern-matching language without citing actual code — a</a:t>
            </a:r>
          </a:p>
          <a:p>
            <a:r>
              <a:t>deliberate guard against confident hallucination.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numbers are computed by generate_deck.py from the live config/ tree (the</a:t>
            </a:r>
          </a:p>
          <a:p>
            <a:r>
              <a:t>README summary table is stale). CodeQL custom = 65, Semgrep custom =</a:t>
            </a:r>
          </a:p>
          <a:p>
            <a:r>
              <a:t>108, guided-question rule-sets ~= 365 across</a:t>
            </a:r>
          </a:p>
          <a:p>
            <a:r>
              <a:t>8 banks. Custom rules are only layered on under --profile full.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benchmarks/results/matrix_20260604_151302/deepseek/REPORT.md (Summary</a:t>
            </a:r>
          </a:p>
          <a:p>
            <a:r>
              <a:t>Comparison). raw-sast vs vulnhunterx on 300 OWASP-Python findings: precision</a:t>
            </a:r>
          </a:p>
          <a:p>
            <a:r>
              <a:t>37.7%→87.3%, F1 54.7%→92.4%, 91.4% of false positives removed while recall stays</a:t>
            </a:r>
          </a:p>
          <a:p>
            <a:r>
              <a:t>at 98.2%. Headline: far fewer false alarms, almost no real bugs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REPORT.md (Iteration×Confidence + Cost tables). Cleanest signal is the</a:t>
            </a:r>
          </a:p>
          <a:p>
            <a:r>
              <a:t>early-terminate bucket: 1-turn/High 81.8% vs 2-turn/High 96.9% — a second pass to</a:t>
            </a:r>
          </a:p>
          <a:p>
            <a:r>
              <a:t>expand context flips many borderline verdicts. High-confidence calibration 94.2%;</a:t>
            </a:r>
          </a:p>
          <a:p>
            <a:r>
              <a:t>mean 2.6 turns; $0.40 / 300 findings on DeepSeek (free on local Ollama).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REPORT.md (Per-CWE Breakdown) and matrix_20260604_224953/COMPARISON.md</a:t>
            </a:r>
          </a:p>
          <a:p>
            <a:r>
              <a:t>(OWASP-Java model comparison). Easy injection classes hit F1 100%; XXE (CWE-611)</a:t>
            </a:r>
          </a:p>
          <a:p>
            <a:r>
              <a:t>is the honest hard case at 50%. Across models the method holds: stronger models</a:t>
            </a:r>
          </a:p>
          <a:p>
            <a:r>
              <a:t>give higher precision, and a local Ollama model still removes false positives at</a:t>
            </a:r>
          </a:p>
          <a:p>
            <a:r>
              <a:t>$0 — useful when code cannot leave the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CodeQL is the backbone. Semgrep/OpenGrep add breadth and run without a DB.</a:t>
            </a:r>
          </a:p>
          <a:p>
            <a:r>
              <a:t>tree-sitter is the safety net — pure Python, ships with the pip install.</a:t>
            </a:r>
          </a:p>
          <a:p>
            <a:r>
              <a:t>`check-env` verifies all of them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 commands from README "Install". uv is recommended but optional. Run</a:t>
            </a:r>
          </a:p>
          <a:p>
            <a:r>
              <a:t>check-env first — it reports which engines and provider keys are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Priority: CLI args &gt; env vars &gt; config file &gt; defaults. Local Ollama needs no</a:t>
            </a:r>
          </a:p>
          <a:p>
            <a:r>
              <a:t>key. C/C++ need a build_command; C# uses buildless extraction so it doesn't.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demo with `interactive` — it validates inputs and live-tests the</a:t>
            </a:r>
          </a:p>
          <a:p>
            <a:r>
              <a:t>provider so you don't fail halfway. --limit keeps the LLM cost small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dvpwa = Damn Vulnerable Python Web App (aiohttp, anxolerd/dvpwa). We run it beside</a:t>
            </a:r>
          </a:p>
          <a:p>
            <a:r>
              <a:t>pyyaml — a clean real-world library — so the room sees both sides: TPs surfaced on</a:t>
            </a:r>
          </a:p>
          <a:p>
            <a:r>
              <a:t>dvpwa, FPs suppressed on pyyaml. The realvuln ground truth labels 22 genuine</a:t>
            </a:r>
          </a:p>
          <a:p>
            <a:r>
              <a:t>vulnerabilities and 4 deliberate false-positive traps; next slides give the</a:t>
            </a:r>
          </a:p>
          <a:p>
            <a:r>
              <a:t>commands and the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examples/pipeline_python.py runs pyyaml + dvpwa end to end (REPOS list in the</a:t>
            </a:r>
          </a:p>
          <a:p>
            <a:r>
              <a:t>script). --dry-run prints the commands without calling the LLM. report.md holds</a:t>
            </a:r>
          </a:p>
          <a:p>
            <a:r>
              <a:t>per-finding verdicts (TP / FP / NMD) with evidence-anchored reasoning. Keep</a:t>
            </a:r>
          </a:p>
          <a:p>
            <a:r>
              <a:t>--limit small so a live demo stays cheap.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benchmarks/datasets/realvuln/ground-truth/realvuln-dvpwa/ground-truth.json</a:t>
            </a:r>
          </a:p>
          <a:p>
            <a:r>
              <a:t>(22 is_vulnerable=true entries + 4 is_vulnerable=false traps). The traps are the</a:t>
            </a:r>
          </a:p>
          <a:p>
            <a:r>
              <a:t>teaching moment: three DAO create() methods use psycopg2 placeholders (safe) and</a:t>
            </a:r>
          </a:p>
          <a:p>
            <a:r>
              <a:t>student.jinja2:14 uses the | e filter — a good run must NOT report these. Students</a:t>
            </a:r>
          </a:p>
          <a:p>
            <a:r>
              <a:t>compare their report.md verdicts against this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dvcp = Damn Vulnerable C Program (hardik05), a single imgRead.c. C requires a</a:t>
            </a:r>
          </a:p>
          <a:p>
            <a:r>
              <a:t>build_command for CodeQL DB creation — already set in config/repos.yaml.</a:t>
            </a:r>
          </a:p>
          <a:p>
            <a:r>
              <a:t>examples/pipeline_c.py runs c-ares (real-world) + dvcp. Bring your TP/FP list to</a:t>
            </a:r>
          </a:p>
          <a:p>
            <a:r>
              <a:t>compare against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dvcp's imgRead.c packs ~15 memory-safety bugs into one ProcessImage() function, all</a:t>
            </a:r>
          </a:p>
          <a:p>
            <a:r>
              <a:t>reachable from attacker-controlled image-header fields. This is the C counterpart to</a:t>
            </a:r>
          </a:p>
          <a:p>
            <a:r>
              <a:t>the dvpwa key: students list what their run flagged on dvcp (should be these</a:t>
            </a:r>
          </a:p>
          <a:p>
            <a:r>
              <a:t>memory-safety classes) and confirm c-ares stays mostly quiet. This key is from the</a:t>
            </a:r>
          </a:p>
          <a:p>
            <a:r>
              <a:t>upstream source, not the realvuln (Python-only) ground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one command to remember: vuln-hunter-x interactive. dvpwa was the</a:t>
            </a:r>
          </a:p>
          <a:p>
            <a:r>
              <a:t>worked example; dvcp is the take-home — both have answer keys to self-check.</a:t>
            </a:r>
          </a:p>
          <a:p>
            <a:r>
              <a:t>References are in the repo README and WORKSHOP.md.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294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645920"/>
            <a:ext cx="5852160" cy="5852160"/>
          </a:xfrm>
          <a:prstGeom prst="ellipse">
            <a:avLst/>
          </a:prstGeom>
          <a:solidFill>
            <a:srgbClr val="6366F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3291840"/>
            <a:ext cx="4206240" cy="4206240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777240"/>
            <a:ext cx="868680" cy="86868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VX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932688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VulnHunterX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468880"/>
            <a:ext cx="502920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2249424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LLM-VERIFIED SAST  ·  HANDS-ON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Find real bugs.</a:t>
            </a:r>
          </a:p>
          <a:p>
            <a:pPr algn="l">
              <a:spcAft>
                <a:spcPts val="200"/>
              </a:spcAft>
            </a:pPr>
            <a:r>
              <a:rPr sz="5400" b="1" i="0">
                <a:solidFill>
                  <a:srgbClr val="06B6D4"/>
                </a:solidFill>
                <a:latin typeface="Segoe UI"/>
              </a:rPr>
              <a:t>Skip the false alarms.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72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909CAB"/>
                </a:solidFill>
                <a:latin typeface="Segoe UI"/>
              </a:rPr>
              <a:t>Static analysis finds candidates — an LLM decides which are real.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257800"/>
            <a:ext cx="3246120" cy="640080"/>
          </a:xfrm>
          <a:prstGeom prst="roundRect">
            <a:avLst/>
          </a:prstGeom>
          <a:solidFill>
            <a:srgbClr val="1C2C4A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97316"/>
                </a:solidFill>
                <a:latin typeface="Segoe UI"/>
              </a:rPr>
              <a:t>65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custom CodeQL queries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5257800"/>
            <a:ext cx="3246120" cy="640080"/>
          </a:xfrm>
          <a:prstGeom prst="roundRect">
            <a:avLst/>
          </a:prstGeom>
          <a:solidFill>
            <a:srgbClr val="1C2C4A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97316"/>
                </a:solidFill>
                <a:latin typeface="Segoe UI"/>
              </a:rPr>
              <a:t>108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custom Semgrep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5257800"/>
            <a:ext cx="3246120" cy="640080"/>
          </a:xfrm>
          <a:prstGeom prst="roundRect">
            <a:avLst/>
          </a:prstGeom>
          <a:solidFill>
            <a:srgbClr val="1C2C4A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97316"/>
                </a:solidFill>
                <a:latin typeface="Segoe UI"/>
              </a:rPr>
              <a:t>8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languages  ·  5 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09CAB"/>
                </a:solidFill>
                <a:latin typeface="Segoe UI"/>
              </a:rPr>
              <a:t>60-minute workshop  ·  for developers  ·  CodeQL + Semgrep + LLM triage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Agenda — 4 parts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00584" cy="14173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783080"/>
            <a:ext cx="5129784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02A4A"/>
                </a:solidFill>
                <a:latin typeface="Segoe UI"/>
              </a:rPr>
              <a:t>1 · VulnHunterX introduction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25F70"/>
                </a:solidFill>
                <a:latin typeface="Segoe UI"/>
              </a:rPr>
              <a:t>Features · architecture · methodology · 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100584" cy="141732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64808" y="1783080"/>
            <a:ext cx="5129784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02A4A"/>
                </a:solidFill>
                <a:latin typeface="Segoe UI"/>
              </a:rPr>
              <a:t>2 · How to install &amp; use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25F70"/>
                </a:solidFill>
                <a:latin typeface="Segoe UI"/>
              </a:rPr>
              <a:t>Toolchain, install, configure, run a scan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74720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100584" cy="141732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3474720"/>
            <a:ext cx="5129784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02A4A"/>
                </a:solidFill>
                <a:latin typeface="Segoe UI"/>
              </a:rPr>
              <a:t>3 · Real example — dvpwa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25F70"/>
                </a:solidFill>
                <a:latin typeface="Segoe UI"/>
              </a:rPr>
              <a:t>Scan a vulnerable Python web app, verify the verdicts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3474720"/>
            <a:ext cx="100584" cy="1417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4808" y="3474720"/>
            <a:ext cx="5129784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02A4A"/>
                </a:solidFill>
                <a:latin typeface="Segoe UI"/>
              </a:rPr>
              <a:t>4 · Homework — dvcp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25F70"/>
                </a:solidFill>
                <a:latin typeface="Segoe UI"/>
              </a:rPr>
              <a:t>Scan the Damn Vulnerable C Program at home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2947"/>
              </a:gs>
            </a:gsLst>
            <a:lin scaled="0" ang="19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0" y="1234440"/>
            <a:ext cx="5074920" cy="4206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5000" b="1" i="0">
                <a:solidFill>
                  <a:srgbClr val="1C2C4A"/>
                </a:solidFill>
                <a:latin typeface="Segoe U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670048"/>
            <a:ext cx="502920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2450592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F59E0B"/>
                </a:solidFill>
                <a:latin typeface="Segoe U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44368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VulnHunterX — features, architecture, methodology,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160520"/>
            <a:ext cx="292608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6126480"/>
            <a:ext cx="457200" cy="146304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72184" y="6126480"/>
            <a:ext cx="201168" cy="146304"/>
          </a:xfrm>
          <a:prstGeom prst="roundRect">
            <a:avLst/>
          </a:prstGeom>
          <a:solidFill>
            <a:srgbClr val="1C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19656" y="6126480"/>
            <a:ext cx="201168" cy="146304"/>
          </a:xfrm>
          <a:prstGeom prst="roundRect">
            <a:avLst/>
          </a:prstGeom>
          <a:solidFill>
            <a:srgbClr val="1C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67128" y="6126480"/>
            <a:ext cx="201168" cy="146304"/>
          </a:xfrm>
          <a:prstGeom prst="roundRect">
            <a:avLst/>
          </a:prstGeom>
          <a:solidFill>
            <a:srgbClr val="1C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From noise to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 i="1">
                <a:solidFill>
                  <a:srgbClr val="525F70"/>
                </a:solidFill>
                <a:latin typeface="Segoe UI"/>
              </a:rPr>
              <a:t>SAST over-approximates by design — the cost is human triage, not the scan.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8229600" cy="1051560"/>
          </a:xfrm>
          <a:prstGeom prst="roundRect">
            <a:avLst/>
          </a:prstGeom>
          <a:solidFill>
            <a:srgbClr val="F43F5E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Hundreds of raw SAST findings</a:t>
            </a:r>
          </a:p>
          <a:p>
            <a:pPr algn="ctr">
              <a:spcAft>
                <a:spcPts val="200"/>
              </a:spcAft>
            </a:pPr>
            <a:r>
              <a:rPr sz="1250" b="0" i="1">
                <a:solidFill>
                  <a:srgbClr val="FFFFFF"/>
                </a:solidFill>
                <a:latin typeface="Segoe UI"/>
              </a:rPr>
              <a:t>every program point that *might* be vulnerable</a:t>
            </a:r>
          </a:p>
        </p:txBody>
      </p:sp>
      <p:sp>
        <p:nvSpPr>
          <p:cNvPr id="9" name="Down Arrow 8"/>
          <p:cNvSpPr/>
          <p:nvPr/>
        </p:nvSpPr>
        <p:spPr>
          <a:xfrm>
            <a:off x="4572000" y="2962655"/>
            <a:ext cx="640080" cy="411480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37360" y="3428999"/>
            <a:ext cx="6309360" cy="105156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LLM verification — Vulnhalla guided triage</a:t>
            </a:r>
          </a:p>
          <a:p>
            <a:pPr algn="ctr">
              <a:spcAft>
                <a:spcPts val="200"/>
              </a:spcAft>
            </a:pPr>
            <a:r>
              <a:rPr sz="1250" b="0" i="1">
                <a:solidFill>
                  <a:srgbClr val="FFFFFF"/>
                </a:solidFill>
                <a:latin typeface="Segoe UI"/>
              </a:rPr>
              <a:t>evidence-anchored, multi-turn reasoning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572000" y="4517135"/>
            <a:ext cx="640080" cy="411480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4983479"/>
            <a:ext cx="4114800" cy="10515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A handful of real, exploitable bugs</a:t>
            </a:r>
          </a:p>
          <a:p>
            <a:pPr algn="ctr">
              <a:spcAft>
                <a:spcPts val="200"/>
              </a:spcAft>
            </a:pPr>
            <a:r>
              <a:rPr sz="1250" b="0" i="1">
                <a:solidFill>
                  <a:srgbClr val="FFFFFF"/>
                </a:solidFill>
                <a:latin typeface="Segoe UI"/>
              </a:rPr>
              <a:t>what your team should actually fix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1874519"/>
            <a:ext cx="2331720" cy="352044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Real bugs get</a:t>
            </a:r>
          </a:p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59E0B"/>
                </a:solidFill>
                <a:latin typeface="Segoe UI"/>
              </a:rPr>
              <a:t>buried.</a:t>
            </a:r>
          </a:p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Teams stop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reading the</a:t>
            </a:r>
          </a:p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43F5E"/>
                </a:solidFill>
                <a:latin typeface="Segoe UI"/>
              </a:rPr>
              <a:t>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VulnHunterX in one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0515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/>
          <a:lstStyle/>
          <a:p>
            <a:pPr algn="ctr">
              <a:spcAft>
                <a:spcPts val="200"/>
              </a:spcAft>
            </a:pPr>
            <a:r>
              <a:rPr sz="2600" b="0" i="0">
                <a:solidFill>
                  <a:srgbClr val="0F172A"/>
                </a:solidFill>
                <a:latin typeface="Segoe UI"/>
              </a:rPr>
              <a:t>A Python framework that pairs </a:t>
            </a:r>
            <a:r>
              <a:rPr sz="2600" b="1" i="0">
                <a:solidFill>
                  <a:srgbClr val="6366F1"/>
                </a:solidFill>
                <a:latin typeface="Segoe UI"/>
              </a:rPr>
              <a:t>SAST engines</a:t>
            </a:r>
            <a:r>
              <a:rPr sz="2600" b="0" i="0">
                <a:solidFill>
                  <a:srgbClr val="0F172A"/>
                </a:solidFill>
                <a:latin typeface="Segoe UI"/>
              </a:rPr>
              <a:t> with </a:t>
            </a:r>
            <a:r>
              <a:rPr sz="2600" b="1" i="0">
                <a:solidFill>
                  <a:srgbClr val="F97316"/>
                </a:solidFill>
                <a:latin typeface="Segoe UI"/>
              </a:rPr>
              <a:t>multi-turn LLM verification</a:t>
            </a:r>
          </a:p>
          <a:p>
            <a:pPr algn="ctr">
              <a:spcAft>
                <a:spcPts val="200"/>
              </a:spcAft>
            </a:pPr>
            <a:r>
              <a:rPr sz="2600" b="0" i="0">
                <a:solidFill>
                  <a:srgbClr val="0F172A"/>
                </a:solidFill>
                <a:latin typeface="Segoe UI"/>
              </a:rPr>
              <a:t>to suppress false positives — the </a:t>
            </a:r>
            <a:r>
              <a:rPr sz="2600" b="1" i="0">
                <a:solidFill>
                  <a:srgbClr val="06B6D4"/>
                </a:solidFill>
                <a:latin typeface="Segoe UI"/>
              </a:rPr>
              <a:t>Vulnhalla</a:t>
            </a:r>
            <a:r>
              <a:rPr sz="2600" b="0" i="0">
                <a:solidFill>
                  <a:srgbClr val="0F172A"/>
                </a:solidFill>
                <a:latin typeface="Segoe UI"/>
              </a:rPr>
              <a:t> guided-question methodology.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46304" cy="228600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416052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6366F1"/>
                </a:solidFill>
                <a:latin typeface="Segoe UI"/>
              </a:rPr>
              <a:t>Cite evidence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525F70"/>
                </a:solidFill>
                <a:latin typeface="Segoe UI"/>
              </a:rPr>
              <a:t>the LLM must point at real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16052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06B6D4"/>
                </a:solidFill>
                <a:latin typeface="Segoe UI"/>
              </a:rPr>
              <a:t>Pull context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525F70"/>
                </a:solidFill>
                <a:latin typeface="Segoe UI"/>
              </a:rPr>
              <a:t>callers, structs, globals on demand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16052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97316"/>
                </a:solidFill>
                <a:latin typeface="Segoe UI"/>
              </a:rPr>
              <a:t>Reason in turns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525F70"/>
                </a:solidFill>
                <a:latin typeface="Segoe UI"/>
              </a:rPr>
              <a:t>not pattern-match one snippet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9824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00584" cy="1078992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5138928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02A4A"/>
                </a:solidFill>
                <a:latin typeface="Segoe UI"/>
              </a:rPr>
              <a:t>8 languages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25F70"/>
                </a:solidFill>
                <a:latin typeface="Segoe UI"/>
              </a:rPr>
              <a:t>C, C++, Python, JavaScript, PHP, Java, Go, C#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417320"/>
            <a:ext cx="5449824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4496" y="1417320"/>
            <a:ext cx="100584" cy="1078992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55664" y="1417320"/>
            <a:ext cx="5138928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02A4A"/>
                </a:solidFill>
                <a:latin typeface="Segoe UI"/>
              </a:rPr>
              <a:t>3 SAST engines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25F70"/>
                </a:solidFill>
                <a:latin typeface="Segoe UI"/>
              </a:rPr>
              <a:t>CodeQL · Semgrep · OpenGrep  (--tool …)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52344"/>
            <a:ext cx="5449824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752344"/>
            <a:ext cx="100584" cy="1078992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2752344"/>
            <a:ext cx="5138928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02A4A"/>
                </a:solidFill>
                <a:latin typeface="Segoe UI"/>
              </a:rPr>
              <a:t>5 rule profiles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25F70"/>
                </a:solidFill>
                <a:latin typeface="Segoe UI"/>
              </a:rPr>
              <a:t>standard → extended → maximum → … → full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2752344"/>
            <a:ext cx="5449824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54496" y="2752344"/>
            <a:ext cx="100584" cy="1078992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55664" y="2752344"/>
            <a:ext cx="5138928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02A4A"/>
                </a:solidFill>
                <a:latin typeface="Segoe UI"/>
              </a:rPr>
              <a:t>LLM providers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25F70"/>
                </a:solidFill>
                <a:latin typeface="Segoe UI"/>
              </a:rPr>
              <a:t>OpenAI · Anthropic · Ollama — via LiteLLM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87368"/>
            <a:ext cx="5449824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4087368"/>
            <a:ext cx="100584" cy="107899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087368"/>
            <a:ext cx="5138928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02A4A"/>
                </a:solidFill>
                <a:latin typeface="Segoe UI"/>
              </a:rPr>
              <a:t>Multi-turn verification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25F70"/>
                </a:solidFill>
                <a:latin typeface="Segoe UI"/>
              </a:rPr>
              <a:t>context expansion → verdict + confidence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4087368"/>
            <a:ext cx="5449824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54496" y="4087368"/>
            <a:ext cx="100584" cy="1078992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4087368"/>
            <a:ext cx="5138928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02A4A"/>
                </a:solidFill>
                <a:latin typeface="Segoe UI"/>
              </a:rPr>
              <a:t>Flexible inputs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25F70"/>
                </a:solidFill>
                <a:latin typeface="Segoe UI"/>
              </a:rPr>
              <a:t>Git URL · local dir · batch repos.yaml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22392"/>
            <a:ext cx="5449824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5422392"/>
            <a:ext cx="100584" cy="1078992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" y="5422392"/>
            <a:ext cx="5138928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02A4A"/>
                </a:solidFill>
                <a:latin typeface="Segoe UI"/>
              </a:rPr>
              <a:t>Reports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25F70"/>
                </a:solidFill>
                <a:latin typeface="Segoe UI"/>
              </a:rPr>
              <a:t>Markdown EN/VI — summary + per-finding detail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4496" y="5422392"/>
            <a:ext cx="5449824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54496" y="5422392"/>
            <a:ext cx="100584" cy="1078992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55664" y="5422392"/>
            <a:ext cx="5138928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02A4A"/>
                </a:solidFill>
                <a:latin typeface="Segoe UI"/>
              </a:rPr>
              <a:t>Guided questions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25F70"/>
                </a:solidFill>
                <a:latin typeface="Segoe UI"/>
              </a:rPr>
              <a:t>Rule-specific checklists grounded in source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The pipeline — 4 stages, 1 command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19385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1938528" cy="118872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57984"/>
            <a:ext cx="1938528" cy="1271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02A4A"/>
                </a:solidFill>
                <a:latin typeface="Segoe UI"/>
              </a:rPr>
              <a:t>Source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25F70"/>
                </a:solidFill>
                <a:latin typeface="Segoe UI"/>
              </a:rPr>
              <a:t>git / local / repos.yaml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59736" y="2519172"/>
            <a:ext cx="292608" cy="402336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70632" y="2011680"/>
            <a:ext cx="19385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70632" y="2011680"/>
            <a:ext cx="1938528" cy="118872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70632" y="2157984"/>
            <a:ext cx="1938528" cy="1271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02A4A"/>
                </a:solidFill>
                <a:latin typeface="Segoe UI"/>
              </a:rPr>
              <a:t>Static Analysis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25F70"/>
                </a:solidFill>
                <a:latin typeface="Segoe UI"/>
              </a:rPr>
              <a:t>CodeQL · Semgrep · OpenGrep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27448" y="2519172"/>
            <a:ext cx="292608" cy="402336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38344" y="2011680"/>
            <a:ext cx="19385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38344" y="2011680"/>
            <a:ext cx="1938528" cy="118872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38344" y="2157984"/>
            <a:ext cx="1938528" cy="1271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02A4A"/>
                </a:solidFill>
                <a:latin typeface="Segoe UI"/>
              </a:rPr>
              <a:t>SARIF findings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25F70"/>
                </a:solidFill>
                <a:latin typeface="Segoe UI"/>
              </a:rPr>
              <a:t>rule · file · line · CWE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95160" y="2519172"/>
            <a:ext cx="292608" cy="402336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06056" y="2011680"/>
            <a:ext cx="19385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06056" y="2011680"/>
            <a:ext cx="1938528" cy="118872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06056" y="2157984"/>
            <a:ext cx="1938528" cy="1271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02A4A"/>
                </a:solidFill>
                <a:latin typeface="Segoe UI"/>
              </a:rPr>
              <a:t>LLM Verification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25F70"/>
                </a:solidFill>
                <a:latin typeface="Segoe UI"/>
              </a:rPr>
              <a:t>guided Qs · multi-turn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262872" y="2519172"/>
            <a:ext cx="292608" cy="402336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73768" y="2011680"/>
            <a:ext cx="19385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73768" y="2011680"/>
            <a:ext cx="1938528" cy="11887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73768" y="2157984"/>
            <a:ext cx="1938528" cy="1271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02A4A"/>
                </a:solidFill>
                <a:latin typeface="Segoe UI"/>
              </a:rPr>
              <a:t>Verdicts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25F70"/>
                </a:solidFill>
                <a:latin typeface="Segoe UI"/>
              </a:rPr>
              <a:t>TP / FP / NMD + confidence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" y="3657600"/>
            <a:ext cx="1371600" cy="384048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prepare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54096" y="3657600"/>
            <a:ext cx="1371600" cy="384048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analyze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21808" y="3657600"/>
            <a:ext cx="1371600" cy="384048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25F70"/>
                </a:solidFill>
                <a:latin typeface="Segoe UI"/>
              </a:rPr>
              <a:t>(SARIF)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3657600"/>
            <a:ext cx="1371600" cy="384048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verify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57232" y="3657600"/>
            <a:ext cx="1371600" cy="384048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07492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02A4A"/>
                </a:solidFill>
                <a:latin typeface="Segoe UI"/>
              </a:rPr>
              <a:t>scan runs prepare → analyze → verify →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The 4 core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2606040"/>
            <a:ext cx="8686800" cy="5486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2194560"/>
            <a:ext cx="822960" cy="822960"/>
          </a:xfrm>
          <a:prstGeom prst="ellipse">
            <a:avLst/>
          </a:prstGeom>
          <a:solidFill>
            <a:srgbClr val="6366F1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83280"/>
            <a:ext cx="2103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366F1"/>
                </a:solidFill>
                <a:latin typeface="Segoe UI"/>
              </a:rPr>
              <a:t>prepare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525F70"/>
                </a:solidFill>
                <a:latin typeface="Segoe UI"/>
              </a:rPr>
              <a:t>Clone + CodeQL DB +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525F70"/>
                </a:solidFill>
                <a:latin typeface="Segoe UI"/>
              </a:rPr>
              <a:t>context CSVs</a:t>
            </a:r>
          </a:p>
        </p:txBody>
      </p:sp>
      <p:sp>
        <p:nvSpPr>
          <p:cNvPr id="10" name="Oval 9"/>
          <p:cNvSpPr/>
          <p:nvPr/>
        </p:nvSpPr>
        <p:spPr>
          <a:xfrm>
            <a:off x="4325112" y="2194560"/>
            <a:ext cx="822960" cy="822960"/>
          </a:xfrm>
          <a:prstGeom prst="ellipse">
            <a:avLst/>
          </a:prstGeom>
          <a:solidFill>
            <a:srgbClr val="06B6D4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85032" y="3383280"/>
            <a:ext cx="2103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6B6D4"/>
                </a:solidFill>
                <a:latin typeface="Segoe UI"/>
              </a:rPr>
              <a:t>analyze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525F70"/>
                </a:solidFill>
                <a:latin typeface="Segoe UI"/>
              </a:rPr>
              <a:t>Run engines →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525F70"/>
                </a:solidFill>
                <a:latin typeface="Segoe UI"/>
              </a:rPr>
              <a:t>SARIF findings</a:t>
            </a:r>
          </a:p>
        </p:txBody>
      </p:sp>
      <p:sp>
        <p:nvSpPr>
          <p:cNvPr id="12" name="Oval 11"/>
          <p:cNvSpPr/>
          <p:nvPr/>
        </p:nvSpPr>
        <p:spPr>
          <a:xfrm>
            <a:off x="7187184" y="2194560"/>
            <a:ext cx="822960" cy="822960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7104" y="3383280"/>
            <a:ext cx="2103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97316"/>
                </a:solidFill>
                <a:latin typeface="Segoe UI"/>
              </a:rPr>
              <a:t>verify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525F70"/>
                </a:solidFill>
                <a:latin typeface="Segoe UI"/>
              </a:rPr>
              <a:t>LLM triage →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525F70"/>
                </a:solidFill>
                <a:latin typeface="Segoe UI"/>
              </a:rPr>
              <a:t>JSON verdicts</a:t>
            </a:r>
          </a:p>
        </p:txBody>
      </p:sp>
      <p:sp>
        <p:nvSpPr>
          <p:cNvPr id="14" name="Oval 13"/>
          <p:cNvSpPr/>
          <p:nvPr/>
        </p:nvSpPr>
        <p:spPr>
          <a:xfrm>
            <a:off x="10049256" y="219456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09176" y="3383280"/>
            <a:ext cx="2103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0B981"/>
                </a:solidFill>
                <a:latin typeface="Segoe UI"/>
              </a:rPr>
              <a:t>report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525F70"/>
                </a:solidFill>
                <a:latin typeface="Segoe UI"/>
              </a:rPr>
              <a:t>Markdown report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525F70"/>
                </a:solidFill>
                <a:latin typeface="Segoe UI"/>
              </a:rPr>
              <a:t>(EN / VI)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The Vulnhalla multi-turn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2011680" cy="118872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55064"/>
            <a:ext cx="2011680" cy="9509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02A4A"/>
                </a:solidFill>
                <a:latin typeface="Segoe UI"/>
              </a:rPr>
              <a:t>SARIF finding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25F70"/>
                </a:solidFill>
                <a:latin typeface="Segoe UI"/>
              </a:rPr>
              <a:t>rule + code snippet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15184" y="1874519"/>
            <a:ext cx="384048" cy="365760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72384" y="1508760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72384" y="1508760"/>
            <a:ext cx="2011680" cy="118872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72384" y="1655064"/>
            <a:ext cx="2011680" cy="9509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02A4A"/>
                </a:solidFill>
                <a:latin typeface="Segoe UI"/>
              </a:rPr>
              <a:t>Guided questions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25F70"/>
                </a:solidFill>
                <a:latin typeface="Segoe UI"/>
              </a:rPr>
              <a:t>rule-specific checklist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38928" y="1874519"/>
            <a:ext cx="384048" cy="365760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96128" y="1508760"/>
            <a:ext cx="21031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96128" y="1508760"/>
            <a:ext cx="2103120" cy="118872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96128" y="1655064"/>
            <a:ext cx="2103120" cy="9509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02A4A"/>
                </a:solidFill>
                <a:latin typeface="Segoe UI"/>
              </a:rPr>
              <a:t>LLM reasoning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25F70"/>
                </a:solidFill>
                <a:latin typeface="Segoe UI"/>
              </a:rPr>
              <a:t>answer + decide</a:t>
            </a:r>
          </a:p>
        </p:txBody>
      </p:sp>
      <p:sp>
        <p:nvSpPr>
          <p:cNvPr id="18" name="Diamond 17"/>
          <p:cNvSpPr/>
          <p:nvPr/>
        </p:nvSpPr>
        <p:spPr>
          <a:xfrm>
            <a:off x="8229600" y="1325880"/>
            <a:ext cx="1828800" cy="14630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02A4A"/>
                </a:solidFill>
                <a:latin typeface="Segoe UI"/>
              </a:rPr>
              <a:t>Verdict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02A4A"/>
                </a:solidFill>
                <a:latin typeface="Segoe UI"/>
              </a:rPr>
              <a:t>ready?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58400" y="2057400"/>
            <a:ext cx="502920" cy="0"/>
          </a:xfrm>
          <a:prstGeom prst="line">
            <a:avLst/>
          </a:prstGeom>
          <a:ln w="28575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58400" y="16459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0B981"/>
                </a:solidFill>
                <a:latin typeface="Segoe UI"/>
              </a:rP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0" y="1508760"/>
            <a:ext cx="1325880" cy="10972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Verdict</a:t>
            </a:r>
          </a:p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TP / FP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8503920" y="2788920"/>
            <a:ext cx="640080" cy="1051560"/>
          </a:xfrm>
          <a:prstGeom prst="bentConnector3">
            <a:avLst/>
          </a:prstGeom>
          <a:ln w="28575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281160" y="29718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needs more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72384" y="3840480"/>
            <a:ext cx="5852160" cy="114300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Fetch context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callers · all_callers · callees · struct · global · macro ·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typedef · enum · free_sites · destructor · field_writes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5943600" y="2606040"/>
            <a:ext cx="457200" cy="1234440"/>
          </a:xfrm>
          <a:prstGeom prst="bentConnector3">
            <a:avLst/>
          </a:prstGeom>
          <a:ln w="28575">
            <a:solidFill>
              <a:srgbClr val="06B6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480560" y="5074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525F70"/>
                </a:solidFill>
                <a:latin typeface="Segoe UI"/>
              </a:rPr>
              <a:t>Loop up to </a:t>
            </a:r>
            <a:r>
              <a:rPr sz="1400" b="1" i="0">
                <a:solidFill>
                  <a:srgbClr val="F97316"/>
                </a:solidFill>
                <a:latin typeface="Segoe UI"/>
              </a:rPr>
              <a:t>max_iterations (default 3)</a:t>
            </a:r>
            <a:r>
              <a:rPr sz="1400" b="0" i="0">
                <a:solidFill>
                  <a:srgbClr val="525F70"/>
                </a:solidFill>
                <a:latin typeface="Segoe UI"/>
              </a:rPr>
              <a:t>  until the LLM commits.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Guided questions: the per-language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27080" cy="4983480"/>
          </a:xfrm>
          <a:prstGeom prst="roundRect">
            <a:avLst/>
          </a:prstGeom>
          <a:solidFill>
            <a:srgbClr val="0D1726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566928"/>
          <a:lstStyle/>
          <a:p>
            <a:pPr algn="ctr">
              <a:spcAft>
                <a:spcPts val="300"/>
              </a:spcAft>
            </a:pPr>
            <a:r>
              <a:rPr sz="1550" b="0" i="1">
                <a:solidFill>
                  <a:srgbClr val="6E8BA3"/>
                </a:solidFill>
                <a:latin typeface="Consolas"/>
              </a:rPr>
              <a:t># config/prompts/python_questions.yaml  — one bank per language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py/sql-injection: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short_description: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User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input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concatenated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into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SQL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query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questions: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                       </a:t>
            </a:r>
            <a:r>
              <a:rPr sz="1550" b="0" i="1">
                <a:solidFill>
                  <a:srgbClr val="6E8BA3"/>
                </a:solidFill>
                <a:latin typeface="Consolas"/>
              </a:rPr>
              <a:t>  # answered IN ORDER, before any verdict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  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-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Quote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the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EXACT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sink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(cursor.execute,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line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N)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and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name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the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variable.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  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-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List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EVERY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assignment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to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that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variable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on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each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path,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with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line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numbers.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  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-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Does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the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value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derive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from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request.args/form/json,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or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a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safe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source?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  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-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Name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the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SPECIFIC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defense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—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parameterised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execute(sql,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params),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ORM.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context_hint: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Trace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request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input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-&gt;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transformations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-&gt;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query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execution.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additional_context: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[caller,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callees]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1">
                <a:solidFill>
                  <a:srgbClr val="6E8BA3"/>
                </a:solidFill>
                <a:latin typeface="Consolas"/>
              </a:rPr>
              <a:t>  # fetched on demand mid-loop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min_iterations: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2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                     </a:t>
            </a:r>
            <a:r>
              <a:rPr sz="1550" b="0" i="1">
                <a:solidFill>
                  <a:srgbClr val="6E8BA3"/>
                </a:solidFill>
                <a:latin typeface="Consolas"/>
              </a:rPr>
              <a:t>  # force a second reasoning pass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57276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57276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Same CWE, every language — CWE-89 / SQL injection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440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00584" cy="14630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463040"/>
            <a:ext cx="5129784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02A4A"/>
                </a:solidFill>
                <a:latin typeface="Segoe UI"/>
              </a:rPr>
              <a:t>py/sql-injection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25F70"/>
                </a:solidFill>
                <a:latin typeface="Segoe UI"/>
              </a:rPr>
              <a:t>sink: cursor.execute(...)  ·  defense: parameterised execute(sql, params) / ORM .filter()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440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100584" cy="146304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64808" y="1463040"/>
            <a:ext cx="5129784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02A4A"/>
                </a:solidFill>
                <a:latin typeface="Segoe UI"/>
              </a:rPr>
              <a:t>java/sql-injection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25F70"/>
                </a:solidFill>
                <a:latin typeface="Segoe UI"/>
              </a:rPr>
              <a:t>sink: Statement.executeQuery(...)  ·  defense: PreparedStatement with bound params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5440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200400"/>
            <a:ext cx="100584" cy="14630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3200400"/>
            <a:ext cx="5129784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02A4A"/>
                </a:solidFill>
                <a:latin typeface="Segoe UI"/>
              </a:rPr>
              <a:t>js/sql-injection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25F70"/>
                </a:solidFill>
                <a:latin typeface="Segoe UI"/>
              </a:rPr>
              <a:t>sink: db.query(`...${x}`)  ·  defense: parameterised driver call / placeholders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200400"/>
            <a:ext cx="5440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3200400"/>
            <a:ext cx="100584" cy="14630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4808" y="3200400"/>
            <a:ext cx="5129784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02A4A"/>
                </a:solidFill>
                <a:latin typeface="Segoe UI"/>
              </a:rPr>
              <a:t>php/sql-injection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25F70"/>
                </a:solidFill>
                <a:latin typeface="Segoe UI"/>
              </a:rPr>
              <a:t>sink: mysqli_query(...)  ·  defense: prepared statements / PDO bound params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83480"/>
            <a:ext cx="11109960" cy="128016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Same ordered checklist shape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— language-specific sinks, sanitizers &amp; framework defenses.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06B6D4"/>
                </a:solidFill>
                <a:latin typeface="Segoe UI"/>
              </a:rPr>
              <a:t>8 banks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  cpp · cs · go · java · js · php · python  (+ default fallback)</a:t>
            </a:r>
          </a:p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F43F5E"/>
                </a:solidFill>
                <a:latin typeface="Segoe UI"/>
              </a:rPr>
              <a:t>No SQL bank for C/C++</a:t>
            </a:r>
            <a:r>
              <a:rPr sz="1300" b="0" i="1">
                <a:solidFill>
                  <a:srgbClr val="909CAB"/>
                </a:solidFill>
                <a:latin typeface="Segoe UI"/>
              </a:rPr>
              <a:t>  — instead C/C++ gets memory-safety banks: use-after-free, integer-overflow.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Routing a finding to its question bank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1556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1">
                <a:solidFill>
                  <a:srgbClr val="525F70"/>
                </a:solidFill>
                <a:latin typeface="Segoe UI"/>
              </a:rPr>
              <a:t>QuestionsLoader resolves every finding to a bank through ordered fallback tiers.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109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0B981"/>
                </a:solidFill>
                <a:latin typeface="Segoe UI"/>
              </a:rPr>
              <a:t>exact:   </a:t>
            </a:r>
            <a:r>
              <a:rPr sz="1350" b="0" i="0">
                <a:solidFill>
                  <a:srgbClr val="525F70"/>
                </a:solidFill>
                <a:latin typeface="Segoe UI"/>
              </a:rPr>
              <a:t>ruleId matches a bank key — CodeQL: py/sql-injection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18872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496312"/>
            <a:ext cx="11109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6B6D4"/>
                </a:solidFill>
                <a:latin typeface="Segoe UI"/>
              </a:rPr>
              <a:t>normalized · prefix · lang_prefix:   </a:t>
            </a:r>
            <a:r>
              <a:rPr sz="1350" b="0" i="0">
                <a:solidFill>
                  <a:srgbClr val="525F70"/>
                </a:solidFill>
                <a:latin typeface="Segoe UI"/>
              </a:rPr>
              <a:t>tolerate id variants &amp; same-language partials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96312"/>
            <a:ext cx="118872" cy="658368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300984"/>
            <a:ext cx="111099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6366F1"/>
                </a:solidFill>
                <a:latin typeface="Segoe UI"/>
              </a:rPr>
              <a:t>cwe:   </a:t>
            </a:r>
            <a:r>
              <a:rPr sz="1350" b="0" i="0">
                <a:solidFill>
                  <a:srgbClr val="525F70"/>
                </a:solidFill>
                <a:latin typeface="Segoe UI"/>
              </a:rPr>
              <a:t>Semgrep has no CodeQL-style id → route by CWE tag via cwe_question_map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25F70"/>
                </a:solidFill>
                <a:latin typeface="Segoe UI"/>
              </a:rPr>
              <a:t>(config/rule_categories.yaml):  CWE-89 → "sql-injection" → py/sql-injection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00984"/>
            <a:ext cx="118872" cy="84124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288536"/>
            <a:ext cx="11109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64748B"/>
                </a:solidFill>
                <a:latin typeface="Segoe UI"/>
              </a:rPr>
              <a:t>default → generic:   </a:t>
            </a:r>
            <a:r>
              <a:rPr sz="1350" b="0" i="0">
                <a:solidFill>
                  <a:srgbClr val="525F70"/>
                </a:solidFill>
                <a:latin typeface="Segoe UI"/>
              </a:rPr>
              <a:t>fall back to default_questions.yaml, then an 8-step generic checklist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88536"/>
            <a:ext cx="118872" cy="658368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5093208"/>
            <a:ext cx="11109960" cy="109728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Multi-iteration override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   taint CWEs (22/78/79/89/90/94/611/918…) + access-control (200/264/287/862/863…)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force min_iterations = 2.  </a:t>
            </a:r>
            <a:r>
              <a:rPr sz="1400" b="1" i="0">
                <a:solidFill>
                  <a:srgbClr val="10B981"/>
                </a:solidFill>
                <a:latin typeface="Segoe UI"/>
              </a:rPr>
              <a:t>OWASP-python CWE-22: 57.1% (1 iter) → 95.8% (2 iter).</a:t>
            </a:r>
            <a:r>
              <a:rPr sz="1250" b="0" i="1">
                <a:solidFill>
                  <a:srgbClr val="909CAB"/>
                </a:solidFill>
                <a:latin typeface="Segoe UI"/>
              </a:rPr>
              <a:t>  Taint gated to framework langs; access-control all langs.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What a verdict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6766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6766560" cy="64008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Finding #12  ·  cpp/use-after-free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481328"/>
            <a:ext cx="1417320" cy="42062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TRUE POSITIVE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525F70"/>
                </a:solidFill>
                <a:latin typeface="Segoe UI"/>
              </a:rPr>
              <a:t>Confidence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651760"/>
            <a:ext cx="6126480" cy="347472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2651760"/>
            <a:ext cx="5266944" cy="34747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70048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High · 0.86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525F70"/>
                </a:solidFill>
                <a:latin typeface="Segoe UI"/>
              </a:rPr>
              <a:t>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6309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0F172A"/>
                </a:solidFill>
                <a:latin typeface="Segoe UI"/>
              </a:rPr>
              <a:t>Tainted length from recv() reaches memcpy() with no bounds check;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0F172A"/>
                </a:solidFill>
                <a:latin typeface="Segoe UI"/>
              </a:rPr>
              <a:t>attacker-controlled. Confirmed by fetching caller parse_packet(),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0F172A"/>
                </a:solidFill>
                <a:latin typeface="Segoe UI"/>
              </a:rPr>
              <a:t>which frees buf before the copy. Reachable on the error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440680"/>
            <a:ext cx="1371600" cy="38404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 turns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5440680"/>
            <a:ext cx="2011680" cy="38404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CWE-416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554480"/>
            <a:ext cx="406908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97316"/>
                </a:solidFill>
                <a:latin typeface="Segoe UI"/>
              </a:rPr>
              <a:t>verdict</a:t>
            </a:r>
            <a:r>
              <a:rPr sz="1250" b="0" i="0">
                <a:solidFill>
                  <a:srgbClr val="525F70"/>
                </a:solidFill>
                <a:latin typeface="Segoe UI"/>
              </a:rPr>
              <a:t>   TP / FP / Needs More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441448"/>
            <a:ext cx="406908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97316"/>
                </a:solidFill>
                <a:latin typeface="Segoe UI"/>
              </a:rPr>
              <a:t>confidence</a:t>
            </a:r>
            <a:r>
              <a:rPr sz="1250" b="0" i="0">
                <a:solidFill>
                  <a:srgbClr val="525F70"/>
                </a:solidFill>
                <a:latin typeface="Segoe UI"/>
              </a:rPr>
              <a:t>   High / Medium / Low + 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3328416"/>
            <a:ext cx="406908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97316"/>
                </a:solidFill>
                <a:latin typeface="Segoe UI"/>
              </a:rPr>
              <a:t>reasoning</a:t>
            </a:r>
            <a:r>
              <a:rPr sz="1250" b="0" i="0">
                <a:solidFill>
                  <a:srgbClr val="525F70"/>
                </a:solidFill>
                <a:latin typeface="Segoe UI"/>
              </a:rPr>
              <a:t>   evidence-anchored, cites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4215384"/>
            <a:ext cx="406908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97316"/>
                </a:solidFill>
                <a:latin typeface="Segoe UI"/>
              </a:rPr>
              <a:t>iterations</a:t>
            </a:r>
            <a:r>
              <a:rPr sz="1250" b="0" i="0">
                <a:solidFill>
                  <a:srgbClr val="525F70"/>
                </a:solidFill>
                <a:latin typeface="Segoe UI"/>
              </a:rPr>
              <a:t>   turns the LLM took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5102352"/>
            <a:ext cx="406908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97316"/>
                </a:solidFill>
                <a:latin typeface="Segoe UI"/>
              </a:rPr>
              <a:t>data_flow</a:t>
            </a:r>
            <a:r>
              <a:rPr sz="1250" b="0" i="0">
                <a:solidFill>
                  <a:srgbClr val="525F70"/>
                </a:solidFill>
                <a:latin typeface="Segoe UI"/>
              </a:rPr>
              <a:t>   source→sink trace (CodeQL)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Rules &amp;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1">
                <a:solidFill>
                  <a:srgbClr val="909CAB"/>
                </a:solidFill>
                <a:latin typeface="Segoe UI"/>
              </a:rPr>
              <a:t>Counted from config/ at build time — not copied from the README.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5200" b="1" i="0">
                <a:solidFill>
                  <a:srgbClr val="6366F1"/>
                </a:solidFill>
                <a:latin typeface="Segoe UI"/>
              </a:rPr>
              <a:t>65</a:t>
            </a:r>
          </a:p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02A4A"/>
                </a:solidFill>
                <a:latin typeface="Segoe UI"/>
              </a:rPr>
              <a:t>custom CodeQL queries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25F70"/>
                </a:solidFill>
                <a:latin typeface="Segoe UI"/>
              </a:rPr>
              <a:t>cpp 16 · csharp 5 · go 8 · java 10 · javascript 14 · python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3566160" cy="128016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60" y="173736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5200" b="1" i="0">
                <a:solidFill>
                  <a:srgbClr val="06B6D4"/>
                </a:solidFill>
                <a:latin typeface="Segoe UI"/>
              </a:rPr>
              <a:t>108</a:t>
            </a:r>
          </a:p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02A4A"/>
                </a:solidFill>
                <a:latin typeface="Segoe UI"/>
              </a:rPr>
              <a:t>custom Semgrep rules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25F70"/>
                </a:solidFill>
                <a:latin typeface="Segoe UI"/>
              </a:rPr>
              <a:t>cpp 4 · csharp 14 · go 19 · java 16 · javascript 14 · php 14 · python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737360"/>
            <a:ext cx="3566160" cy="128016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80" y="173736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5200" b="1" i="0">
                <a:solidFill>
                  <a:srgbClr val="F97316"/>
                </a:solidFill>
                <a:latin typeface="Segoe UI"/>
              </a:rPr>
              <a:t>~365</a:t>
            </a:r>
          </a:p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02A4A"/>
                </a:solidFill>
                <a:latin typeface="Segoe UI"/>
              </a:rPr>
              <a:t>guided-question sets · 8 banks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25F70"/>
                </a:solidFill>
                <a:latin typeface="Segoe UI"/>
              </a:rPr>
              <a:t>rule-specific checklists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737360"/>
            <a:ext cx="3566160" cy="128016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11109960" cy="141732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5 rule profiles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  standard → extended → maximum → extended-registry → full</a:t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6B6D4"/>
                </a:solidFill>
                <a:latin typeface="Segoe UI"/>
              </a:rPr>
              <a:t>124-entry CWE routing map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  routes findings to the right guided questions</a:t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Segoe UI"/>
              </a:rPr>
              <a:t>~5–10× more rules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  from --profile standard to --profile full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Result — false positives cut by 91%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1">
                <a:solidFill>
                  <a:srgbClr val="909CAB"/>
                </a:solidFill>
                <a:latin typeface="Segoe UI"/>
              </a:rPr>
              <a:t>OWASP-Python benchmark  ·  DeepSeek  ·  300 findings  ·  raw SAST → VulnHunterX.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5200" b="1" i="0">
                <a:solidFill>
                  <a:srgbClr val="6366F1"/>
                </a:solidFill>
                <a:latin typeface="Segoe UI"/>
              </a:rPr>
              <a:t>87.3%</a:t>
            </a:r>
          </a:p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02A4A"/>
                </a:solidFill>
                <a:latin typeface="Segoe UI"/>
              </a:rPr>
              <a:t>Precision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25F70"/>
                </a:solidFill>
                <a:latin typeface="Segoe UI"/>
              </a:rPr>
              <a:t>up from 37.7% (raw SAST)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3566160" cy="128016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60" y="173736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5200" b="1" i="0">
                <a:solidFill>
                  <a:srgbClr val="06B6D4"/>
                </a:solidFill>
                <a:latin typeface="Segoe UI"/>
              </a:rPr>
              <a:t>92.4%</a:t>
            </a:r>
          </a:p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02A4A"/>
                </a:solidFill>
                <a:latin typeface="Segoe UI"/>
              </a:rPr>
              <a:t>F1 score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25F70"/>
                </a:solidFill>
                <a:latin typeface="Segoe UI"/>
              </a:rPr>
              <a:t>up from 54.7%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737360"/>
            <a:ext cx="3566160" cy="128016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80" y="173736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5200" b="1" i="0">
                <a:solidFill>
                  <a:srgbClr val="10B981"/>
                </a:solidFill>
                <a:latin typeface="Segoe UI"/>
              </a:rPr>
              <a:t>91.4%</a:t>
            </a:r>
          </a:p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02A4A"/>
                </a:solidFill>
                <a:latin typeface="Segoe UI"/>
              </a:rPr>
              <a:t>False positives removed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25F70"/>
                </a:solidFill>
                <a:latin typeface="Segoe UI"/>
              </a:rPr>
              <a:t>of all raw-SAST false alarms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737360"/>
            <a:ext cx="3566160" cy="12801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11109960" cy="141732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Recall held at 98.2%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  real bugs are kept, not thrown away with the noise</a:t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6B6D4"/>
                </a:solidFill>
                <a:latin typeface="Segoe UI"/>
              </a:rPr>
              <a:t>True-positive preservation 97.4%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  only 1.0% of findings end up 'Needs More Data'</a:t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43F5E"/>
                </a:solidFill>
                <a:latin typeface="Segoe UI"/>
              </a:rPr>
              <a:t>Raw SAST precision was 37.7%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  roughly 2 in 3 raw findings were false alarms before triage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Result — the multi-turn loop pays 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1">
                <a:solidFill>
                  <a:srgbClr val="909CAB"/>
                </a:solidFill>
                <a:latin typeface="Segoe UI"/>
              </a:rPr>
              <a:t>High-confidence accuracy, by how many turns the LLM took (OWASP-Python · DeepSeek).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828800"/>
            <a:ext cx="39319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F43F5E"/>
                </a:solidFill>
                <a:latin typeface="Segoe UI"/>
              </a:rPr>
              <a:t>81.8%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02A4A"/>
                </a:solidFill>
                <a:latin typeface="Segoe UI"/>
              </a:rPr>
              <a:t>stop after 1 turn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25F70"/>
                </a:solidFill>
                <a:latin typeface="Segoe UI"/>
              </a:rPr>
              <a:t>commit too early, miss the defense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828800"/>
            <a:ext cx="3931920" cy="128016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212080" y="2697480"/>
            <a:ext cx="1737360" cy="457200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1828800"/>
            <a:ext cx="39319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10B981"/>
                </a:solidFill>
                <a:latin typeface="Segoe UI"/>
              </a:rPr>
              <a:t>96.9%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02A4A"/>
                </a:solidFill>
                <a:latin typeface="Segoe UI"/>
              </a:rPr>
              <a:t>after a 2nd turn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25F70"/>
                </a:solidFill>
                <a:latin typeface="Segoe UI"/>
              </a:rPr>
              <a:t>expand context, then decide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828800"/>
            <a:ext cx="3931920" cy="12801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11109960" cy="141732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High-confidence accuracy 94.2%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  well-calibrated over 275 high-confidence verdicts</a:t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6B6D4"/>
                </a:solidFill>
                <a:latin typeface="Segoe UI"/>
              </a:rPr>
              <a:t>Mean 2.6 turns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  the loop expands context only when it needs to (max 5)</a:t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Segoe UI"/>
              </a:rPr>
              <a:t>$0.40 for 300 findings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  on DeepSeek; $0.00 with a local Ollama model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Result — per-CWE and across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08483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00584" cy="1371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554480"/>
            <a:ext cx="1773936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02A4A"/>
                </a:solidFill>
                <a:latin typeface="Segoe UI"/>
              </a:rPr>
              <a:t>CWE-89 · SQLi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25F70"/>
                </a:solidFill>
                <a:latin typeface="Segoe UI"/>
              </a:rPr>
              <a:t>F1 100%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6352" y="1554480"/>
            <a:ext cx="208483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16352" y="1554480"/>
            <a:ext cx="100584" cy="1371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1554480"/>
            <a:ext cx="1773936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02A4A"/>
                </a:solidFill>
                <a:latin typeface="Segoe UI"/>
              </a:rPr>
              <a:t>CWE-79 · XSS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25F70"/>
                </a:solidFill>
                <a:latin typeface="Segoe UI"/>
              </a:rPr>
              <a:t>F1 100%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554480"/>
            <a:ext cx="208483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84064" y="1554480"/>
            <a:ext cx="100584" cy="1371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85232" y="1554480"/>
            <a:ext cx="1773936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02A4A"/>
                </a:solidFill>
                <a:latin typeface="Segoe UI"/>
              </a:rPr>
              <a:t>CWE-330 · weak RNG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25F70"/>
                </a:solidFill>
                <a:latin typeface="Segoe UI"/>
              </a:rPr>
              <a:t>F1 100%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51776" y="1554480"/>
            <a:ext cx="208483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51776" y="1554480"/>
            <a:ext cx="100584" cy="1371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52944" y="1554480"/>
            <a:ext cx="1773936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02A4A"/>
                </a:solidFill>
                <a:latin typeface="Segoe UI"/>
              </a:rPr>
              <a:t>CWE-643 · XPath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25F70"/>
                </a:solidFill>
                <a:latin typeface="Segoe UI"/>
              </a:rPr>
              <a:t>F1 84.4%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19488" y="1554480"/>
            <a:ext cx="208483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19488" y="1554480"/>
            <a:ext cx="100584" cy="1371600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20656" y="1554480"/>
            <a:ext cx="1773936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02A4A"/>
                </a:solidFill>
                <a:latin typeface="Segoe UI"/>
              </a:rPr>
              <a:t>CWE-611 · XXE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25F70"/>
                </a:solidFill>
                <a:latin typeface="Segoe UI"/>
              </a:rPr>
              <a:t>F1 50% — hard case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200400"/>
            <a:ext cx="11109960" cy="269748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Same approach, three models</a:t>
            </a:r>
            <a:r>
              <a:rPr sz="1350" b="0" i="1">
                <a:solidFill>
                  <a:srgbClr val="909CAB"/>
                </a:solidFill>
                <a:latin typeface="Segoe UI"/>
              </a:rPr>
              <a:t>    OWASP-Java · VulnHunterX</a:t>
            </a:r>
          </a:p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06B6D4"/>
                </a:solidFill>
                <a:latin typeface="Segoe UI"/>
              </a:rPr>
              <a:t>DeepSeek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   F1 92.0%  ·  FP-reduction 78.6%  ·  $0.30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06B6D4"/>
                </a:solidFill>
                <a:latin typeface="Segoe UI"/>
              </a:rPr>
              <a:t>GPT-4.1-mini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   F1 85.7%  ·  FP-reduction 58.1%  ·  $0.80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06B6D4"/>
                </a:solidFill>
                <a:latin typeface="Segoe UI"/>
              </a:rPr>
              <a:t>Ollama Qwen (local)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   FP-reduction 100%  ·  $0.00 — runs entirely offline</a:t>
            </a:r>
          </a:p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200" b="0" i="1">
                <a:solidFill>
                  <a:srgbClr val="909CAB"/>
                </a:solidFill>
                <a:latin typeface="Segoe UI"/>
              </a:rPr>
              <a:t>Focused slice: DeepSeek, June 2026 runs — directional, not a universal claim.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2947"/>
              </a:gs>
            </a:gsLst>
            <a:lin scaled="0" ang="19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0" y="1234440"/>
            <a:ext cx="5074920" cy="4206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5000" b="1" i="0">
                <a:solidFill>
                  <a:srgbClr val="1C2C4A"/>
                </a:solidFill>
                <a:latin typeface="Segoe U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670048"/>
            <a:ext cx="502920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2450592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F59E0B"/>
                </a:solidFill>
                <a:latin typeface="Segoe U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44368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How to install &amp;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160520"/>
            <a:ext cx="292608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6126480"/>
            <a:ext cx="201168" cy="146304"/>
          </a:xfrm>
          <a:prstGeom prst="roundRect">
            <a:avLst/>
          </a:prstGeom>
          <a:solidFill>
            <a:srgbClr val="1C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16152" y="6126480"/>
            <a:ext cx="457200" cy="146304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19656" y="6126480"/>
            <a:ext cx="201168" cy="146304"/>
          </a:xfrm>
          <a:prstGeom prst="roundRect">
            <a:avLst/>
          </a:prstGeom>
          <a:solidFill>
            <a:srgbClr val="1C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67128" y="6126480"/>
            <a:ext cx="201168" cy="146304"/>
          </a:xfrm>
          <a:prstGeom prst="roundRect">
            <a:avLst/>
          </a:prstGeom>
          <a:solidFill>
            <a:srgbClr val="1C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The four tools — what each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440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00584" cy="17830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463040"/>
            <a:ext cx="5129784" cy="1783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02A4A"/>
                </a:solidFill>
                <a:latin typeface="Segoe UI"/>
              </a:rPr>
              <a:t>CodeQL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25F70"/>
                </a:solidFill>
                <a:latin typeface="Segoe UI"/>
              </a:rPr>
              <a:t>Semantic, database-driven taint analysis — the deepest engine. Needs a DB build.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45736" y="1591056"/>
            <a:ext cx="1097280" cy="36576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5440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100584" cy="178308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4808" y="1463040"/>
            <a:ext cx="5129784" cy="1783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02A4A"/>
                </a:solidFill>
                <a:latin typeface="Segoe UI"/>
              </a:rPr>
              <a:t>Semgrep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25F70"/>
                </a:solidFill>
                <a:latin typeface="Segoe UI"/>
              </a:rPr>
              <a:t>Fast pattern-based rules across many languages. No DB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0736" y="1591056"/>
            <a:ext cx="1097280" cy="36576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breadth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5440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520440"/>
            <a:ext cx="100584" cy="1783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3520440"/>
            <a:ext cx="5129784" cy="1783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02A4A"/>
                </a:solidFill>
                <a:latin typeface="Segoe UI"/>
              </a:rPr>
              <a:t>OpenGrep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25F70"/>
                </a:solidFill>
                <a:latin typeface="Segoe UI"/>
              </a:rPr>
              <a:t>Semgrep-compatible fork — same rules, drop-in alternative.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45736" y="3648456"/>
            <a:ext cx="109728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520440"/>
            <a:ext cx="5440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3520440"/>
            <a:ext cx="100584" cy="1783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64808" y="3520440"/>
            <a:ext cx="5129784" cy="1783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02A4A"/>
                </a:solidFill>
                <a:latin typeface="Segoe UI"/>
              </a:rPr>
              <a:t>tree-sitter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25F70"/>
                </a:solidFill>
                <a:latin typeface="Segoe UI"/>
              </a:rPr>
              <a:t>Syntactic context extraction — pip-installed fallback when there's no CodeQL DB.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60736" y="3648456"/>
            <a:ext cx="109728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fallback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Install VulnHunterX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27080" cy="4983480"/>
          </a:xfrm>
          <a:prstGeom prst="roundRect">
            <a:avLst/>
          </a:prstGeom>
          <a:solidFill>
            <a:srgbClr val="0D1726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566928"/>
          <a:lstStyle/>
          <a:p>
            <a:pPr algn="ctr">
              <a:spcAft>
                <a:spcPts val="300"/>
              </a:spcAft>
            </a:pPr>
            <a:r>
              <a:rPr sz="1550" b="0" i="1">
                <a:solidFill>
                  <a:srgbClr val="6E8BA3"/>
                </a:solidFill>
                <a:latin typeface="Consolas"/>
              </a:rPr>
              <a:t># Prerequisites: Python 3.12+, CodeQL CLI 2.15+, an LLM provider key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git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clone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https://github.com/vinsoc-cyber/VulnHunterX.git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&amp;&amp;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cd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VulnHunterX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uv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venv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--python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python3.12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.venv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&amp;&amp;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1" i="0">
                <a:solidFill>
                  <a:srgbClr val="4FC9A8"/>
                </a:solidFill>
                <a:latin typeface="Consolas"/>
              </a:rPr>
              <a:t>source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.venv/bin/activate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uv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pip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install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".[dev]"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     </a:t>
            </a:r>
            <a:r>
              <a:rPr sz="1550" b="0" i="1">
                <a:solidFill>
                  <a:srgbClr val="6E8BA3"/>
                </a:solidFill>
                <a:latin typeface="Consolas"/>
              </a:rPr>
              <a:t>  # plain  python3.12 -m venv + pip  also works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cp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env.example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.env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             </a:t>
            </a:r>
            <a:r>
              <a:rPr sz="1550" b="0" i="1">
                <a:solidFill>
                  <a:srgbClr val="6E8BA3"/>
                </a:solidFill>
                <a:latin typeface="Consolas"/>
              </a:rPr>
              <a:t>  # add OPENAI / ANTHROPIC / OLLAMA keys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vuln-hunter-x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check-env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         </a:t>
            </a:r>
            <a:r>
              <a:rPr sz="1550" b="0" i="1">
                <a:solidFill>
                  <a:srgbClr val="6E8BA3"/>
                </a:solidFill>
                <a:latin typeface="Consolas"/>
              </a:rPr>
              <a:t>  # verify the whole toolchain is green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57276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57276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Configuration you need to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27080" cy="4983480"/>
          </a:xfrm>
          <a:prstGeom prst="roundRect">
            <a:avLst/>
          </a:prstGeom>
          <a:solidFill>
            <a:srgbClr val="0D1726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566928"/>
          <a:lstStyle/>
          <a:p>
            <a:pPr algn="ctr">
              <a:spcAft>
                <a:spcPts val="300"/>
              </a:spcAft>
            </a:pPr>
            <a:r>
              <a:rPr sz="1550" b="0" i="1">
                <a:solidFill>
                  <a:srgbClr val="6E8BA3"/>
                </a:solidFill>
                <a:latin typeface="Consolas"/>
              </a:rPr>
              <a:t># .env  — provider keys + optional tool paths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LLM_PROVIDER=openai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         </a:t>
            </a:r>
            <a:r>
              <a:rPr sz="1550" b="0" i="1">
                <a:solidFill>
                  <a:srgbClr val="6E8BA3"/>
                </a:solidFill>
                <a:latin typeface="Consolas"/>
              </a:rPr>
              <a:t>  # openai | anthropic | ollama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LLM_MODEL=gpt-4o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OPENAI_API_KEY=sk-...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       </a:t>
            </a:r>
            <a:r>
              <a:rPr sz="1550" b="0" i="1">
                <a:solidFill>
                  <a:srgbClr val="6E8BA3"/>
                </a:solidFill>
                <a:latin typeface="Consolas"/>
              </a:rPr>
              <a:t>  # or ANTHROPIC_API_KEY / OLLAMA_API_BASE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CODEQL_PATH=/path/to/codeql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 </a:t>
            </a:r>
            <a:r>
              <a:rPr sz="1550" b="0" i="1">
                <a:solidFill>
                  <a:srgbClr val="6E8BA3"/>
                </a:solidFill>
                <a:latin typeface="Consolas"/>
              </a:rPr>
              <a:t>  # only if codeql isn't on your PATH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SEMGREP_PATH=/path/to/semgrep</a:t>
            </a:r>
            <a:r>
              <a:rPr sz="1550" b="0" i="1">
                <a:solidFill>
                  <a:srgbClr val="6E8BA3"/>
                </a:solidFill>
                <a:latin typeface="Consolas"/>
              </a:rPr>
              <a:t>  # only if semgrep isn't on your PATH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550" b="0" i="1">
                <a:solidFill>
                  <a:srgbClr val="6E8BA3"/>
                </a:solidFill>
                <a:latin typeface="Consolas"/>
              </a:rPr>
              <a:t># config/confirm_findings.yaml  — verification tuning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provider: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openai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 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model: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gpt-4o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 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temperature: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0.2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 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max_iterations: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3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550" b="0" i="1">
                <a:solidFill>
                  <a:srgbClr val="6E8BA3"/>
                </a:solidFill>
                <a:latin typeface="Consolas"/>
              </a:rPr>
              <a:t># config/repos.yaml  — batch targets (name, url, language, build_command)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57276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57276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Three ways to start a scan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27080" cy="4983480"/>
          </a:xfrm>
          <a:prstGeom prst="roundRect">
            <a:avLst/>
          </a:prstGeom>
          <a:solidFill>
            <a:srgbClr val="0D1726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566928"/>
          <a:lstStyle/>
          <a:p>
            <a:pPr algn="ctr">
              <a:spcAft>
                <a:spcPts val="300"/>
              </a:spcAft>
            </a:pPr>
            <a:r>
              <a:rPr sz="1550" b="0" i="1">
                <a:solidFill>
                  <a:srgbClr val="6E8BA3"/>
                </a:solidFill>
                <a:latin typeface="Consolas"/>
              </a:rPr>
              <a:t># 1) Friendliest: a guided wizard (prompts for everything, live-tests your LLM)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vuln-hunter-x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interactive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550" b="0" i="1">
                <a:solidFill>
                  <a:srgbClr val="6E8BA3"/>
                </a:solidFill>
                <a:latin typeface="Consolas"/>
              </a:rPr>
              <a:t># 2) One-shot: the whole pipeline in a single command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vuln-hunter-x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scan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--url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https://github.com/org/app.git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\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                 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--lang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1" i="0">
                <a:solidFill>
                  <a:srgbClr val="4FC9A8"/>
                </a:solidFill>
                <a:latin typeface="Consolas"/>
              </a:rPr>
              <a:t>python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--profile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extended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--limit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5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550" b="0" i="1">
                <a:solidFill>
                  <a:srgbClr val="6E8BA3"/>
                </a:solidFill>
                <a:latin typeface="Consolas"/>
              </a:rPr>
              <a:t># 3) Stage by stage (full control)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vuln-hunter-x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prepare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--repo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pyyaml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vuln-hunter-x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analyze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--repo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pyyaml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--profile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extended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vuln-hunter-x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verify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--repo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pyyaml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--limit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5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vuln-hunter-x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report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--repo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pyyaml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--lang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1" i="0">
                <a:solidFill>
                  <a:srgbClr val="4FC9A8"/>
                </a:solidFill>
                <a:latin typeface="Consolas"/>
              </a:rPr>
              <a:t>python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57276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57276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2947"/>
              </a:gs>
            </a:gsLst>
            <a:lin scaled="0" ang="19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0" y="1234440"/>
            <a:ext cx="5074920" cy="4206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5000" b="1" i="0">
                <a:solidFill>
                  <a:srgbClr val="1C2C4A"/>
                </a:solidFill>
                <a:latin typeface="Segoe U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670048"/>
            <a:ext cx="502920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2450592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F59E0B"/>
                </a:solidFill>
                <a:latin typeface="Segoe U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44368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Real example — dvpwa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160520"/>
            <a:ext cx="292608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6126480"/>
            <a:ext cx="201168" cy="146304"/>
          </a:xfrm>
          <a:prstGeom prst="roundRect">
            <a:avLst/>
          </a:prstGeom>
          <a:solidFill>
            <a:srgbClr val="1C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16152" y="6126480"/>
            <a:ext cx="201168" cy="146304"/>
          </a:xfrm>
          <a:prstGeom prst="roundRect">
            <a:avLst/>
          </a:prstGeom>
          <a:solidFill>
            <a:srgbClr val="1C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63624" y="6126480"/>
            <a:ext cx="457200" cy="146304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67128" y="6126480"/>
            <a:ext cx="201168" cy="146304"/>
          </a:xfrm>
          <a:prstGeom prst="roundRect">
            <a:avLst/>
          </a:prstGeom>
          <a:solidFill>
            <a:srgbClr val="1C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dvpwa — a deliberately vulnerable web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525F70"/>
                </a:solidFill>
                <a:latin typeface="Segoe UI"/>
              </a:rPr>
              <a:t>An intentionally insecure Python </a:t>
            </a:r>
            <a:r>
              <a:rPr sz="1600" b="1" i="0">
                <a:solidFill>
                  <a:srgbClr val="0F172A"/>
                </a:solidFill>
                <a:latin typeface="Segoe UI"/>
              </a:rPr>
              <a:t>aiohttp</a:t>
            </a:r>
            <a:r>
              <a:rPr sz="1600" b="0" i="0">
                <a:solidFill>
                  <a:srgbClr val="525F70"/>
                </a:solidFill>
                <a:latin typeface="Segoe UI"/>
              </a:rPr>
              <a:t> app (github.com/anxolerd/dvpwa) — scanned next to a clean library.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102A4A"/>
                </a:solidFill>
                <a:latin typeface="Segoe UI"/>
              </a:rPr>
              <a:t>dvpwa</a:t>
            </a:r>
            <a:r>
              <a:rPr sz="1300" b="1" i="1">
                <a:solidFill>
                  <a:srgbClr val="F43F5E"/>
                </a:solidFill>
                <a:latin typeface="Segoe UI"/>
              </a:rPr>
              <a:t>    vulnerable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25F70"/>
                </a:solidFill>
                <a:latin typeface="Segoe UI"/>
              </a:rPr>
              <a:t>SQL injection · stored XSS · weak MD5 ·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25F70"/>
                </a:solidFill>
                <a:latin typeface="Segoe UI"/>
              </a:rPr>
              <a:t>missing authorization · CSRF disabled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F43F5E"/>
                </a:solidFill>
                <a:latin typeface="Segoe UI"/>
              </a:rPr>
              <a:t>→ VulnHunterX should surface real TPs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6304" cy="1828800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92024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102A4A"/>
                </a:solidFill>
                <a:latin typeface="Segoe UI"/>
              </a:rPr>
              <a:t>pyyaml</a:t>
            </a:r>
            <a:r>
              <a:rPr sz="1300" b="1" i="1">
                <a:solidFill>
                  <a:srgbClr val="10B981"/>
                </a:solidFill>
                <a:latin typeface="Segoe UI"/>
              </a:rPr>
              <a:t>    real-world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25F70"/>
                </a:solidFill>
                <a:latin typeface="Segoe UI"/>
              </a:rPr>
              <a:t>a mature, widely-used YAML library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25F70"/>
                </a:solidFill>
                <a:latin typeface="Segoe UI"/>
              </a:rPr>
              <a:t>with no planted vulnerabilities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0B981"/>
                </a:solidFill>
                <a:latin typeface="Segoe UI"/>
              </a:rPr>
              <a:t>→ false positives should be suppressed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146304" cy="18288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069080"/>
            <a:ext cx="10927080" cy="146304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59E0B"/>
                </a:solidFill>
                <a:latin typeface="Segoe UI"/>
              </a:rPr>
              <a:t>The value proposition in one screen: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the vulnerable app lights up with real bugs; the clean library stays quiet.</a:t>
            </a:r>
          </a:p>
          <a:p>
            <a:pPr algn="ctr">
              <a:spcAft>
                <a:spcPts val="200"/>
              </a:spcAft>
            </a:pPr>
            <a:r>
              <a:rPr sz="1300" b="0" i="1">
                <a:solidFill>
                  <a:srgbClr val="909CAB"/>
                </a:solidFill>
                <a:latin typeface="Segoe UI"/>
              </a:rPr>
              <a:t>Ground truth (realvuln): 22 real vulnerabilities + 4 false-positive traps.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Run the dvpwa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27080" cy="4983480"/>
          </a:xfrm>
          <a:prstGeom prst="roundRect">
            <a:avLst/>
          </a:prstGeom>
          <a:solidFill>
            <a:srgbClr val="0D1726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566928"/>
          <a:lstStyle/>
          <a:p>
            <a:pPr algn="ctr">
              <a:spcAft>
                <a:spcPts val="300"/>
              </a:spcAft>
            </a:pPr>
            <a:r>
              <a:rPr sz="1550" b="0" i="1">
                <a:solidFill>
                  <a:srgbClr val="6E8BA3"/>
                </a:solidFill>
                <a:latin typeface="Consolas"/>
              </a:rPr>
              <a:t># one command: clone + analyze + verify + report, for both repos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python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examples/pipeline_python.py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         </a:t>
            </a:r>
            <a:r>
              <a:rPr sz="1550" b="0" i="1">
                <a:solidFill>
                  <a:srgbClr val="6E8BA3"/>
                </a:solidFill>
                <a:latin typeface="Consolas"/>
              </a:rPr>
              <a:t>  # add --dry-run to preview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550" b="0" i="1">
                <a:solidFill>
                  <a:srgbClr val="6E8BA3"/>
                </a:solidFill>
                <a:latin typeface="Consolas"/>
              </a:rPr>
              <a:t># or drive just dvpwa, stage by stage: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vuln-hunter-x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prepare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--repo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dvpwa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         </a:t>
            </a:r>
            <a:r>
              <a:rPr sz="1550" b="0" i="1">
                <a:solidFill>
                  <a:srgbClr val="6E8BA3"/>
                </a:solidFill>
                <a:latin typeface="Consolas"/>
              </a:rPr>
              <a:t>  # clone + CodeQL DB + context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vuln-hunter-x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analyze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--repo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dvpwa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--profile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extended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vuln-hunter-x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verify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--repo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dvpwa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--limit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5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--report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550" b="0" i="1">
                <a:solidFill>
                  <a:srgbClr val="6E8BA3"/>
                </a:solidFill>
                <a:latin typeface="Consolas"/>
              </a:rPr>
              <a:t># read the verdicts the LLM produced: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cat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output/python/dvpwa/verification_results/report.md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57276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57276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dvpwa answer key — verify your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86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00584" cy="10058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371600"/>
            <a:ext cx="5175504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02A4A"/>
                </a:solidFill>
                <a:latin typeface="Segoe UI"/>
              </a:rPr>
              <a:t>SQL injection · CWE-89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25F70"/>
                </a:solidFill>
                <a:latin typeface="Segoe UI"/>
              </a:rPr>
              <a:t>dao/student.py:42 — query built with Python % then execute(q)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91456" y="1499616"/>
            <a:ext cx="109728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86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100584" cy="10058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9088" y="1371600"/>
            <a:ext cx="5175504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02A4A"/>
                </a:solidFill>
                <a:latin typeface="Segoe UI"/>
              </a:rPr>
              <a:t>Stored XSS ×5 · CWE-79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25F70"/>
                </a:solidFill>
                <a:latin typeface="Segoe UI"/>
              </a:rPr>
              <a:t>templates render unescaped — root cause autoescape=False (app.py:35)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0736" y="1499616"/>
            <a:ext cx="109728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60320"/>
            <a:ext cx="5486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560320"/>
            <a:ext cx="100584" cy="10058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2560320"/>
            <a:ext cx="5175504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02A4A"/>
                </a:solidFill>
                <a:latin typeface="Segoe UI"/>
              </a:rPr>
              <a:t>Weak password hash · CWE-916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25F70"/>
                </a:solidFill>
                <a:latin typeface="Segoe UI"/>
              </a:rPr>
              <a:t>dao/user.py:41 — unsalted MD5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91456" y="2688336"/>
            <a:ext cx="109728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560320"/>
            <a:ext cx="5486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2560320"/>
            <a:ext cx="100584" cy="10058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19088" y="2560320"/>
            <a:ext cx="5175504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02A4A"/>
                </a:solidFill>
                <a:latin typeface="Segoe UI"/>
              </a:rPr>
              <a:t>Missing authz / CSRF off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25F70"/>
                </a:solidFill>
                <a:latin typeface="Segoe UI"/>
              </a:rPr>
              <a:t>views.py (CWE-862) · csrf middleware commented out, app.py:27 (CWE-352)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60736" y="2688336"/>
            <a:ext cx="109728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40"/>
            <a:ext cx="5486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3749040"/>
            <a:ext cx="100584" cy="1005840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8" y="3749040"/>
            <a:ext cx="5175504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02A4A"/>
                </a:solidFill>
                <a:latin typeface="Segoe UI"/>
              </a:rPr>
              <a:t>NOT SQL injection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25F70"/>
                </a:solidFill>
                <a:latin typeface="Segoe UI"/>
              </a:rPr>
              <a:t>dao/user.py · review.py · course.py — parameterized %s / %(name)s queries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91456" y="3877056"/>
            <a:ext cx="1097280" cy="365760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trap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749040"/>
            <a:ext cx="5486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0" y="3749040"/>
            <a:ext cx="100584" cy="1005840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19088" y="3749040"/>
            <a:ext cx="5175504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02A4A"/>
                </a:solidFill>
                <a:latin typeface="Segoe UI"/>
              </a:rPr>
              <a:t>NOT XSS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25F70"/>
                </a:solidFill>
                <a:latin typeface="Segoe UI"/>
              </a:rPr>
              <a:t>student.jinja2:14 — {{ name | e }} is explicitly escaped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60736" y="3877056"/>
            <a:ext cx="1097280" cy="365760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trap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892040"/>
            <a:ext cx="11109960" cy="132588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Ground truth: 22 real vulnerabilities + 4 false-positive traps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Score yourself: flagging student.py SQLi = correct; flagging the parameterized DAO queries or the escaped template = a false positive your run should suppress.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2947"/>
              </a:gs>
            </a:gsLst>
            <a:lin scaled="0" ang="19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0" y="1234440"/>
            <a:ext cx="5074920" cy="4206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25000" b="1" i="0">
                <a:solidFill>
                  <a:srgbClr val="1C2C4A"/>
                </a:solidFill>
                <a:latin typeface="Segoe U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670048"/>
            <a:ext cx="502920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2450592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F59E0B"/>
                </a:solidFill>
                <a:latin typeface="Segoe UI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44368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Homework — dvcp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160520"/>
            <a:ext cx="292608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6126480"/>
            <a:ext cx="201168" cy="146304"/>
          </a:xfrm>
          <a:prstGeom prst="roundRect">
            <a:avLst/>
          </a:prstGeom>
          <a:solidFill>
            <a:srgbClr val="1C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16152" y="6126480"/>
            <a:ext cx="201168" cy="146304"/>
          </a:xfrm>
          <a:prstGeom prst="roundRect">
            <a:avLst/>
          </a:prstGeom>
          <a:solidFill>
            <a:srgbClr val="1C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63624" y="6126480"/>
            <a:ext cx="201168" cy="146304"/>
          </a:xfrm>
          <a:prstGeom prst="roundRect">
            <a:avLst/>
          </a:prstGeom>
          <a:solidFill>
            <a:srgbClr val="1C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11096" y="6126480"/>
            <a:ext cx="457200" cy="146304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Homework — scan dvcp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52144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1">
                <a:solidFill>
                  <a:srgbClr val="909CAB"/>
                </a:solidFill>
                <a:latin typeface="Segoe UI"/>
              </a:rPr>
              <a:t>Your task: run it, open the report, list the TPs and FPs — then check against the answer key.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0927080" cy="4727448"/>
          </a:xfrm>
          <a:prstGeom prst="roundRect">
            <a:avLst/>
          </a:prstGeom>
          <a:solidFill>
            <a:srgbClr val="0D1726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566928"/>
          <a:lstStyle/>
          <a:p>
            <a:pPr algn="ctr">
              <a:spcAft>
                <a:spcPts val="300"/>
              </a:spcAft>
            </a:pPr>
            <a:r>
              <a:rPr sz="1550" b="0" i="1">
                <a:solidFill>
                  <a:srgbClr val="6E8BA3"/>
                </a:solidFill>
                <a:latin typeface="Consolas"/>
              </a:rPr>
              <a:t># config/repos.yaml already defines dvcp (C needs a build command):</a:t>
            </a:r>
          </a:p>
          <a:p>
            <a:pPr>
              <a:spcAft>
                <a:spcPts val="300"/>
              </a:spcAft>
            </a:pPr>
            <a:r>
              <a:rPr sz="1550" b="0" i="1">
                <a:solidFill>
                  <a:srgbClr val="6E8BA3"/>
                </a:solidFill>
                <a:latin typeface="Consolas"/>
              </a:rPr>
              <a:t>#   url: github.com/hardik05/Damn_Vulnerable_C_Program</a:t>
            </a:r>
          </a:p>
          <a:p>
            <a:pPr>
              <a:spcAft>
                <a:spcPts val="300"/>
              </a:spcAft>
            </a:pPr>
            <a:r>
              <a:rPr sz="1550" b="0" i="1">
                <a:solidFill>
                  <a:srgbClr val="6E8BA3"/>
                </a:solidFill>
                <a:latin typeface="Consolas"/>
              </a:rPr>
              <a:t>#   build_command: gcc -g -o dvcp imgRead.c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550" b="0" i="1">
                <a:solidFill>
                  <a:srgbClr val="6E8BA3"/>
                </a:solidFill>
                <a:latin typeface="Consolas"/>
              </a:rPr>
              <a:t># run the C pipeline — contrast target is c-ares (a real DNS library):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python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examples/pipeline_c.py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              </a:t>
            </a:r>
            <a:r>
              <a:rPr sz="1550" b="0" i="1">
                <a:solidFill>
                  <a:srgbClr val="6E8BA3"/>
                </a:solidFill>
                <a:latin typeface="Consolas"/>
              </a:rPr>
              <a:t>  # add --dry-run to preview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550" b="0" i="1">
                <a:solidFill>
                  <a:srgbClr val="6E8BA3"/>
                </a:solidFill>
                <a:latin typeface="Consolas"/>
              </a:rPr>
              <a:t># or drive just dvcp, stage by stage: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vuln-hunter-x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prepare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--repo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dvcp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          </a:t>
            </a:r>
            <a:r>
              <a:rPr sz="1550" b="0" i="1">
                <a:solidFill>
                  <a:srgbClr val="6E8BA3"/>
                </a:solidFill>
                <a:latin typeface="Consolas"/>
              </a:rPr>
              <a:t>  # clone + build + CodeQL DB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vuln-hunter-x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analyze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--repo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dvcp</a:t>
            </a:r>
          </a:p>
          <a:p>
            <a:pPr>
              <a:spcAft>
                <a:spcPts val="300"/>
              </a:spcAft>
            </a:pPr>
            <a:r>
              <a:rPr sz="1550" b="1" i="0">
                <a:solidFill>
                  <a:srgbClr val="4FC9A8"/>
                </a:solidFill>
                <a:latin typeface="Consolas"/>
              </a:rPr>
              <a:t>vuln-hunter-x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verify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--repo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dvcp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--limit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5</a:t>
            </a:r>
            <a:r>
              <a:rPr sz="1550" b="0" i="0">
                <a:solidFill>
                  <a:srgbClr val="CCD8E6"/>
                </a:solidFill>
                <a:latin typeface="Consolas"/>
              </a:rPr>
              <a:t> </a:t>
            </a:r>
            <a:r>
              <a:rPr sz="1550" b="0" i="0">
                <a:solidFill>
                  <a:srgbClr val="F59E0B"/>
                </a:solidFill>
                <a:latin typeface="Consolas"/>
              </a:rPr>
              <a:t>--report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1828800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712" y="1828800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0744" y="182880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dvcp answer key — what to expect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50468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00584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280160"/>
            <a:ext cx="519379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02A4A"/>
                </a:solidFill>
                <a:latin typeface="Segoe UI"/>
              </a:rPr>
              <a:t>Integer overflow · CWE-190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25F70"/>
                </a:solidFill>
                <a:latin typeface="Segoe UI"/>
              </a:rPr>
              <a:t>width + height, width * height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9744" y="1408176"/>
            <a:ext cx="109728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280160"/>
            <a:ext cx="550468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2" y="1280160"/>
            <a:ext cx="100584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280160"/>
            <a:ext cx="519379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02A4A"/>
                </a:solidFill>
                <a:latin typeface="Segoe UI"/>
              </a:rPr>
              <a:t>Integer underflow · CWE-191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25F70"/>
                </a:solidFill>
                <a:latin typeface="Segoe UI"/>
              </a:rPr>
              <a:t>width - height + 100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0736" y="1408176"/>
            <a:ext cx="109728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249424"/>
            <a:ext cx="550468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249424"/>
            <a:ext cx="100584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2249424"/>
            <a:ext cx="519379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02A4A"/>
                </a:solidFill>
                <a:latin typeface="Segoe UI"/>
              </a:rPr>
              <a:t>Heap buffer overflow · CWE-122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25F70"/>
                </a:solidFill>
                <a:latin typeface="Segoe UI"/>
              </a:rPr>
              <a:t>memcpy into a buffer sized from the overflowed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9744" y="2377440"/>
            <a:ext cx="109728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2249424"/>
            <a:ext cx="550468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9632" y="2249424"/>
            <a:ext cx="100584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249424"/>
            <a:ext cx="519379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02A4A"/>
                </a:solidFill>
                <a:latin typeface="Segoe UI"/>
              </a:rPr>
              <a:t>Double-free · CWE-415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25F70"/>
                </a:solidFill>
                <a:latin typeface="Segoe UI"/>
              </a:rPr>
              <a:t>free(buff1) again when size1 % 2 ==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60736" y="2377440"/>
            <a:ext cx="109728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218688"/>
            <a:ext cx="550468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3218688"/>
            <a:ext cx="100584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8" y="3218688"/>
            <a:ext cx="519379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02A4A"/>
                </a:solidFill>
                <a:latin typeface="Segoe UI"/>
              </a:rPr>
              <a:t>Use-after-free · CWE-416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25F70"/>
                </a:solidFill>
                <a:latin typeface="Segoe UI"/>
              </a:rPr>
              <a:t>buff1[0]='a' after free when size1 % 3 == 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9744" y="3346704"/>
            <a:ext cx="109728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3218688"/>
            <a:ext cx="550468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99632" y="3218688"/>
            <a:ext cx="100584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218688"/>
            <a:ext cx="519379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02A4A"/>
                </a:solidFill>
                <a:latin typeface="Segoe UI"/>
              </a:rPr>
              <a:t>OOB read / write · CWE-125/787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25F70"/>
                </a:solidFill>
                <a:latin typeface="Segoe UI"/>
              </a:rPr>
              <a:t>buff3[size3], buff4[size3] past the bounds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60736" y="3346704"/>
            <a:ext cx="109728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187952"/>
            <a:ext cx="550468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4187952"/>
            <a:ext cx="100584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8" y="4187952"/>
            <a:ext cx="519379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02A4A"/>
                </a:solidFill>
                <a:latin typeface="Segoe UI"/>
              </a:rPr>
              <a:t>Divide-by-zero · CWE-369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25F70"/>
                </a:solidFill>
                <a:latin typeface="Segoe UI"/>
              </a:rPr>
              <a:t>width / height when height == 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9744" y="4315968"/>
            <a:ext cx="109728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4187952"/>
            <a:ext cx="550468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99632" y="4187952"/>
            <a:ext cx="100584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187952"/>
            <a:ext cx="519379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02A4A"/>
                </a:solidFill>
                <a:latin typeface="Segoe UI"/>
              </a:rPr>
              <a:t>Leak + infinite recursion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25F70"/>
                </a:solidFill>
                <a:latin typeface="Segoe UI"/>
              </a:rPr>
              <a:t>CWE-401: buff4=0 without free · CWE-674: stack_operation() recurses forever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60736" y="4315968"/>
            <a:ext cx="109728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029200"/>
            <a:ext cx="11109960" cy="1188720"/>
          </a:xfrm>
          <a:prstGeom prst="roundRect">
            <a:avLst/>
          </a:prstGeom>
          <a:solidFill>
            <a:srgbClr val="0B1120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All bugs live in ProcessImage()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  — reachable from attacker-controlled image-header fields (width / height / data).</a:t>
            </a:r>
          </a:p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06B6D4"/>
                </a:solidFill>
                <a:latin typeface="Segoe UI"/>
              </a:rPr>
              <a:t>Contrast: c-ares (production DNS library) should come back mostly false positives.</a:t>
            </a:r>
          </a:p>
          <a:p>
            <a:pPr algn="ctr">
              <a:spcAft>
                <a:spcPts val="200"/>
              </a:spcAft>
            </a:pPr>
            <a:r>
              <a:rPr sz="1200" b="0" i="1">
                <a:solidFill>
                  <a:srgbClr val="909CAB"/>
                </a:solidFill>
                <a:latin typeface="Segoe UI"/>
              </a:rPr>
              <a:t>Answer key derived from the upstream imgRead.c source (external repo).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02A4A"/>
                </a:solidFill>
                <a:latin typeface="Segoe UI"/>
              </a:rPr>
              <a:t>Recap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37160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38404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 i="0">
                <a:solidFill>
                  <a:srgbClr val="909CAB"/>
                </a:solidFill>
                <a:latin typeface="Segoe UI"/>
              </a:rPr>
              <a:t>VulnHunterX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909CAB"/>
                </a:solidFill>
                <a:latin typeface="Segoe UI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6366F1"/>
                </a:solidFill>
                <a:latin typeface="Segoe UI"/>
              </a:rPr>
              <a:t>What it is:   </a:t>
            </a:r>
            <a:r>
              <a:rPr sz="1400" b="0" i="0">
                <a:solidFill>
                  <a:srgbClr val="525F70"/>
                </a:solidFill>
                <a:latin typeface="Segoe UI"/>
              </a:rPr>
              <a:t>SAST finds candidates; a multi-turn LLM verifies them with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18872" cy="74980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108813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Segoe UI"/>
              </a:rPr>
              <a:t>Results:   </a:t>
            </a:r>
            <a:r>
              <a:rPr sz="1400" b="0" i="0">
                <a:solidFill>
                  <a:srgbClr val="525F70"/>
                </a:solidFill>
                <a:latin typeface="Segoe UI"/>
              </a:rPr>
              <a:t>OWASP-Python: precision 37.7% → 87.3%, 91.4% of false positives removed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118872" cy="74980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154680"/>
            <a:ext cx="108813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6B6D4"/>
                </a:solidFill>
                <a:latin typeface="Segoe UI"/>
              </a:rPr>
              <a:t>Install &amp; use:   </a:t>
            </a:r>
            <a:r>
              <a:rPr sz="1400" b="0" i="0">
                <a:solidFill>
                  <a:srgbClr val="525F70"/>
                </a:solidFill>
                <a:latin typeface="Segoe UI"/>
              </a:rPr>
              <a:t>prepare → analyze → verify → report  ·  vuln-hunter-x interactive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118872" cy="749808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108813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97316"/>
                </a:solidFill>
                <a:latin typeface="Segoe UI"/>
              </a:rPr>
              <a:t>Practice:   </a:t>
            </a:r>
            <a:r>
              <a:rPr sz="1400" b="0" i="0">
                <a:solidFill>
                  <a:srgbClr val="525F70"/>
                </a:solidFill>
                <a:latin typeface="Segoe UI"/>
              </a:rPr>
              <a:t>dvpwa example today · dvcp homework — check both against the answer keys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118872" cy="749808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4892040"/>
            <a:ext cx="10881360" cy="749808"/>
          </a:xfrm>
          <a:prstGeom prst="roundRect">
            <a:avLst/>
          </a:prstGeom>
          <a:solidFill>
            <a:srgbClr val="0B1120"/>
          </a:solidFill>
          <a:ln>
            <a:noFill/>
          </a:ln>
          <a:effectLst>
            <a:outerShdw blurRad="80000" dist="38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59E0B"/>
                </a:solidFill>
                <a:latin typeface="Segoe UI"/>
              </a:rPr>
              <a:t>Start here →  </a:t>
            </a:r>
            <a:r>
              <a:rPr sz="1700" b="1" i="0">
                <a:solidFill>
                  <a:srgbClr val="10B981"/>
                </a:solidFill>
                <a:latin typeface="Segoe UI"/>
              </a:rPr>
              <a:t>vuln-hunter-x interactive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i="1">
                <a:solidFill>
                  <a:srgbClr val="909CAB"/>
                </a:solidFill>
                <a:latin typeface="Segoe UI"/>
              </a:rPr>
              <a:t>References:  Vulnhalla (CyberArk) · CodeQL docs · Semgrep docs · SARIF spec · repo README + config/RULES.md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